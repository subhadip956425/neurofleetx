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7" r:id="rId12"/>
    <p:sldId id="266" r:id="rId13"/>
  </p:sldIdLst>
  <p:sldSz cx="18288000" cy="10287000"/>
  <p:notesSz cx="6858000" cy="9144000"/>
  <p:embeddedFontLst>
    <p:embeddedFont>
      <p:font typeface="Cascadia Mono Light" panose="020B0609020000020004" pitchFamily="49" charset="0"/>
      <p:regular r:id="rId15"/>
      <p:italic r:id="rId16"/>
    </p:embeddedFont>
    <p:embeddedFont>
      <p:font typeface="Crimson Pro" panose="020B0604020202020204" charset="0"/>
      <p:regular r:id="rId17"/>
    </p:embeddedFont>
    <p:embeddedFont>
      <p:font typeface="Crimson Pro Bold" panose="020B0604020202020204" charset="0"/>
      <p:regular r:id="rId18"/>
    </p:embeddedFont>
    <p:embeddedFont>
      <p:font typeface="Heebo" pitchFamily="2" charset="-79"/>
      <p:regular r:id="rId19"/>
      <p:bold r:id="rId20"/>
    </p:embeddedFont>
    <p:embeddedFont>
      <p:font typeface="Heebo Bold" charset="-79"/>
      <p:regular r:id="rId21"/>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4" d="100"/>
          <a:sy n="64" d="100"/>
        </p:scale>
        <p:origin x="178" y="91"/>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ban kavidasan" userId="2c7fd6788b0cb5d6" providerId="LiveId" clId="{89F3F407-D13A-4171-95F8-48A23EBF123E}"/>
    <pc:docChg chg="undo custSel modSld">
      <pc:chgData name="inban kavidasan" userId="2c7fd6788b0cb5d6" providerId="LiveId" clId="{89F3F407-D13A-4171-95F8-48A23EBF123E}" dt="2025-11-26T12:58:26.130" v="29" actId="20577"/>
      <pc:docMkLst>
        <pc:docMk/>
      </pc:docMkLst>
      <pc:sldChg chg="modSp mod">
        <pc:chgData name="inban kavidasan" userId="2c7fd6788b0cb5d6" providerId="LiveId" clId="{89F3F407-D13A-4171-95F8-48A23EBF123E}" dt="2025-11-26T12:58:26.130" v="29" actId="20577"/>
        <pc:sldMkLst>
          <pc:docMk/>
          <pc:sldMk cId="2757298260" sldId="267"/>
        </pc:sldMkLst>
        <pc:spChg chg="mod">
          <ac:chgData name="inban kavidasan" userId="2c7fd6788b0cb5d6" providerId="LiveId" clId="{89F3F407-D13A-4171-95F8-48A23EBF123E}" dt="2025-11-26T12:58:26.130" v="29" actId="20577"/>
          <ac:spMkLst>
            <pc:docMk/>
            <pc:sldMk cId="2757298260" sldId="267"/>
            <ac:spMk id="3" creationId="{632C64BA-265E-73C7-41F9-96C500FC4E1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26.11.2025</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svg"/><Relationship Id="rId4" Type="http://schemas.openxmlformats.org/officeDocument/2006/relationships/image" Target="../media/image12.png"/><Relationship Id="rId9" Type="http://schemas.openxmlformats.org/officeDocument/2006/relationships/image" Target="../media/image17.sv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 Id="rId9" Type="http://schemas.openxmlformats.org/officeDocument/2006/relationships/image" Target="../media/image31.sv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5.svg"/><Relationship Id="rId5" Type="http://schemas.openxmlformats.org/officeDocument/2006/relationships/image" Target="../media/image34.pn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16049019" y="9686925"/>
            <a:ext cx="2153256" cy="514350"/>
            <a:chOff x="0" y="0"/>
            <a:chExt cx="2871008" cy="685800"/>
          </a:xfrm>
        </p:grpSpPr>
        <p:sp>
          <p:nvSpPr>
            <p:cNvPr id="7" name="Freeform 7" descr="preencoded.png">
              <a:hlinkClick r:id="rId3" tooltip="https://gamma.app/?utm_source=made-with-gamma"/>
            </p:cNvPr>
            <p:cNvSpPr/>
            <p:nvPr/>
          </p:nvSpPr>
          <p:spPr>
            <a:xfrm>
              <a:off x="0" y="0"/>
              <a:ext cx="2870962" cy="685800"/>
            </a:xfrm>
            <a:custGeom>
              <a:avLst/>
              <a:gdLst/>
              <a:ahLst/>
              <a:cxnLst/>
              <a:rect l="l" t="t" r="r" b="b"/>
              <a:pathLst>
                <a:path w="2870962" h="685800">
                  <a:moveTo>
                    <a:pt x="0" y="0"/>
                  </a:moveTo>
                  <a:lnTo>
                    <a:pt x="2870962" y="0"/>
                  </a:lnTo>
                  <a:lnTo>
                    <a:pt x="2870962" y="685800"/>
                  </a:lnTo>
                  <a:lnTo>
                    <a:pt x="0" y="685800"/>
                  </a:lnTo>
                  <a:lnTo>
                    <a:pt x="0" y="0"/>
                  </a:lnTo>
                  <a:close/>
                </a:path>
              </a:pathLst>
            </a:custGeom>
            <a:blipFill>
              <a:blip r:embed="rId4"/>
              <a:stretch>
                <a:fillRect r="-1"/>
              </a:stretch>
            </a:blipFill>
          </p:spPr>
        </p:sp>
      </p:grpSp>
      <p:grpSp>
        <p:nvGrpSpPr>
          <p:cNvPr id="8" name="Group 8"/>
          <p:cNvGrpSpPr>
            <a:grpSpLocks noChangeAspect="1"/>
          </p:cNvGrpSpPr>
          <p:nvPr/>
        </p:nvGrpSpPr>
        <p:grpSpPr>
          <a:xfrm>
            <a:off x="11430000" y="0"/>
            <a:ext cx="6858000" cy="10287000"/>
            <a:chOff x="0" y="0"/>
            <a:chExt cx="9144000" cy="13716000"/>
          </a:xfrm>
        </p:grpSpPr>
        <p:sp>
          <p:nvSpPr>
            <p:cNvPr id="9" name="Freeform 9"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5"/>
              <a:stretch>
                <a:fillRect/>
              </a:stretch>
            </a:blipFill>
          </p:spPr>
        </p:sp>
      </p:grpSp>
      <p:sp>
        <p:nvSpPr>
          <p:cNvPr id="10" name="TextBox 10"/>
          <p:cNvSpPr txBox="1"/>
          <p:nvPr/>
        </p:nvSpPr>
        <p:spPr>
          <a:xfrm>
            <a:off x="992238" y="3481685"/>
            <a:ext cx="7088237" cy="933599"/>
          </a:xfrm>
          <a:prstGeom prst="rect">
            <a:avLst/>
          </a:prstGeom>
        </p:spPr>
        <p:txBody>
          <a:bodyPr lIns="0" tIns="0" rIns="0" bIns="0" rtlCol="0" anchor="t">
            <a:spAutoFit/>
          </a:bodyPr>
          <a:lstStyle/>
          <a:p>
            <a:pPr algn="l">
              <a:lnSpc>
                <a:spcPts val="6937"/>
              </a:lnSpc>
            </a:pPr>
            <a:r>
              <a:rPr lang="en-US" sz="5562" b="1">
                <a:solidFill>
                  <a:srgbClr val="152D47"/>
                </a:solidFill>
                <a:latin typeface="Crimson Pro Bold"/>
                <a:ea typeface="Crimson Pro Bold"/>
                <a:cs typeface="Crimson Pro Bold"/>
                <a:sym typeface="Crimson Pro Bold"/>
              </a:rPr>
              <a:t>NeuroFleetX</a:t>
            </a:r>
          </a:p>
        </p:txBody>
      </p:sp>
      <p:sp>
        <p:nvSpPr>
          <p:cNvPr id="11" name="TextBox 11"/>
          <p:cNvSpPr txBox="1"/>
          <p:nvPr/>
        </p:nvSpPr>
        <p:spPr>
          <a:xfrm>
            <a:off x="992238" y="4500116"/>
            <a:ext cx="8075562" cy="408830"/>
          </a:xfrm>
          <a:prstGeom prst="rect">
            <a:avLst/>
          </a:prstGeom>
        </p:spPr>
        <p:txBody>
          <a:bodyPr wrap="square" lIns="0" tIns="0" rIns="0" bIns="0" rtlCol="0" anchor="t">
            <a:spAutoFit/>
          </a:bodyPr>
          <a:lstStyle/>
          <a:p>
            <a:pPr algn="l">
              <a:lnSpc>
                <a:spcPts val="3437"/>
              </a:lnSpc>
            </a:pPr>
            <a:r>
              <a:rPr lang="en-US" sz="2750" b="1" dirty="0">
                <a:solidFill>
                  <a:srgbClr val="152D47"/>
                </a:solidFill>
                <a:latin typeface="Crimson Pro Bold"/>
                <a:ea typeface="Crimson Pro Bold"/>
                <a:cs typeface="Crimson Pro Bold"/>
                <a:sym typeface="Crimson Pro Bold"/>
              </a:rPr>
              <a:t>AI-Driven Urban Mobility Optimization System</a:t>
            </a:r>
          </a:p>
        </p:txBody>
      </p:sp>
      <p:sp>
        <p:nvSpPr>
          <p:cNvPr id="12" name="TextBox 12"/>
          <p:cNvSpPr txBox="1"/>
          <p:nvPr/>
        </p:nvSpPr>
        <p:spPr>
          <a:xfrm>
            <a:off x="992238" y="5311080"/>
            <a:ext cx="9445526" cy="1446610"/>
          </a:xfrm>
          <a:prstGeom prst="rect">
            <a:avLst/>
          </a:prstGeom>
        </p:spPr>
        <p:txBody>
          <a:bodyPr lIns="0" tIns="0" rIns="0" bIns="0" rtlCol="0" anchor="t">
            <a:spAutoFit/>
          </a:bodyPr>
          <a:lstStyle/>
          <a:p>
            <a:pPr algn="l">
              <a:lnSpc>
                <a:spcPts val="3562"/>
              </a:lnSpc>
            </a:pPr>
            <a:r>
              <a:rPr lang="en-US" sz="2187" dirty="0">
                <a:solidFill>
                  <a:srgbClr val="4C4C4D"/>
                </a:solidFill>
                <a:latin typeface="Heebo"/>
                <a:ea typeface="Heebo"/>
                <a:cs typeface="Heebo"/>
                <a:sym typeface="Heebo"/>
              </a:rPr>
              <a:t>Transforming urban transport through intelligent fleet management, predictive analytics, and real-time </a:t>
            </a:r>
            <a:r>
              <a:rPr lang="en-US" sz="2187" dirty="0" err="1">
                <a:solidFill>
                  <a:srgbClr val="4C4C4D"/>
                </a:solidFill>
                <a:latin typeface="Heebo"/>
                <a:ea typeface="Heebo"/>
                <a:cs typeface="Heebo"/>
                <a:sym typeface="Heebo"/>
              </a:rPr>
              <a:t>optimisation</a:t>
            </a:r>
            <a:r>
              <a:rPr lang="en-US" sz="2187" dirty="0">
                <a:solidFill>
                  <a:srgbClr val="4C4C4D"/>
                </a:solidFill>
                <a:latin typeface="Heebo"/>
                <a:ea typeface="Heebo"/>
                <a:cs typeface="Heebo"/>
                <a:sym typeface="Heebo"/>
              </a:rPr>
              <a:t> for sustainable, efficient mobility solutions.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871537"/>
            <a:ext cx="7088237" cy="933599"/>
          </a:xfrm>
          <a:prstGeom prst="rect">
            <a:avLst/>
          </a:prstGeom>
        </p:spPr>
        <p:txBody>
          <a:bodyPr lIns="0" tIns="0" rIns="0" bIns="0" rtlCol="0" anchor="t">
            <a:spAutoFit/>
          </a:bodyPr>
          <a:lstStyle/>
          <a:p>
            <a:pPr algn="l">
              <a:lnSpc>
                <a:spcPts val="6937"/>
              </a:lnSpc>
            </a:pPr>
            <a:r>
              <a:rPr lang="en-US" sz="5562" b="1">
                <a:solidFill>
                  <a:srgbClr val="152D47"/>
                </a:solidFill>
                <a:latin typeface="Crimson Pro Bold"/>
                <a:ea typeface="Crimson Pro Bold"/>
                <a:cs typeface="Crimson Pro Bold"/>
                <a:sym typeface="Crimson Pro Bold"/>
              </a:rPr>
              <a:t>Problem Statement</a:t>
            </a:r>
          </a:p>
        </p:txBody>
      </p:sp>
      <p:sp>
        <p:nvSpPr>
          <p:cNvPr id="7" name="TextBox 7"/>
          <p:cNvSpPr txBox="1"/>
          <p:nvPr/>
        </p:nvSpPr>
        <p:spPr>
          <a:xfrm>
            <a:off x="992238" y="2485281"/>
            <a:ext cx="6106269" cy="492892"/>
          </a:xfrm>
          <a:prstGeom prst="rect">
            <a:avLst/>
          </a:prstGeom>
        </p:spPr>
        <p:txBody>
          <a:bodyPr wrap="square" lIns="0" tIns="0" rIns="0" bIns="0" rtlCol="0" anchor="t">
            <a:spAutoFit/>
          </a:bodyPr>
          <a:lstStyle/>
          <a:p>
            <a:pPr algn="l">
              <a:lnSpc>
                <a:spcPts val="4125"/>
              </a:lnSpc>
            </a:pPr>
            <a:r>
              <a:rPr lang="en-US" sz="3312" b="1" dirty="0">
                <a:solidFill>
                  <a:srgbClr val="152D47"/>
                </a:solidFill>
                <a:latin typeface="Crimson Pro Bold"/>
                <a:ea typeface="Crimson Pro Bold"/>
                <a:cs typeface="Crimson Pro Bold"/>
                <a:sym typeface="Crimson Pro Bold"/>
              </a:rPr>
              <a:t>Urban Mobility Challenges</a:t>
            </a:r>
          </a:p>
        </p:txBody>
      </p:sp>
      <p:sp>
        <p:nvSpPr>
          <p:cNvPr id="8" name="TextBox 8"/>
          <p:cNvSpPr txBox="1"/>
          <p:nvPr/>
        </p:nvSpPr>
        <p:spPr>
          <a:xfrm>
            <a:off x="992238" y="3243262"/>
            <a:ext cx="6106269" cy="1900237"/>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Modern cities face unprecedented transport demands with increasing congestion, inefficient fleet utilisation, and environmental concerns requiring immediate attention.</a:t>
            </a:r>
          </a:p>
        </p:txBody>
      </p:sp>
      <p:sp>
        <p:nvSpPr>
          <p:cNvPr id="9" name="TextBox 9"/>
          <p:cNvSpPr txBox="1"/>
          <p:nvPr/>
        </p:nvSpPr>
        <p:spPr>
          <a:xfrm>
            <a:off x="992238" y="5312866"/>
            <a:ext cx="6106269" cy="2353866"/>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Traditional fleet management systems lack predictive capabilities, resulting in reactive maintenance, suboptimal routing, and poor resource allocation that impacts operational efficiency.</a:t>
            </a:r>
          </a:p>
        </p:txBody>
      </p:sp>
      <p:grpSp>
        <p:nvGrpSpPr>
          <p:cNvPr id="10" name="Group 10"/>
          <p:cNvGrpSpPr/>
          <p:nvPr/>
        </p:nvGrpSpPr>
        <p:grpSpPr>
          <a:xfrm>
            <a:off x="7799785" y="2549277"/>
            <a:ext cx="4610844" cy="3334791"/>
            <a:chOff x="0" y="0"/>
            <a:chExt cx="6147792" cy="4446388"/>
          </a:xfrm>
        </p:grpSpPr>
        <p:sp>
          <p:nvSpPr>
            <p:cNvPr id="11" name="Freeform 11"/>
            <p:cNvSpPr/>
            <p:nvPr/>
          </p:nvSpPr>
          <p:spPr>
            <a:xfrm>
              <a:off x="0" y="0"/>
              <a:ext cx="6147689" cy="4446397"/>
            </a:xfrm>
            <a:custGeom>
              <a:avLst/>
              <a:gdLst/>
              <a:ahLst/>
              <a:cxnLst/>
              <a:rect l="l" t="t" r="r" b="b"/>
              <a:pathLst>
                <a:path w="6147689" h="4446397">
                  <a:moveTo>
                    <a:pt x="0" y="56642"/>
                  </a:moveTo>
                  <a:cubicBezTo>
                    <a:pt x="0" y="25400"/>
                    <a:pt x="25400" y="0"/>
                    <a:pt x="56642" y="0"/>
                  </a:cubicBezTo>
                  <a:lnTo>
                    <a:pt x="6091047" y="0"/>
                  </a:lnTo>
                  <a:cubicBezTo>
                    <a:pt x="6122416" y="0"/>
                    <a:pt x="6147689" y="25400"/>
                    <a:pt x="6147689" y="56642"/>
                  </a:cubicBezTo>
                  <a:lnTo>
                    <a:pt x="6147689" y="4389755"/>
                  </a:lnTo>
                  <a:cubicBezTo>
                    <a:pt x="6147689" y="4421124"/>
                    <a:pt x="6122289" y="4446397"/>
                    <a:pt x="6091047" y="4446397"/>
                  </a:cubicBezTo>
                  <a:lnTo>
                    <a:pt x="56642" y="4446397"/>
                  </a:lnTo>
                  <a:cubicBezTo>
                    <a:pt x="25273" y="4446397"/>
                    <a:pt x="0" y="4420997"/>
                    <a:pt x="0" y="4389755"/>
                  </a:cubicBezTo>
                  <a:close/>
                </a:path>
              </a:pathLst>
            </a:custGeom>
            <a:solidFill>
              <a:srgbClr val="F2EEEE"/>
            </a:solidFill>
            <a:ln w="12700">
              <a:solidFill>
                <a:srgbClr val="000000"/>
              </a:solidFill>
            </a:ln>
          </p:spPr>
        </p:sp>
      </p:grpSp>
      <p:grpSp>
        <p:nvGrpSpPr>
          <p:cNvPr id="12" name="Group 12"/>
          <p:cNvGrpSpPr/>
          <p:nvPr/>
        </p:nvGrpSpPr>
        <p:grpSpPr>
          <a:xfrm>
            <a:off x="8083302" y="2832795"/>
            <a:ext cx="850552" cy="850552"/>
            <a:chOff x="0" y="0"/>
            <a:chExt cx="1134070" cy="1134070"/>
          </a:xfrm>
        </p:grpSpPr>
        <p:sp>
          <p:nvSpPr>
            <p:cNvPr id="13" name="Freeform 13"/>
            <p:cNvSpPr/>
            <p:nvPr/>
          </p:nvSpPr>
          <p:spPr>
            <a:xfrm>
              <a:off x="0" y="0"/>
              <a:ext cx="1134110" cy="1134110"/>
            </a:xfrm>
            <a:custGeom>
              <a:avLst/>
              <a:gdLst/>
              <a:ahLst/>
              <a:cxnLst/>
              <a:rect l="l" t="t" r="r" b="b"/>
              <a:pathLst>
                <a:path w="1134110" h="1134110">
                  <a:moveTo>
                    <a:pt x="0" y="567055"/>
                  </a:moveTo>
                  <a:cubicBezTo>
                    <a:pt x="0" y="253873"/>
                    <a:pt x="253873" y="0"/>
                    <a:pt x="567055" y="0"/>
                  </a:cubicBezTo>
                  <a:cubicBezTo>
                    <a:pt x="880237" y="0"/>
                    <a:pt x="1134110" y="253873"/>
                    <a:pt x="1134110" y="567055"/>
                  </a:cubicBezTo>
                  <a:cubicBezTo>
                    <a:pt x="1134110" y="880237"/>
                    <a:pt x="880237" y="1134110"/>
                    <a:pt x="567055" y="1134110"/>
                  </a:cubicBezTo>
                  <a:cubicBezTo>
                    <a:pt x="253873" y="1134110"/>
                    <a:pt x="0" y="880237"/>
                    <a:pt x="0" y="567055"/>
                  </a:cubicBezTo>
                  <a:close/>
                </a:path>
              </a:pathLst>
            </a:custGeom>
            <a:solidFill>
              <a:srgbClr val="2150FE"/>
            </a:solidFill>
            <a:ln w="12700">
              <a:solidFill>
                <a:srgbClr val="000000"/>
              </a:solidFill>
            </a:ln>
          </p:spPr>
        </p:sp>
      </p:grpSp>
      <p:sp>
        <p:nvSpPr>
          <p:cNvPr id="14" name="Freeform 14" descr="preencoded.png"/>
          <p:cNvSpPr/>
          <p:nvPr/>
        </p:nvSpPr>
        <p:spPr>
          <a:xfrm>
            <a:off x="8317260" y="3066604"/>
            <a:ext cx="382638" cy="382638"/>
          </a:xfrm>
          <a:custGeom>
            <a:avLst/>
            <a:gdLst/>
            <a:ahLst/>
            <a:cxnLst/>
            <a:rect l="l" t="t" r="r" b="b"/>
            <a:pathLst>
              <a:path w="382638" h="382638">
                <a:moveTo>
                  <a:pt x="0" y="0"/>
                </a:moveTo>
                <a:lnTo>
                  <a:pt x="382638" y="0"/>
                </a:lnTo>
                <a:lnTo>
                  <a:pt x="382638" y="382637"/>
                </a:lnTo>
                <a:lnTo>
                  <a:pt x="0" y="382637"/>
                </a:lnTo>
                <a:lnTo>
                  <a:pt x="0" y="0"/>
                </a:lnTo>
                <a:close/>
              </a:path>
            </a:pathLst>
          </a:custGeom>
          <a:blipFill>
            <a:blip r:embed="rId3">
              <a:extLst>
                <a:ext uri="{96DAC541-7B7A-43D3-8B79-37D633B846F1}">
                  <asvg:svgBlip xmlns:asvg="http://schemas.microsoft.com/office/drawing/2016/SVG/main" r:embed="rId4"/>
                </a:ext>
              </a:extLst>
            </a:blip>
            <a:stretch>
              <a:fillRect t="-14634" b="-14634"/>
            </a:stretch>
          </a:blipFill>
        </p:spPr>
      </p:sp>
      <p:sp>
        <p:nvSpPr>
          <p:cNvPr id="15" name="TextBox 15"/>
          <p:cNvSpPr txBox="1"/>
          <p:nvPr/>
        </p:nvSpPr>
        <p:spPr>
          <a:xfrm>
            <a:off x="8083302" y="3938290"/>
            <a:ext cx="3544044" cy="471487"/>
          </a:xfrm>
          <a:prstGeom prst="rect">
            <a:avLst/>
          </a:prstGeom>
        </p:spPr>
        <p:txBody>
          <a:bodyPr lIns="0" tIns="0" rIns="0" bIns="0" rtlCol="0" anchor="t">
            <a:spAutoFit/>
          </a:bodyPr>
          <a:lstStyle/>
          <a:p>
            <a:pPr algn="l">
              <a:lnSpc>
                <a:spcPts val="3437"/>
              </a:lnSpc>
            </a:pPr>
            <a:r>
              <a:rPr lang="en-US" sz="2750" b="1">
                <a:solidFill>
                  <a:srgbClr val="4C4C4D"/>
                </a:solidFill>
                <a:latin typeface="Crimson Pro Bold"/>
                <a:ea typeface="Crimson Pro Bold"/>
                <a:cs typeface="Crimson Pro Bold"/>
                <a:sym typeface="Crimson Pro Bold"/>
              </a:rPr>
              <a:t>Traffic Inefficiency</a:t>
            </a:r>
          </a:p>
        </p:txBody>
      </p:sp>
      <p:sp>
        <p:nvSpPr>
          <p:cNvPr id="16" name="TextBox 16"/>
          <p:cNvSpPr txBox="1"/>
          <p:nvPr/>
        </p:nvSpPr>
        <p:spPr>
          <a:xfrm>
            <a:off x="8083302" y="4607570"/>
            <a:ext cx="4043809" cy="992981"/>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Poor route planning increases journey times by 30-40%</a:t>
            </a:r>
          </a:p>
        </p:txBody>
      </p:sp>
      <p:grpSp>
        <p:nvGrpSpPr>
          <p:cNvPr id="17" name="Group 17"/>
          <p:cNvGrpSpPr/>
          <p:nvPr/>
        </p:nvGrpSpPr>
        <p:grpSpPr>
          <a:xfrm>
            <a:off x="12694146" y="2549277"/>
            <a:ext cx="4610992" cy="3334791"/>
            <a:chOff x="0" y="0"/>
            <a:chExt cx="6147990" cy="4446388"/>
          </a:xfrm>
        </p:grpSpPr>
        <p:sp>
          <p:nvSpPr>
            <p:cNvPr id="18" name="Freeform 18"/>
            <p:cNvSpPr/>
            <p:nvPr/>
          </p:nvSpPr>
          <p:spPr>
            <a:xfrm>
              <a:off x="0" y="0"/>
              <a:ext cx="6147943" cy="4446397"/>
            </a:xfrm>
            <a:custGeom>
              <a:avLst/>
              <a:gdLst/>
              <a:ahLst/>
              <a:cxnLst/>
              <a:rect l="l" t="t" r="r" b="b"/>
              <a:pathLst>
                <a:path w="6147943" h="4446397">
                  <a:moveTo>
                    <a:pt x="0" y="56642"/>
                  </a:moveTo>
                  <a:cubicBezTo>
                    <a:pt x="0" y="25400"/>
                    <a:pt x="25400" y="0"/>
                    <a:pt x="56642" y="0"/>
                  </a:cubicBezTo>
                  <a:lnTo>
                    <a:pt x="6091301" y="0"/>
                  </a:lnTo>
                  <a:cubicBezTo>
                    <a:pt x="6122670" y="0"/>
                    <a:pt x="6147943" y="25400"/>
                    <a:pt x="6147943" y="56642"/>
                  </a:cubicBezTo>
                  <a:lnTo>
                    <a:pt x="6147943" y="4389755"/>
                  </a:lnTo>
                  <a:cubicBezTo>
                    <a:pt x="6147943" y="4421124"/>
                    <a:pt x="6122543" y="4446397"/>
                    <a:pt x="6091301" y="4446397"/>
                  </a:cubicBezTo>
                  <a:lnTo>
                    <a:pt x="56642" y="4446397"/>
                  </a:lnTo>
                  <a:cubicBezTo>
                    <a:pt x="25273" y="4446397"/>
                    <a:pt x="0" y="4420997"/>
                    <a:pt x="0" y="4389755"/>
                  </a:cubicBezTo>
                  <a:close/>
                </a:path>
              </a:pathLst>
            </a:custGeom>
            <a:solidFill>
              <a:srgbClr val="F2EEEE"/>
            </a:solidFill>
            <a:ln w="12700">
              <a:solidFill>
                <a:srgbClr val="000000"/>
              </a:solidFill>
            </a:ln>
          </p:spPr>
        </p:sp>
      </p:grpSp>
      <p:grpSp>
        <p:nvGrpSpPr>
          <p:cNvPr id="19" name="Group 19"/>
          <p:cNvGrpSpPr/>
          <p:nvPr/>
        </p:nvGrpSpPr>
        <p:grpSpPr>
          <a:xfrm>
            <a:off x="12977664" y="2832795"/>
            <a:ext cx="850553" cy="850552"/>
            <a:chOff x="0" y="0"/>
            <a:chExt cx="1134070" cy="1134070"/>
          </a:xfrm>
        </p:grpSpPr>
        <p:sp>
          <p:nvSpPr>
            <p:cNvPr id="20" name="Freeform 20"/>
            <p:cNvSpPr/>
            <p:nvPr/>
          </p:nvSpPr>
          <p:spPr>
            <a:xfrm>
              <a:off x="0" y="0"/>
              <a:ext cx="1134110" cy="1134110"/>
            </a:xfrm>
            <a:custGeom>
              <a:avLst/>
              <a:gdLst/>
              <a:ahLst/>
              <a:cxnLst/>
              <a:rect l="l" t="t" r="r" b="b"/>
              <a:pathLst>
                <a:path w="1134110" h="1134110">
                  <a:moveTo>
                    <a:pt x="0" y="567055"/>
                  </a:moveTo>
                  <a:cubicBezTo>
                    <a:pt x="0" y="253873"/>
                    <a:pt x="253873" y="0"/>
                    <a:pt x="567055" y="0"/>
                  </a:cubicBezTo>
                  <a:cubicBezTo>
                    <a:pt x="880237" y="0"/>
                    <a:pt x="1134110" y="253873"/>
                    <a:pt x="1134110" y="567055"/>
                  </a:cubicBezTo>
                  <a:cubicBezTo>
                    <a:pt x="1134110" y="880237"/>
                    <a:pt x="880237" y="1134110"/>
                    <a:pt x="567055" y="1134110"/>
                  </a:cubicBezTo>
                  <a:cubicBezTo>
                    <a:pt x="253873" y="1134110"/>
                    <a:pt x="0" y="880237"/>
                    <a:pt x="0" y="567055"/>
                  </a:cubicBezTo>
                  <a:close/>
                </a:path>
              </a:pathLst>
            </a:custGeom>
            <a:solidFill>
              <a:srgbClr val="2150FE"/>
            </a:solidFill>
            <a:ln w="12700">
              <a:solidFill>
                <a:srgbClr val="000000"/>
              </a:solidFill>
            </a:ln>
          </p:spPr>
        </p:sp>
      </p:grpSp>
      <p:sp>
        <p:nvSpPr>
          <p:cNvPr id="21" name="Freeform 21" descr="preencoded.png"/>
          <p:cNvSpPr/>
          <p:nvPr/>
        </p:nvSpPr>
        <p:spPr>
          <a:xfrm>
            <a:off x="13211621" y="3066604"/>
            <a:ext cx="382638" cy="382638"/>
          </a:xfrm>
          <a:custGeom>
            <a:avLst/>
            <a:gdLst/>
            <a:ahLst/>
            <a:cxnLst/>
            <a:rect l="l" t="t" r="r" b="b"/>
            <a:pathLst>
              <a:path w="382638" h="382638">
                <a:moveTo>
                  <a:pt x="0" y="0"/>
                </a:moveTo>
                <a:lnTo>
                  <a:pt x="382638" y="0"/>
                </a:lnTo>
                <a:lnTo>
                  <a:pt x="382638" y="382637"/>
                </a:lnTo>
                <a:lnTo>
                  <a:pt x="0" y="382637"/>
                </a:lnTo>
                <a:lnTo>
                  <a:pt x="0" y="0"/>
                </a:lnTo>
                <a:close/>
              </a:path>
            </a:pathLst>
          </a:custGeom>
          <a:blipFill>
            <a:blip r:embed="rId5">
              <a:extLst>
                <a:ext uri="{96DAC541-7B7A-43D3-8B79-37D633B846F1}">
                  <asvg:svgBlip xmlns:asvg="http://schemas.microsoft.com/office/drawing/2016/SVG/main" r:embed="rId6"/>
                </a:ext>
              </a:extLst>
            </a:blip>
            <a:stretch>
              <a:fillRect l="-51219" r="-51219"/>
            </a:stretch>
          </a:blipFill>
        </p:spPr>
      </p:sp>
      <p:sp>
        <p:nvSpPr>
          <p:cNvPr id="22" name="TextBox 22"/>
          <p:cNvSpPr txBox="1"/>
          <p:nvPr/>
        </p:nvSpPr>
        <p:spPr>
          <a:xfrm>
            <a:off x="12977664" y="3938290"/>
            <a:ext cx="3544044" cy="471487"/>
          </a:xfrm>
          <a:prstGeom prst="rect">
            <a:avLst/>
          </a:prstGeom>
        </p:spPr>
        <p:txBody>
          <a:bodyPr lIns="0" tIns="0" rIns="0" bIns="0" rtlCol="0" anchor="t">
            <a:spAutoFit/>
          </a:bodyPr>
          <a:lstStyle/>
          <a:p>
            <a:pPr algn="l">
              <a:lnSpc>
                <a:spcPts val="3437"/>
              </a:lnSpc>
            </a:pPr>
            <a:r>
              <a:rPr lang="en-US" sz="2750" b="1">
                <a:solidFill>
                  <a:srgbClr val="4C4C4D"/>
                </a:solidFill>
                <a:latin typeface="Crimson Pro Bold"/>
                <a:ea typeface="Crimson Pro Bold"/>
                <a:cs typeface="Crimson Pro Bold"/>
                <a:sym typeface="Crimson Pro Bold"/>
              </a:rPr>
              <a:t>Reactive Maintenance</a:t>
            </a:r>
          </a:p>
        </p:txBody>
      </p:sp>
      <p:sp>
        <p:nvSpPr>
          <p:cNvPr id="23" name="TextBox 23"/>
          <p:cNvSpPr txBox="1"/>
          <p:nvPr/>
        </p:nvSpPr>
        <p:spPr>
          <a:xfrm>
            <a:off x="12977664" y="4607570"/>
            <a:ext cx="4043957" cy="992981"/>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Unexpected breakdowns cause service disruptions</a:t>
            </a:r>
          </a:p>
        </p:txBody>
      </p:sp>
      <p:grpSp>
        <p:nvGrpSpPr>
          <p:cNvPr id="24" name="Group 24"/>
          <p:cNvGrpSpPr/>
          <p:nvPr/>
        </p:nvGrpSpPr>
        <p:grpSpPr>
          <a:xfrm>
            <a:off x="7799785" y="6167586"/>
            <a:ext cx="9505355" cy="2881164"/>
            <a:chOff x="0" y="0"/>
            <a:chExt cx="12673807" cy="3841552"/>
          </a:xfrm>
        </p:grpSpPr>
        <p:sp>
          <p:nvSpPr>
            <p:cNvPr id="25" name="Freeform 25"/>
            <p:cNvSpPr/>
            <p:nvPr/>
          </p:nvSpPr>
          <p:spPr>
            <a:xfrm>
              <a:off x="0" y="0"/>
              <a:ext cx="12673711" cy="3841496"/>
            </a:xfrm>
            <a:custGeom>
              <a:avLst/>
              <a:gdLst/>
              <a:ahLst/>
              <a:cxnLst/>
              <a:rect l="l" t="t" r="r" b="b"/>
              <a:pathLst>
                <a:path w="12673711" h="3841496">
                  <a:moveTo>
                    <a:pt x="0" y="56642"/>
                  </a:moveTo>
                  <a:cubicBezTo>
                    <a:pt x="0" y="25400"/>
                    <a:pt x="25400" y="0"/>
                    <a:pt x="56642" y="0"/>
                  </a:cubicBezTo>
                  <a:lnTo>
                    <a:pt x="12617069" y="0"/>
                  </a:lnTo>
                  <a:cubicBezTo>
                    <a:pt x="12648437" y="0"/>
                    <a:pt x="12673711" y="25400"/>
                    <a:pt x="12673711" y="56642"/>
                  </a:cubicBezTo>
                  <a:lnTo>
                    <a:pt x="12673711" y="3784854"/>
                  </a:lnTo>
                  <a:cubicBezTo>
                    <a:pt x="12673711" y="3816223"/>
                    <a:pt x="12648311" y="3841496"/>
                    <a:pt x="12617069" y="3841496"/>
                  </a:cubicBezTo>
                  <a:lnTo>
                    <a:pt x="56642" y="3841496"/>
                  </a:lnTo>
                  <a:cubicBezTo>
                    <a:pt x="25273" y="3841496"/>
                    <a:pt x="0" y="3816096"/>
                    <a:pt x="0" y="3784854"/>
                  </a:cubicBezTo>
                  <a:close/>
                </a:path>
              </a:pathLst>
            </a:custGeom>
            <a:solidFill>
              <a:srgbClr val="F2EEEE"/>
            </a:solidFill>
            <a:ln w="12700">
              <a:solidFill>
                <a:srgbClr val="000000"/>
              </a:solidFill>
            </a:ln>
          </p:spPr>
        </p:sp>
      </p:grpSp>
      <p:grpSp>
        <p:nvGrpSpPr>
          <p:cNvPr id="26" name="Group 26"/>
          <p:cNvGrpSpPr/>
          <p:nvPr/>
        </p:nvGrpSpPr>
        <p:grpSpPr>
          <a:xfrm>
            <a:off x="8083302" y="6451104"/>
            <a:ext cx="850552" cy="850552"/>
            <a:chOff x="0" y="0"/>
            <a:chExt cx="1134070" cy="1134070"/>
          </a:xfrm>
        </p:grpSpPr>
        <p:sp>
          <p:nvSpPr>
            <p:cNvPr id="27" name="Freeform 27"/>
            <p:cNvSpPr/>
            <p:nvPr/>
          </p:nvSpPr>
          <p:spPr>
            <a:xfrm>
              <a:off x="0" y="0"/>
              <a:ext cx="1134110" cy="1134110"/>
            </a:xfrm>
            <a:custGeom>
              <a:avLst/>
              <a:gdLst/>
              <a:ahLst/>
              <a:cxnLst/>
              <a:rect l="l" t="t" r="r" b="b"/>
              <a:pathLst>
                <a:path w="1134110" h="1134110">
                  <a:moveTo>
                    <a:pt x="0" y="567055"/>
                  </a:moveTo>
                  <a:cubicBezTo>
                    <a:pt x="0" y="253873"/>
                    <a:pt x="253873" y="0"/>
                    <a:pt x="567055" y="0"/>
                  </a:cubicBezTo>
                  <a:cubicBezTo>
                    <a:pt x="880237" y="0"/>
                    <a:pt x="1134110" y="253873"/>
                    <a:pt x="1134110" y="567055"/>
                  </a:cubicBezTo>
                  <a:cubicBezTo>
                    <a:pt x="1134110" y="880237"/>
                    <a:pt x="880237" y="1134110"/>
                    <a:pt x="567055" y="1134110"/>
                  </a:cubicBezTo>
                  <a:cubicBezTo>
                    <a:pt x="253873" y="1134110"/>
                    <a:pt x="0" y="880237"/>
                    <a:pt x="0" y="567055"/>
                  </a:cubicBezTo>
                  <a:close/>
                </a:path>
              </a:pathLst>
            </a:custGeom>
            <a:solidFill>
              <a:srgbClr val="2150FE"/>
            </a:solidFill>
            <a:ln w="12700">
              <a:solidFill>
                <a:srgbClr val="000000"/>
              </a:solidFill>
            </a:ln>
          </p:spPr>
        </p:sp>
      </p:grpSp>
      <p:sp>
        <p:nvSpPr>
          <p:cNvPr id="28" name="Freeform 28" descr="preencoded.png"/>
          <p:cNvSpPr/>
          <p:nvPr/>
        </p:nvSpPr>
        <p:spPr>
          <a:xfrm>
            <a:off x="8317260" y="6684912"/>
            <a:ext cx="382638" cy="382638"/>
          </a:xfrm>
          <a:custGeom>
            <a:avLst/>
            <a:gdLst/>
            <a:ahLst/>
            <a:cxnLst/>
            <a:rect l="l" t="t" r="r" b="b"/>
            <a:pathLst>
              <a:path w="382638" h="382638">
                <a:moveTo>
                  <a:pt x="0" y="0"/>
                </a:moveTo>
                <a:lnTo>
                  <a:pt x="382638" y="0"/>
                </a:lnTo>
                <a:lnTo>
                  <a:pt x="382638" y="382638"/>
                </a:lnTo>
                <a:lnTo>
                  <a:pt x="0" y="38263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29" name="TextBox 29"/>
          <p:cNvSpPr txBox="1"/>
          <p:nvPr/>
        </p:nvSpPr>
        <p:spPr>
          <a:xfrm>
            <a:off x="8083302" y="7556599"/>
            <a:ext cx="3544044" cy="471487"/>
          </a:xfrm>
          <a:prstGeom prst="rect">
            <a:avLst/>
          </a:prstGeom>
        </p:spPr>
        <p:txBody>
          <a:bodyPr lIns="0" tIns="0" rIns="0" bIns="0" rtlCol="0" anchor="t">
            <a:spAutoFit/>
          </a:bodyPr>
          <a:lstStyle/>
          <a:p>
            <a:pPr algn="l">
              <a:lnSpc>
                <a:spcPts val="3437"/>
              </a:lnSpc>
            </a:pPr>
            <a:r>
              <a:rPr lang="en-US" sz="2750" b="1">
                <a:solidFill>
                  <a:srgbClr val="4C4C4D"/>
                </a:solidFill>
                <a:latin typeface="Crimson Pro Bold"/>
                <a:ea typeface="Crimson Pro Bold"/>
                <a:cs typeface="Crimson Pro Bold"/>
                <a:sym typeface="Crimson Pro Bold"/>
              </a:rPr>
              <a:t>Asset Underutilisation</a:t>
            </a:r>
          </a:p>
        </p:txBody>
      </p:sp>
      <p:sp>
        <p:nvSpPr>
          <p:cNvPr id="30" name="TextBox 30"/>
          <p:cNvSpPr txBox="1"/>
          <p:nvPr/>
        </p:nvSpPr>
        <p:spPr>
          <a:xfrm>
            <a:off x="8083302" y="8225879"/>
            <a:ext cx="8938320" cy="539354"/>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Vehicles remain idle whilst demand goes unmet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16049019" y="9686925"/>
            <a:ext cx="2153256" cy="514350"/>
            <a:chOff x="0" y="0"/>
            <a:chExt cx="2871008" cy="685800"/>
          </a:xfrm>
        </p:grpSpPr>
        <p:sp>
          <p:nvSpPr>
            <p:cNvPr id="7" name="Freeform 7" descr="preencoded.png">
              <a:hlinkClick r:id="rId3" tooltip="https://gamma.app/?utm_source=made-with-gamma"/>
            </p:cNvPr>
            <p:cNvSpPr/>
            <p:nvPr/>
          </p:nvSpPr>
          <p:spPr>
            <a:xfrm>
              <a:off x="0" y="0"/>
              <a:ext cx="2870962" cy="685800"/>
            </a:xfrm>
            <a:custGeom>
              <a:avLst/>
              <a:gdLst/>
              <a:ahLst/>
              <a:cxnLst/>
              <a:rect l="l" t="t" r="r" b="b"/>
              <a:pathLst>
                <a:path w="2870962" h="685800">
                  <a:moveTo>
                    <a:pt x="0" y="0"/>
                  </a:moveTo>
                  <a:lnTo>
                    <a:pt x="2870962" y="0"/>
                  </a:lnTo>
                  <a:lnTo>
                    <a:pt x="2870962" y="685800"/>
                  </a:lnTo>
                  <a:lnTo>
                    <a:pt x="0" y="685800"/>
                  </a:lnTo>
                  <a:lnTo>
                    <a:pt x="0" y="0"/>
                  </a:lnTo>
                  <a:close/>
                </a:path>
              </a:pathLst>
            </a:custGeom>
            <a:blipFill>
              <a:blip r:embed="rId4"/>
              <a:stretch>
                <a:fillRect r="-1"/>
              </a:stretch>
            </a:blipFill>
          </p:spPr>
        </p:sp>
      </p:grpSp>
      <p:grpSp>
        <p:nvGrpSpPr>
          <p:cNvPr id="8" name="Group 8"/>
          <p:cNvGrpSpPr>
            <a:grpSpLocks noChangeAspect="1"/>
          </p:cNvGrpSpPr>
          <p:nvPr/>
        </p:nvGrpSpPr>
        <p:grpSpPr>
          <a:xfrm>
            <a:off x="11430000" y="0"/>
            <a:ext cx="6858000" cy="10287000"/>
            <a:chOff x="0" y="0"/>
            <a:chExt cx="9144000" cy="13716000"/>
          </a:xfrm>
        </p:grpSpPr>
        <p:sp>
          <p:nvSpPr>
            <p:cNvPr id="9" name="Freeform 9"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5"/>
              <a:stretch>
                <a:fillRect/>
              </a:stretch>
            </a:blipFill>
          </p:spPr>
        </p:sp>
      </p:grpSp>
      <p:sp>
        <p:nvSpPr>
          <p:cNvPr id="10" name="TextBox 10"/>
          <p:cNvSpPr txBox="1"/>
          <p:nvPr/>
        </p:nvSpPr>
        <p:spPr>
          <a:xfrm>
            <a:off x="992238" y="1670894"/>
            <a:ext cx="8532762" cy="829138"/>
          </a:xfrm>
          <a:prstGeom prst="rect">
            <a:avLst/>
          </a:prstGeom>
        </p:spPr>
        <p:txBody>
          <a:bodyPr wrap="square" lIns="0" tIns="0" rIns="0" bIns="0" rtlCol="0" anchor="t">
            <a:spAutoFit/>
          </a:bodyPr>
          <a:lstStyle/>
          <a:p>
            <a:pPr algn="l">
              <a:lnSpc>
                <a:spcPts val="6937"/>
              </a:lnSpc>
            </a:pPr>
            <a:r>
              <a:rPr lang="en-US" sz="5562" b="1" dirty="0">
                <a:solidFill>
                  <a:srgbClr val="152D47"/>
                </a:solidFill>
                <a:latin typeface="Crimson Pro Bold"/>
                <a:ea typeface="Crimson Pro Bold"/>
                <a:cs typeface="Crimson Pro Bold"/>
                <a:sym typeface="Crimson Pro Bold"/>
              </a:rPr>
              <a:t>The </a:t>
            </a:r>
            <a:r>
              <a:rPr lang="en-US" sz="5562" b="1" dirty="0" err="1">
                <a:solidFill>
                  <a:srgbClr val="152D47"/>
                </a:solidFill>
                <a:latin typeface="Crimson Pro Bold"/>
                <a:ea typeface="Crimson Pro Bold"/>
                <a:cs typeface="Crimson Pro Bold"/>
                <a:sym typeface="Crimson Pro Bold"/>
              </a:rPr>
              <a:t>NeuroFleetX</a:t>
            </a:r>
            <a:r>
              <a:rPr lang="en-US" sz="5562" b="1" dirty="0">
                <a:solidFill>
                  <a:srgbClr val="152D47"/>
                </a:solidFill>
                <a:latin typeface="Crimson Pro Bold"/>
                <a:ea typeface="Crimson Pro Bold"/>
                <a:cs typeface="Crimson Pro Bold"/>
                <a:sym typeface="Crimson Pro Bold"/>
              </a:rPr>
              <a:t> Solution</a:t>
            </a:r>
          </a:p>
        </p:txBody>
      </p:sp>
      <p:sp>
        <p:nvSpPr>
          <p:cNvPr id="11" name="TextBox 11"/>
          <p:cNvSpPr txBox="1"/>
          <p:nvPr/>
        </p:nvSpPr>
        <p:spPr>
          <a:xfrm>
            <a:off x="992238" y="2943969"/>
            <a:ext cx="9445526" cy="2353866"/>
          </a:xfrm>
          <a:prstGeom prst="rect">
            <a:avLst/>
          </a:prstGeom>
        </p:spPr>
        <p:txBody>
          <a:bodyPr lIns="0" tIns="0" rIns="0" bIns="0" rtlCol="0" anchor="t">
            <a:spAutoFit/>
          </a:bodyPr>
          <a:lstStyle/>
          <a:p>
            <a:pPr algn="l">
              <a:lnSpc>
                <a:spcPts val="3562"/>
              </a:lnSpc>
            </a:pPr>
            <a:r>
              <a:rPr lang="en-US" sz="2187" dirty="0" err="1">
                <a:solidFill>
                  <a:srgbClr val="4C4C4D"/>
                </a:solidFill>
                <a:latin typeface="Heebo"/>
                <a:ea typeface="Heebo"/>
                <a:cs typeface="Heebo"/>
                <a:sym typeface="Heebo"/>
              </a:rPr>
              <a:t>NeuroFleetX</a:t>
            </a:r>
            <a:r>
              <a:rPr lang="en-US" sz="2187" dirty="0">
                <a:solidFill>
                  <a:srgbClr val="4C4C4D"/>
                </a:solidFill>
                <a:latin typeface="Heebo"/>
                <a:ea typeface="Heebo"/>
                <a:cs typeface="Heebo"/>
                <a:sym typeface="Heebo"/>
              </a:rPr>
              <a:t> is a next-generation AI-driven platform that </a:t>
            </a:r>
            <a:r>
              <a:rPr lang="en-US" sz="2187" dirty="0" err="1">
                <a:solidFill>
                  <a:srgbClr val="4C4C4D"/>
                </a:solidFill>
                <a:latin typeface="Heebo"/>
                <a:ea typeface="Heebo"/>
                <a:cs typeface="Heebo"/>
                <a:sym typeface="Heebo"/>
              </a:rPr>
              <a:t>revolutionises</a:t>
            </a:r>
            <a:r>
              <a:rPr lang="en-US" sz="2187" dirty="0">
                <a:solidFill>
                  <a:srgbClr val="4C4C4D"/>
                </a:solidFill>
                <a:latin typeface="Heebo"/>
                <a:ea typeface="Heebo"/>
                <a:cs typeface="Heebo"/>
                <a:sym typeface="Heebo"/>
              </a:rPr>
              <a:t> urban mobility through intelligent automation. By leveraging artificial intelligence, IoT connectivity, and geospatial analytics, the system delivers real-time vehicle tracking, intelligent routing, predictive maintenance, and dynamic fleet allocation.</a:t>
            </a:r>
          </a:p>
        </p:txBody>
      </p:sp>
      <p:sp>
        <p:nvSpPr>
          <p:cNvPr id="12" name="TextBox 12"/>
          <p:cNvSpPr txBox="1"/>
          <p:nvPr/>
        </p:nvSpPr>
        <p:spPr>
          <a:xfrm>
            <a:off x="992238" y="5882283"/>
            <a:ext cx="2912269" cy="811709"/>
          </a:xfrm>
          <a:prstGeom prst="rect">
            <a:avLst/>
          </a:prstGeom>
        </p:spPr>
        <p:txBody>
          <a:bodyPr lIns="0" tIns="0" rIns="0" bIns="0" rtlCol="0" anchor="t">
            <a:spAutoFit/>
          </a:bodyPr>
          <a:lstStyle/>
          <a:p>
            <a:pPr algn="ctr">
              <a:lnSpc>
                <a:spcPts val="7312"/>
              </a:lnSpc>
            </a:pPr>
            <a:r>
              <a:rPr lang="en-US" sz="7312" b="1">
                <a:solidFill>
                  <a:srgbClr val="4C4C4D"/>
                </a:solidFill>
                <a:latin typeface="Crimson Pro Bold"/>
                <a:ea typeface="Crimson Pro Bold"/>
                <a:cs typeface="Crimson Pro Bold"/>
                <a:sym typeface="Crimson Pro Bold"/>
              </a:rPr>
              <a:t>99.8%</a:t>
            </a:r>
          </a:p>
        </p:txBody>
      </p:sp>
      <p:sp>
        <p:nvSpPr>
          <p:cNvPr id="13" name="TextBox 13"/>
          <p:cNvSpPr txBox="1"/>
          <p:nvPr/>
        </p:nvSpPr>
        <p:spPr>
          <a:xfrm>
            <a:off x="992238" y="7019627"/>
            <a:ext cx="2912269" cy="471487"/>
          </a:xfrm>
          <a:prstGeom prst="rect">
            <a:avLst/>
          </a:prstGeom>
        </p:spPr>
        <p:txBody>
          <a:bodyPr lIns="0" tIns="0" rIns="0" bIns="0" rtlCol="0" anchor="t">
            <a:spAutoFit/>
          </a:bodyPr>
          <a:lstStyle/>
          <a:p>
            <a:pPr algn="ctr">
              <a:lnSpc>
                <a:spcPts val="3437"/>
              </a:lnSpc>
            </a:pPr>
            <a:r>
              <a:rPr lang="en-US" sz="2750" b="1">
                <a:solidFill>
                  <a:srgbClr val="4C4C4D"/>
                </a:solidFill>
                <a:latin typeface="Crimson Pro Bold"/>
                <a:ea typeface="Crimson Pro Bold"/>
                <a:cs typeface="Crimson Pro Bold"/>
                <a:sym typeface="Crimson Pro Bold"/>
              </a:rPr>
              <a:t>System Uptime</a:t>
            </a:r>
          </a:p>
        </p:txBody>
      </p:sp>
      <p:sp>
        <p:nvSpPr>
          <p:cNvPr id="14" name="TextBox 14"/>
          <p:cNvSpPr txBox="1"/>
          <p:nvPr/>
        </p:nvSpPr>
        <p:spPr>
          <a:xfrm>
            <a:off x="992238" y="7575500"/>
            <a:ext cx="2912269" cy="992981"/>
          </a:xfrm>
          <a:prstGeom prst="rect">
            <a:avLst/>
          </a:prstGeom>
        </p:spPr>
        <p:txBody>
          <a:bodyPr lIns="0" tIns="0" rIns="0" bIns="0" rtlCol="0" anchor="t">
            <a:spAutoFit/>
          </a:bodyPr>
          <a:lstStyle/>
          <a:p>
            <a:pPr algn="ctr">
              <a:lnSpc>
                <a:spcPts val="3562"/>
              </a:lnSpc>
            </a:pPr>
            <a:r>
              <a:rPr lang="en-US" sz="2187">
                <a:solidFill>
                  <a:srgbClr val="4C4C4D"/>
                </a:solidFill>
                <a:latin typeface="Heebo"/>
                <a:ea typeface="Heebo"/>
                <a:cs typeface="Heebo"/>
                <a:sym typeface="Heebo"/>
              </a:rPr>
              <a:t>Reliable platform availability</a:t>
            </a:r>
          </a:p>
        </p:txBody>
      </p:sp>
      <p:sp>
        <p:nvSpPr>
          <p:cNvPr id="15" name="TextBox 15"/>
          <p:cNvSpPr txBox="1"/>
          <p:nvPr/>
        </p:nvSpPr>
        <p:spPr>
          <a:xfrm>
            <a:off x="4258866" y="5882283"/>
            <a:ext cx="2912269" cy="811709"/>
          </a:xfrm>
          <a:prstGeom prst="rect">
            <a:avLst/>
          </a:prstGeom>
        </p:spPr>
        <p:txBody>
          <a:bodyPr lIns="0" tIns="0" rIns="0" bIns="0" rtlCol="0" anchor="t">
            <a:spAutoFit/>
          </a:bodyPr>
          <a:lstStyle/>
          <a:p>
            <a:pPr algn="ctr">
              <a:lnSpc>
                <a:spcPts val="7312"/>
              </a:lnSpc>
            </a:pPr>
            <a:r>
              <a:rPr lang="en-US" sz="7312" b="1">
                <a:solidFill>
                  <a:srgbClr val="4C4C4D"/>
                </a:solidFill>
                <a:latin typeface="Crimson Pro Bold"/>
                <a:ea typeface="Crimson Pro Bold"/>
                <a:cs typeface="Crimson Pro Bold"/>
                <a:sym typeface="Crimson Pro Bold"/>
              </a:rPr>
              <a:t>40%</a:t>
            </a:r>
          </a:p>
        </p:txBody>
      </p:sp>
      <p:sp>
        <p:nvSpPr>
          <p:cNvPr id="16" name="TextBox 16"/>
          <p:cNvSpPr txBox="1"/>
          <p:nvPr/>
        </p:nvSpPr>
        <p:spPr>
          <a:xfrm>
            <a:off x="4258866" y="7019627"/>
            <a:ext cx="2912269" cy="471487"/>
          </a:xfrm>
          <a:prstGeom prst="rect">
            <a:avLst/>
          </a:prstGeom>
        </p:spPr>
        <p:txBody>
          <a:bodyPr lIns="0" tIns="0" rIns="0" bIns="0" rtlCol="0" anchor="t">
            <a:spAutoFit/>
          </a:bodyPr>
          <a:lstStyle/>
          <a:p>
            <a:pPr algn="ctr">
              <a:lnSpc>
                <a:spcPts val="3437"/>
              </a:lnSpc>
            </a:pPr>
            <a:r>
              <a:rPr lang="en-US" sz="2750" b="1">
                <a:solidFill>
                  <a:srgbClr val="4C4C4D"/>
                </a:solidFill>
                <a:latin typeface="Crimson Pro Bold"/>
                <a:ea typeface="Crimson Pro Bold"/>
                <a:cs typeface="Crimson Pro Bold"/>
                <a:sym typeface="Crimson Pro Bold"/>
              </a:rPr>
              <a:t>Cost Reduction</a:t>
            </a:r>
          </a:p>
        </p:txBody>
      </p:sp>
      <p:sp>
        <p:nvSpPr>
          <p:cNvPr id="17" name="TextBox 17"/>
          <p:cNvSpPr txBox="1"/>
          <p:nvPr/>
        </p:nvSpPr>
        <p:spPr>
          <a:xfrm>
            <a:off x="4258866" y="7575500"/>
            <a:ext cx="2912269" cy="992981"/>
          </a:xfrm>
          <a:prstGeom prst="rect">
            <a:avLst/>
          </a:prstGeom>
        </p:spPr>
        <p:txBody>
          <a:bodyPr lIns="0" tIns="0" rIns="0" bIns="0" rtlCol="0" anchor="t">
            <a:spAutoFit/>
          </a:bodyPr>
          <a:lstStyle/>
          <a:p>
            <a:pPr algn="ctr">
              <a:lnSpc>
                <a:spcPts val="3562"/>
              </a:lnSpc>
            </a:pPr>
            <a:r>
              <a:rPr lang="en-US" sz="2187">
                <a:solidFill>
                  <a:srgbClr val="4C4C4D"/>
                </a:solidFill>
                <a:latin typeface="Heebo"/>
                <a:ea typeface="Heebo"/>
                <a:cs typeface="Heebo"/>
                <a:sym typeface="Heebo"/>
              </a:rPr>
              <a:t>In operational expenses</a:t>
            </a:r>
          </a:p>
        </p:txBody>
      </p:sp>
      <p:sp>
        <p:nvSpPr>
          <p:cNvPr id="18" name="TextBox 18"/>
          <p:cNvSpPr txBox="1"/>
          <p:nvPr/>
        </p:nvSpPr>
        <p:spPr>
          <a:xfrm>
            <a:off x="7525494" y="5882283"/>
            <a:ext cx="2912269" cy="811709"/>
          </a:xfrm>
          <a:prstGeom prst="rect">
            <a:avLst/>
          </a:prstGeom>
        </p:spPr>
        <p:txBody>
          <a:bodyPr lIns="0" tIns="0" rIns="0" bIns="0" rtlCol="0" anchor="t">
            <a:spAutoFit/>
          </a:bodyPr>
          <a:lstStyle/>
          <a:p>
            <a:pPr algn="ctr">
              <a:lnSpc>
                <a:spcPts val="7312"/>
              </a:lnSpc>
            </a:pPr>
            <a:r>
              <a:rPr lang="en-US" sz="7312" b="1">
                <a:solidFill>
                  <a:srgbClr val="4C4C4D"/>
                </a:solidFill>
                <a:latin typeface="Crimson Pro Bold"/>
                <a:ea typeface="Crimson Pro Bold"/>
                <a:cs typeface="Crimson Pro Bold"/>
                <a:sym typeface="Crimson Pro Bold"/>
              </a:rPr>
              <a:t>25%</a:t>
            </a:r>
          </a:p>
        </p:txBody>
      </p:sp>
      <p:sp>
        <p:nvSpPr>
          <p:cNvPr id="19" name="TextBox 19"/>
          <p:cNvSpPr txBox="1"/>
          <p:nvPr/>
        </p:nvSpPr>
        <p:spPr>
          <a:xfrm>
            <a:off x="7525494" y="7019627"/>
            <a:ext cx="2912269" cy="471487"/>
          </a:xfrm>
          <a:prstGeom prst="rect">
            <a:avLst/>
          </a:prstGeom>
        </p:spPr>
        <p:txBody>
          <a:bodyPr lIns="0" tIns="0" rIns="0" bIns="0" rtlCol="0" anchor="t">
            <a:spAutoFit/>
          </a:bodyPr>
          <a:lstStyle/>
          <a:p>
            <a:pPr algn="ctr">
              <a:lnSpc>
                <a:spcPts val="3437"/>
              </a:lnSpc>
            </a:pPr>
            <a:r>
              <a:rPr lang="en-US" sz="2750" b="1">
                <a:solidFill>
                  <a:srgbClr val="4C4C4D"/>
                </a:solidFill>
                <a:latin typeface="Crimson Pro Bold"/>
                <a:ea typeface="Crimson Pro Bold"/>
                <a:cs typeface="Crimson Pro Bold"/>
                <a:sym typeface="Crimson Pro Bold"/>
              </a:rPr>
              <a:t>Efficiency Gain</a:t>
            </a:r>
          </a:p>
        </p:txBody>
      </p:sp>
      <p:sp>
        <p:nvSpPr>
          <p:cNvPr id="20" name="TextBox 20"/>
          <p:cNvSpPr txBox="1"/>
          <p:nvPr/>
        </p:nvSpPr>
        <p:spPr>
          <a:xfrm>
            <a:off x="7525494" y="7575500"/>
            <a:ext cx="2912269" cy="539354"/>
          </a:xfrm>
          <a:prstGeom prst="rect">
            <a:avLst/>
          </a:prstGeom>
        </p:spPr>
        <p:txBody>
          <a:bodyPr lIns="0" tIns="0" rIns="0" bIns="0" rtlCol="0" anchor="t">
            <a:spAutoFit/>
          </a:bodyPr>
          <a:lstStyle/>
          <a:p>
            <a:pPr algn="ctr">
              <a:lnSpc>
                <a:spcPts val="3562"/>
              </a:lnSpc>
            </a:pPr>
            <a:r>
              <a:rPr lang="en-US" sz="2187">
                <a:solidFill>
                  <a:srgbClr val="4C4C4D"/>
                </a:solidFill>
                <a:latin typeface="Heebo"/>
                <a:ea typeface="Heebo"/>
                <a:cs typeface="Heebo"/>
                <a:sym typeface="Heebo"/>
              </a:rPr>
              <a:t>In fleet utilisation rates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819596"/>
            <a:ext cx="9751962" cy="586571"/>
          </a:xfrm>
          <a:prstGeom prst="rect">
            <a:avLst/>
          </a:prstGeom>
        </p:spPr>
        <p:txBody>
          <a:bodyPr wrap="square" lIns="0" tIns="0" rIns="0" bIns="0" rtlCol="0" anchor="t">
            <a:spAutoFit/>
          </a:bodyPr>
          <a:lstStyle/>
          <a:p>
            <a:pPr algn="l">
              <a:lnSpc>
                <a:spcPts val="4875"/>
              </a:lnSpc>
            </a:pPr>
            <a:r>
              <a:rPr lang="en-US" sz="3875" b="1" dirty="0">
                <a:solidFill>
                  <a:srgbClr val="152D47"/>
                </a:solidFill>
                <a:latin typeface="Crimson Pro Bold"/>
                <a:ea typeface="Crimson Pro Bold"/>
                <a:cs typeface="Crimson Pro Bold"/>
                <a:sym typeface="Crimson Pro Bold"/>
              </a:rPr>
              <a:t>Module 1: Authentication &amp; Role Management</a:t>
            </a:r>
          </a:p>
        </p:txBody>
      </p:sp>
      <p:sp>
        <p:nvSpPr>
          <p:cNvPr id="7" name="TextBox 7"/>
          <p:cNvSpPr txBox="1"/>
          <p:nvPr/>
        </p:nvSpPr>
        <p:spPr>
          <a:xfrm>
            <a:off x="992238" y="1945332"/>
            <a:ext cx="4798962" cy="347659"/>
          </a:xfrm>
          <a:prstGeom prst="rect">
            <a:avLst/>
          </a:prstGeom>
        </p:spPr>
        <p:txBody>
          <a:bodyPr wrap="square" lIns="0" tIns="0" rIns="0" bIns="0" rtlCol="0" anchor="t">
            <a:spAutoFit/>
          </a:bodyPr>
          <a:lstStyle/>
          <a:p>
            <a:pPr algn="l">
              <a:lnSpc>
                <a:spcPts val="2875"/>
              </a:lnSpc>
            </a:pPr>
            <a:r>
              <a:rPr lang="en-US" sz="2312" b="1" dirty="0">
                <a:solidFill>
                  <a:srgbClr val="152D47"/>
                </a:solidFill>
                <a:latin typeface="Crimson Pro Bold"/>
                <a:ea typeface="Crimson Pro Bold"/>
                <a:cs typeface="Crimson Pro Bold"/>
                <a:sym typeface="Crimson Pro Bold"/>
              </a:rPr>
              <a:t>Secure Multi-Role Access Control</a:t>
            </a:r>
          </a:p>
        </p:txBody>
      </p:sp>
      <p:sp>
        <p:nvSpPr>
          <p:cNvPr id="8" name="TextBox 8"/>
          <p:cNvSpPr txBox="1"/>
          <p:nvPr/>
        </p:nvSpPr>
        <p:spPr>
          <a:xfrm>
            <a:off x="992238" y="2477690"/>
            <a:ext cx="8749010" cy="1009948"/>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Robust authentication system supporting four distinct user roles: Admin, Fleet Manager, Driver, and Customer. Each role receives tailored dashboard access with appropriate permissions and functionality.</a:t>
            </a:r>
          </a:p>
        </p:txBody>
      </p:sp>
      <p:sp>
        <p:nvSpPr>
          <p:cNvPr id="9" name="TextBox 9"/>
          <p:cNvSpPr txBox="1"/>
          <p:nvPr/>
        </p:nvSpPr>
        <p:spPr>
          <a:xfrm>
            <a:off x="992238" y="3653730"/>
            <a:ext cx="198387" cy="305098"/>
          </a:xfrm>
          <a:prstGeom prst="rect">
            <a:avLst/>
          </a:prstGeom>
        </p:spPr>
        <p:txBody>
          <a:bodyPr lIns="0" tIns="0" rIns="0" bIns="0" rtlCol="0" anchor="t">
            <a:spAutoFit/>
          </a:bodyPr>
          <a:lstStyle/>
          <a:p>
            <a:pPr algn="l">
              <a:lnSpc>
                <a:spcPts val="2499"/>
              </a:lnSpc>
            </a:pPr>
            <a:r>
              <a:rPr lang="en-US" sz="1562">
                <a:solidFill>
                  <a:srgbClr val="4C4C4D"/>
                </a:solidFill>
                <a:latin typeface="Crimson Pro"/>
                <a:ea typeface="Crimson Pro"/>
                <a:cs typeface="Crimson Pro"/>
                <a:sym typeface="Crimson Pro"/>
              </a:rPr>
              <a:t>01</a:t>
            </a:r>
          </a:p>
        </p:txBody>
      </p:sp>
      <p:grpSp>
        <p:nvGrpSpPr>
          <p:cNvPr id="10" name="Group 10"/>
          <p:cNvGrpSpPr/>
          <p:nvPr/>
        </p:nvGrpSpPr>
        <p:grpSpPr>
          <a:xfrm>
            <a:off x="992238" y="4019401"/>
            <a:ext cx="8749010" cy="28575"/>
            <a:chOff x="0" y="0"/>
            <a:chExt cx="11665347" cy="38100"/>
          </a:xfrm>
        </p:grpSpPr>
        <p:sp>
          <p:nvSpPr>
            <p:cNvPr id="11" name="Freeform 11"/>
            <p:cNvSpPr/>
            <p:nvPr/>
          </p:nvSpPr>
          <p:spPr>
            <a:xfrm>
              <a:off x="0" y="0"/>
              <a:ext cx="11665331" cy="38100"/>
            </a:xfrm>
            <a:custGeom>
              <a:avLst/>
              <a:gdLst/>
              <a:ahLst/>
              <a:cxnLst/>
              <a:rect l="l" t="t" r="r" b="b"/>
              <a:pathLst>
                <a:path w="11665331" h="38100">
                  <a:moveTo>
                    <a:pt x="0" y="0"/>
                  </a:moveTo>
                  <a:lnTo>
                    <a:pt x="11665331" y="0"/>
                  </a:lnTo>
                  <a:lnTo>
                    <a:pt x="11665331" y="38100"/>
                  </a:lnTo>
                  <a:lnTo>
                    <a:pt x="0" y="38100"/>
                  </a:lnTo>
                  <a:close/>
                </a:path>
              </a:pathLst>
            </a:custGeom>
            <a:solidFill>
              <a:srgbClr val="2150FE"/>
            </a:solidFill>
            <a:ln w="12700">
              <a:solidFill>
                <a:srgbClr val="000000"/>
              </a:solidFill>
            </a:ln>
          </p:spPr>
        </p:sp>
      </p:grpSp>
      <p:sp>
        <p:nvSpPr>
          <p:cNvPr id="12" name="TextBox 12"/>
          <p:cNvSpPr txBox="1"/>
          <p:nvPr/>
        </p:nvSpPr>
        <p:spPr>
          <a:xfrm>
            <a:off x="992238" y="4156621"/>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Design Interfaces</a:t>
            </a:r>
          </a:p>
        </p:txBody>
      </p:sp>
      <p:sp>
        <p:nvSpPr>
          <p:cNvPr id="13" name="TextBox 13"/>
          <p:cNvSpPr txBox="1"/>
          <p:nvPr/>
        </p:nvSpPr>
        <p:spPr>
          <a:xfrm>
            <a:off x="992238" y="4626917"/>
            <a:ext cx="8749010" cy="374749"/>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Create intuitive login and registration screens with role selection</a:t>
            </a:r>
          </a:p>
        </p:txBody>
      </p:sp>
      <p:sp>
        <p:nvSpPr>
          <p:cNvPr id="14" name="TextBox 14"/>
          <p:cNvSpPr txBox="1"/>
          <p:nvPr/>
        </p:nvSpPr>
        <p:spPr>
          <a:xfrm>
            <a:off x="992238" y="5291732"/>
            <a:ext cx="531762" cy="286938"/>
          </a:xfrm>
          <a:prstGeom prst="rect">
            <a:avLst/>
          </a:prstGeom>
        </p:spPr>
        <p:txBody>
          <a:bodyPr wrap="square" lIns="0" tIns="0" rIns="0" bIns="0" rtlCol="0" anchor="t">
            <a:spAutoFit/>
          </a:bodyPr>
          <a:lstStyle/>
          <a:p>
            <a:pPr algn="l">
              <a:lnSpc>
                <a:spcPts val="2499"/>
              </a:lnSpc>
            </a:pPr>
            <a:r>
              <a:rPr lang="en-US" sz="1562" dirty="0">
                <a:solidFill>
                  <a:srgbClr val="4C4C4D"/>
                </a:solidFill>
                <a:latin typeface="Crimson Pro"/>
                <a:ea typeface="Crimson Pro"/>
                <a:cs typeface="Crimson Pro"/>
                <a:sym typeface="Crimson Pro"/>
              </a:rPr>
              <a:t>02</a:t>
            </a:r>
          </a:p>
        </p:txBody>
      </p:sp>
      <p:grpSp>
        <p:nvGrpSpPr>
          <p:cNvPr id="15" name="Group 15"/>
          <p:cNvGrpSpPr/>
          <p:nvPr/>
        </p:nvGrpSpPr>
        <p:grpSpPr>
          <a:xfrm>
            <a:off x="992238" y="5657404"/>
            <a:ext cx="8749010" cy="28575"/>
            <a:chOff x="0" y="0"/>
            <a:chExt cx="11665347" cy="38100"/>
          </a:xfrm>
        </p:grpSpPr>
        <p:sp>
          <p:nvSpPr>
            <p:cNvPr id="16" name="Freeform 16"/>
            <p:cNvSpPr/>
            <p:nvPr/>
          </p:nvSpPr>
          <p:spPr>
            <a:xfrm>
              <a:off x="0" y="0"/>
              <a:ext cx="11665331" cy="38100"/>
            </a:xfrm>
            <a:custGeom>
              <a:avLst/>
              <a:gdLst/>
              <a:ahLst/>
              <a:cxnLst/>
              <a:rect l="l" t="t" r="r" b="b"/>
              <a:pathLst>
                <a:path w="11665331" h="38100">
                  <a:moveTo>
                    <a:pt x="0" y="0"/>
                  </a:moveTo>
                  <a:lnTo>
                    <a:pt x="11665331" y="0"/>
                  </a:lnTo>
                  <a:lnTo>
                    <a:pt x="11665331" y="38100"/>
                  </a:lnTo>
                  <a:lnTo>
                    <a:pt x="0" y="38100"/>
                  </a:lnTo>
                  <a:close/>
                </a:path>
              </a:pathLst>
            </a:custGeom>
            <a:solidFill>
              <a:srgbClr val="2150FE"/>
            </a:solidFill>
            <a:ln w="12700">
              <a:solidFill>
                <a:srgbClr val="000000"/>
              </a:solidFill>
            </a:ln>
          </p:spPr>
        </p:sp>
      </p:grpSp>
      <p:sp>
        <p:nvSpPr>
          <p:cNvPr id="17" name="TextBox 17"/>
          <p:cNvSpPr txBox="1"/>
          <p:nvPr/>
        </p:nvSpPr>
        <p:spPr>
          <a:xfrm>
            <a:off x="992238" y="5794622"/>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Implement Security</a:t>
            </a:r>
          </a:p>
        </p:txBody>
      </p:sp>
      <p:sp>
        <p:nvSpPr>
          <p:cNvPr id="18" name="TextBox 18"/>
          <p:cNvSpPr txBox="1"/>
          <p:nvPr/>
        </p:nvSpPr>
        <p:spPr>
          <a:xfrm>
            <a:off x="992238" y="6264920"/>
            <a:ext cx="8749010" cy="374749"/>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Deploy Spring Security with JWT-based authentication tokens</a:t>
            </a:r>
          </a:p>
        </p:txBody>
      </p:sp>
      <p:sp>
        <p:nvSpPr>
          <p:cNvPr id="19" name="TextBox 19"/>
          <p:cNvSpPr txBox="1"/>
          <p:nvPr/>
        </p:nvSpPr>
        <p:spPr>
          <a:xfrm>
            <a:off x="992238" y="6929735"/>
            <a:ext cx="531762" cy="286938"/>
          </a:xfrm>
          <a:prstGeom prst="rect">
            <a:avLst/>
          </a:prstGeom>
        </p:spPr>
        <p:txBody>
          <a:bodyPr wrap="square" lIns="0" tIns="0" rIns="0" bIns="0" rtlCol="0" anchor="t">
            <a:spAutoFit/>
          </a:bodyPr>
          <a:lstStyle/>
          <a:p>
            <a:pPr algn="l">
              <a:lnSpc>
                <a:spcPts val="2499"/>
              </a:lnSpc>
            </a:pPr>
            <a:r>
              <a:rPr lang="en-US" sz="1562" dirty="0">
                <a:solidFill>
                  <a:srgbClr val="4C4C4D"/>
                </a:solidFill>
                <a:latin typeface="Crimson Pro"/>
                <a:ea typeface="Crimson Pro"/>
                <a:cs typeface="Crimson Pro"/>
                <a:sym typeface="Crimson Pro"/>
              </a:rPr>
              <a:t>03</a:t>
            </a:r>
          </a:p>
        </p:txBody>
      </p:sp>
      <p:grpSp>
        <p:nvGrpSpPr>
          <p:cNvPr id="20" name="Group 20"/>
          <p:cNvGrpSpPr/>
          <p:nvPr/>
        </p:nvGrpSpPr>
        <p:grpSpPr>
          <a:xfrm>
            <a:off x="992238" y="7295406"/>
            <a:ext cx="8749010" cy="28575"/>
            <a:chOff x="0" y="0"/>
            <a:chExt cx="11665347" cy="38100"/>
          </a:xfrm>
        </p:grpSpPr>
        <p:sp>
          <p:nvSpPr>
            <p:cNvPr id="21" name="Freeform 21"/>
            <p:cNvSpPr/>
            <p:nvPr/>
          </p:nvSpPr>
          <p:spPr>
            <a:xfrm>
              <a:off x="0" y="0"/>
              <a:ext cx="11665331" cy="38100"/>
            </a:xfrm>
            <a:custGeom>
              <a:avLst/>
              <a:gdLst/>
              <a:ahLst/>
              <a:cxnLst/>
              <a:rect l="l" t="t" r="r" b="b"/>
              <a:pathLst>
                <a:path w="11665331" h="38100">
                  <a:moveTo>
                    <a:pt x="0" y="0"/>
                  </a:moveTo>
                  <a:lnTo>
                    <a:pt x="11665331" y="0"/>
                  </a:lnTo>
                  <a:lnTo>
                    <a:pt x="11665331" y="38100"/>
                  </a:lnTo>
                  <a:lnTo>
                    <a:pt x="0" y="38100"/>
                  </a:lnTo>
                  <a:close/>
                </a:path>
              </a:pathLst>
            </a:custGeom>
            <a:solidFill>
              <a:srgbClr val="2150FE"/>
            </a:solidFill>
            <a:ln w="12700">
              <a:solidFill>
                <a:srgbClr val="000000"/>
              </a:solidFill>
            </a:ln>
          </p:spPr>
        </p:sp>
      </p:grpSp>
      <p:sp>
        <p:nvSpPr>
          <p:cNvPr id="22" name="TextBox 22"/>
          <p:cNvSpPr txBox="1"/>
          <p:nvPr/>
        </p:nvSpPr>
        <p:spPr>
          <a:xfrm>
            <a:off x="992238" y="7432625"/>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Build Dashboards</a:t>
            </a:r>
          </a:p>
        </p:txBody>
      </p:sp>
      <p:sp>
        <p:nvSpPr>
          <p:cNvPr id="23" name="TextBox 23"/>
          <p:cNvSpPr txBox="1"/>
          <p:nvPr/>
        </p:nvSpPr>
        <p:spPr>
          <a:xfrm>
            <a:off x="992238" y="7902922"/>
            <a:ext cx="8749010" cy="374749"/>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Develop role-specific interfaces with relevant metrics and controls</a:t>
            </a:r>
          </a:p>
        </p:txBody>
      </p:sp>
      <p:grpSp>
        <p:nvGrpSpPr>
          <p:cNvPr id="24" name="Group 24"/>
          <p:cNvGrpSpPr>
            <a:grpSpLocks noChangeAspect="1"/>
          </p:cNvGrpSpPr>
          <p:nvPr/>
        </p:nvGrpSpPr>
        <p:grpSpPr>
          <a:xfrm>
            <a:off x="10234761" y="1989236"/>
            <a:ext cx="4949130" cy="4949130"/>
            <a:chOff x="0" y="0"/>
            <a:chExt cx="6598840" cy="6598840"/>
          </a:xfrm>
        </p:grpSpPr>
        <p:sp>
          <p:nvSpPr>
            <p:cNvPr id="25" name="Freeform 25" descr="preencoded.png"/>
            <p:cNvSpPr/>
            <p:nvPr/>
          </p:nvSpPr>
          <p:spPr>
            <a:xfrm>
              <a:off x="0" y="0"/>
              <a:ext cx="6598793" cy="6598793"/>
            </a:xfrm>
            <a:custGeom>
              <a:avLst/>
              <a:gdLst/>
              <a:ahLst/>
              <a:cxnLst/>
              <a:rect l="l" t="t" r="r" b="b"/>
              <a:pathLst>
                <a:path w="6598793" h="6598793">
                  <a:moveTo>
                    <a:pt x="0" y="0"/>
                  </a:moveTo>
                  <a:lnTo>
                    <a:pt x="6598793" y="0"/>
                  </a:lnTo>
                  <a:lnTo>
                    <a:pt x="6598793" y="6598793"/>
                  </a:lnTo>
                  <a:lnTo>
                    <a:pt x="0" y="6598793"/>
                  </a:lnTo>
                  <a:lnTo>
                    <a:pt x="0" y="0"/>
                  </a:lnTo>
                  <a:close/>
                </a:path>
              </a:pathLst>
            </a:custGeom>
            <a:blipFill>
              <a:blip r:embed="rId3"/>
              <a:stretch>
                <a:fillRect/>
              </a:stretch>
            </a:blipFill>
          </p:spPr>
        </p:sp>
      </p:grpSp>
      <p:grpSp>
        <p:nvGrpSpPr>
          <p:cNvPr id="26" name="Group 26"/>
          <p:cNvGrpSpPr/>
          <p:nvPr/>
        </p:nvGrpSpPr>
        <p:grpSpPr>
          <a:xfrm>
            <a:off x="10220474" y="7147323"/>
            <a:ext cx="7098952" cy="2082404"/>
            <a:chOff x="0" y="0"/>
            <a:chExt cx="9465270" cy="2776538"/>
          </a:xfrm>
        </p:grpSpPr>
        <p:sp>
          <p:nvSpPr>
            <p:cNvPr id="27" name="Freeform 27"/>
            <p:cNvSpPr/>
            <p:nvPr/>
          </p:nvSpPr>
          <p:spPr>
            <a:xfrm>
              <a:off x="19050" y="19050"/>
              <a:ext cx="9427210" cy="2738501"/>
            </a:xfrm>
            <a:custGeom>
              <a:avLst/>
              <a:gdLst/>
              <a:ahLst/>
              <a:cxnLst/>
              <a:rect l="l" t="t" r="r" b="b"/>
              <a:pathLst>
                <a:path w="9427210" h="2738501">
                  <a:moveTo>
                    <a:pt x="0" y="39751"/>
                  </a:moveTo>
                  <a:cubicBezTo>
                    <a:pt x="0" y="17780"/>
                    <a:pt x="17907" y="0"/>
                    <a:pt x="40132" y="0"/>
                  </a:cubicBezTo>
                  <a:lnTo>
                    <a:pt x="9387078" y="0"/>
                  </a:lnTo>
                  <a:cubicBezTo>
                    <a:pt x="9409176" y="0"/>
                    <a:pt x="9427210" y="17780"/>
                    <a:pt x="9427210" y="39751"/>
                  </a:cubicBezTo>
                  <a:lnTo>
                    <a:pt x="9427210" y="2698750"/>
                  </a:lnTo>
                  <a:cubicBezTo>
                    <a:pt x="9427210" y="2720721"/>
                    <a:pt x="9409303" y="2738501"/>
                    <a:pt x="9387078" y="2738501"/>
                  </a:cubicBezTo>
                  <a:lnTo>
                    <a:pt x="40132" y="2738501"/>
                  </a:lnTo>
                  <a:cubicBezTo>
                    <a:pt x="18034" y="2738501"/>
                    <a:pt x="0" y="2720721"/>
                    <a:pt x="0" y="2698750"/>
                  </a:cubicBezTo>
                  <a:close/>
                </a:path>
              </a:pathLst>
            </a:custGeom>
            <a:solidFill>
              <a:srgbClr val="FFFFFF"/>
            </a:solidFill>
            <a:ln w="12700">
              <a:solidFill>
                <a:srgbClr val="000000"/>
              </a:solidFill>
            </a:ln>
          </p:spPr>
        </p:sp>
        <p:sp>
          <p:nvSpPr>
            <p:cNvPr id="28" name="Freeform 28"/>
            <p:cNvSpPr/>
            <p:nvPr/>
          </p:nvSpPr>
          <p:spPr>
            <a:xfrm>
              <a:off x="0" y="0"/>
              <a:ext cx="9465310" cy="2776601"/>
            </a:xfrm>
            <a:custGeom>
              <a:avLst/>
              <a:gdLst/>
              <a:ahLst/>
              <a:cxnLst/>
              <a:rect l="l" t="t" r="r" b="b"/>
              <a:pathLst>
                <a:path w="9465310" h="2776601">
                  <a:moveTo>
                    <a:pt x="0" y="58801"/>
                  </a:moveTo>
                  <a:cubicBezTo>
                    <a:pt x="0" y="26162"/>
                    <a:pt x="26670" y="0"/>
                    <a:pt x="59182" y="0"/>
                  </a:cubicBezTo>
                  <a:lnTo>
                    <a:pt x="9406128" y="0"/>
                  </a:lnTo>
                  <a:lnTo>
                    <a:pt x="9406128" y="19050"/>
                  </a:lnTo>
                  <a:lnTo>
                    <a:pt x="9406128" y="0"/>
                  </a:lnTo>
                  <a:cubicBezTo>
                    <a:pt x="9438640" y="0"/>
                    <a:pt x="9465310" y="26162"/>
                    <a:pt x="9465310" y="58801"/>
                  </a:cubicBezTo>
                  <a:lnTo>
                    <a:pt x="9446260" y="58801"/>
                  </a:lnTo>
                  <a:lnTo>
                    <a:pt x="9465310" y="58801"/>
                  </a:lnTo>
                  <a:lnTo>
                    <a:pt x="9465310" y="2717800"/>
                  </a:lnTo>
                  <a:lnTo>
                    <a:pt x="9446260" y="2717800"/>
                  </a:lnTo>
                  <a:lnTo>
                    <a:pt x="9465310" y="2717800"/>
                  </a:lnTo>
                  <a:cubicBezTo>
                    <a:pt x="9465310" y="2750439"/>
                    <a:pt x="9438640" y="2776601"/>
                    <a:pt x="9406128" y="2776601"/>
                  </a:cubicBezTo>
                  <a:lnTo>
                    <a:pt x="9406128" y="2757551"/>
                  </a:lnTo>
                  <a:lnTo>
                    <a:pt x="9406128" y="2776601"/>
                  </a:lnTo>
                  <a:lnTo>
                    <a:pt x="59182" y="2776601"/>
                  </a:lnTo>
                  <a:lnTo>
                    <a:pt x="59182" y="2757551"/>
                  </a:lnTo>
                  <a:lnTo>
                    <a:pt x="59182" y="2776601"/>
                  </a:lnTo>
                  <a:cubicBezTo>
                    <a:pt x="26670" y="2776601"/>
                    <a:pt x="0" y="2750439"/>
                    <a:pt x="0" y="2717800"/>
                  </a:cubicBezTo>
                  <a:lnTo>
                    <a:pt x="0" y="58801"/>
                  </a:lnTo>
                  <a:lnTo>
                    <a:pt x="19050" y="58801"/>
                  </a:lnTo>
                  <a:lnTo>
                    <a:pt x="0" y="58801"/>
                  </a:lnTo>
                  <a:moveTo>
                    <a:pt x="38100" y="58801"/>
                  </a:moveTo>
                  <a:lnTo>
                    <a:pt x="38100" y="2717800"/>
                  </a:lnTo>
                  <a:lnTo>
                    <a:pt x="19050" y="2717800"/>
                  </a:lnTo>
                  <a:lnTo>
                    <a:pt x="38100" y="2717800"/>
                  </a:lnTo>
                  <a:cubicBezTo>
                    <a:pt x="38100" y="2728976"/>
                    <a:pt x="47371" y="2738501"/>
                    <a:pt x="59182" y="2738501"/>
                  </a:cubicBezTo>
                  <a:lnTo>
                    <a:pt x="9406128" y="2738501"/>
                  </a:lnTo>
                  <a:cubicBezTo>
                    <a:pt x="9417939" y="2738501"/>
                    <a:pt x="9427210" y="2729103"/>
                    <a:pt x="9427210" y="2717800"/>
                  </a:cubicBezTo>
                  <a:lnTo>
                    <a:pt x="9427210" y="58801"/>
                  </a:lnTo>
                  <a:cubicBezTo>
                    <a:pt x="9427210" y="47625"/>
                    <a:pt x="9417939" y="38100"/>
                    <a:pt x="9406128" y="38100"/>
                  </a:cubicBezTo>
                  <a:lnTo>
                    <a:pt x="59182" y="38100"/>
                  </a:lnTo>
                  <a:lnTo>
                    <a:pt x="59182" y="19050"/>
                  </a:lnTo>
                  <a:lnTo>
                    <a:pt x="59182" y="38100"/>
                  </a:lnTo>
                  <a:cubicBezTo>
                    <a:pt x="47371" y="38100"/>
                    <a:pt x="38100" y="47498"/>
                    <a:pt x="38100" y="58801"/>
                  </a:cubicBezTo>
                  <a:close/>
                </a:path>
              </a:pathLst>
            </a:custGeom>
            <a:solidFill>
              <a:srgbClr val="D8D4D4"/>
            </a:solidFill>
            <a:ln w="12700">
              <a:solidFill>
                <a:srgbClr val="000000"/>
              </a:solidFill>
            </a:ln>
          </p:spPr>
        </p:sp>
      </p:grpSp>
      <p:sp>
        <p:nvSpPr>
          <p:cNvPr id="29" name="TextBox 29"/>
          <p:cNvSpPr txBox="1"/>
          <p:nvPr/>
        </p:nvSpPr>
        <p:spPr>
          <a:xfrm>
            <a:off x="10461724" y="7369522"/>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Expected Output</a:t>
            </a:r>
          </a:p>
        </p:txBody>
      </p:sp>
      <p:sp>
        <p:nvSpPr>
          <p:cNvPr id="30" name="TextBox 30"/>
          <p:cNvSpPr txBox="1"/>
          <p:nvPr/>
        </p:nvSpPr>
        <p:spPr>
          <a:xfrm>
            <a:off x="10461724" y="7839819"/>
            <a:ext cx="6616453" cy="374749"/>
          </a:xfrm>
          <a:prstGeom prst="rect">
            <a:avLst/>
          </a:prstGeom>
        </p:spPr>
        <p:txBody>
          <a:bodyPr lIns="0" tIns="0" rIns="0" bIns="0" rtlCol="0" anchor="t">
            <a:spAutoFit/>
          </a:bodyPr>
          <a:lstStyle/>
          <a:p>
            <a:pPr marL="235645" lvl="1" indent="-117822" algn="l">
              <a:lnSpc>
                <a:spcPts val="2499"/>
              </a:lnSpc>
              <a:buFont typeface="Arial"/>
              <a:buChar char="•"/>
            </a:pPr>
            <a:r>
              <a:rPr lang="en-US" sz="1562">
                <a:solidFill>
                  <a:srgbClr val="4C4C4D"/>
                </a:solidFill>
                <a:latin typeface="Heebo"/>
                <a:ea typeface="Heebo"/>
                <a:cs typeface="Heebo"/>
                <a:sym typeface="Heebo"/>
              </a:rPr>
              <a:t>Clean login screen with role selector dropdown</a:t>
            </a:r>
          </a:p>
        </p:txBody>
      </p:sp>
      <p:sp>
        <p:nvSpPr>
          <p:cNvPr id="31" name="TextBox 31"/>
          <p:cNvSpPr txBox="1"/>
          <p:nvPr/>
        </p:nvSpPr>
        <p:spPr>
          <a:xfrm>
            <a:off x="10461724" y="8226772"/>
            <a:ext cx="6616453" cy="374749"/>
          </a:xfrm>
          <a:prstGeom prst="rect">
            <a:avLst/>
          </a:prstGeom>
        </p:spPr>
        <p:txBody>
          <a:bodyPr lIns="0" tIns="0" rIns="0" bIns="0" rtlCol="0" anchor="t">
            <a:spAutoFit/>
          </a:bodyPr>
          <a:lstStyle/>
          <a:p>
            <a:pPr marL="235645" lvl="1" indent="-117822" algn="l">
              <a:lnSpc>
                <a:spcPts val="2499"/>
              </a:lnSpc>
              <a:buFont typeface="Arial"/>
              <a:buChar char="•"/>
            </a:pPr>
            <a:r>
              <a:rPr lang="en-US" sz="1562">
                <a:solidFill>
                  <a:srgbClr val="4C4C4D"/>
                </a:solidFill>
                <a:latin typeface="Heebo"/>
                <a:ea typeface="Heebo"/>
                <a:cs typeface="Heebo"/>
                <a:sym typeface="Heebo"/>
              </a:rPr>
              <a:t>Dashboard tiles displaying key metrics</a:t>
            </a:r>
          </a:p>
        </p:txBody>
      </p:sp>
      <p:sp>
        <p:nvSpPr>
          <p:cNvPr id="32" name="TextBox 32"/>
          <p:cNvSpPr txBox="1"/>
          <p:nvPr/>
        </p:nvSpPr>
        <p:spPr>
          <a:xfrm>
            <a:off x="10461724" y="8613725"/>
            <a:ext cx="6616453" cy="374749"/>
          </a:xfrm>
          <a:prstGeom prst="rect">
            <a:avLst/>
          </a:prstGeom>
        </p:spPr>
        <p:txBody>
          <a:bodyPr lIns="0" tIns="0" rIns="0" bIns="0" rtlCol="0" anchor="t">
            <a:spAutoFit/>
          </a:bodyPr>
          <a:lstStyle/>
          <a:p>
            <a:pPr marL="235645" lvl="1" indent="-117822" algn="l">
              <a:lnSpc>
                <a:spcPts val="2499"/>
              </a:lnSpc>
              <a:buFont typeface="Arial"/>
              <a:buChar char="•"/>
            </a:pPr>
            <a:r>
              <a:rPr lang="en-US" sz="1562">
                <a:solidFill>
                  <a:srgbClr val="4C4C4D"/>
                </a:solidFill>
                <a:latin typeface="Heebo"/>
                <a:ea typeface="Heebo"/>
                <a:cs typeface="Heebo"/>
                <a:sym typeface="Heebo"/>
              </a:rPr>
              <a:t>Secure session management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3810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29170"/>
            <a:ext cx="18288000" cy="2658070"/>
            <a:chOff x="0" y="0"/>
            <a:chExt cx="24384000" cy="3544093"/>
          </a:xfrm>
        </p:grpSpPr>
        <p:sp>
          <p:nvSpPr>
            <p:cNvPr id="7" name="Freeform 7" descr="preencoded.png"/>
            <p:cNvSpPr/>
            <p:nvPr/>
          </p:nvSpPr>
          <p:spPr>
            <a:xfrm>
              <a:off x="0" y="0"/>
              <a:ext cx="24384000" cy="3544062"/>
            </a:xfrm>
            <a:custGeom>
              <a:avLst/>
              <a:gdLst/>
              <a:ahLst/>
              <a:cxnLst/>
              <a:rect l="l" t="t" r="r" b="b"/>
              <a:pathLst>
                <a:path w="24384000" h="3544062">
                  <a:moveTo>
                    <a:pt x="0" y="0"/>
                  </a:moveTo>
                  <a:lnTo>
                    <a:pt x="24384000" y="0"/>
                  </a:lnTo>
                  <a:lnTo>
                    <a:pt x="24384000" y="3544062"/>
                  </a:lnTo>
                  <a:lnTo>
                    <a:pt x="0" y="3544062"/>
                  </a:lnTo>
                  <a:lnTo>
                    <a:pt x="0" y="0"/>
                  </a:lnTo>
                  <a:close/>
                </a:path>
              </a:pathLst>
            </a:custGeom>
            <a:blipFill>
              <a:blip r:embed="rId3"/>
              <a:stretch>
                <a:fillRect l="-11" r="-11"/>
              </a:stretch>
            </a:blipFill>
          </p:spPr>
        </p:sp>
      </p:grpSp>
      <p:sp>
        <p:nvSpPr>
          <p:cNvPr id="8" name="TextBox 8"/>
          <p:cNvSpPr txBox="1"/>
          <p:nvPr/>
        </p:nvSpPr>
        <p:spPr>
          <a:xfrm>
            <a:off x="992238" y="3450580"/>
            <a:ext cx="13333362" cy="622863"/>
          </a:xfrm>
          <a:prstGeom prst="rect">
            <a:avLst/>
          </a:prstGeom>
        </p:spPr>
        <p:txBody>
          <a:bodyPr wrap="square" lIns="0" tIns="0" rIns="0" bIns="0" rtlCol="0" anchor="t">
            <a:spAutoFit/>
          </a:bodyPr>
          <a:lstStyle/>
          <a:p>
            <a:pPr algn="l">
              <a:lnSpc>
                <a:spcPts val="5187"/>
              </a:lnSpc>
            </a:pPr>
            <a:r>
              <a:rPr lang="en-US" sz="4124" b="1" dirty="0">
                <a:solidFill>
                  <a:srgbClr val="152D47"/>
                </a:solidFill>
                <a:latin typeface="Crimson Pro Bold"/>
                <a:ea typeface="Crimson Pro Bold"/>
                <a:cs typeface="Crimson Pro Bold"/>
                <a:sym typeface="Crimson Pro Bold"/>
              </a:rPr>
              <a:t>Module 2: Fleet Inventory &amp; Vehicle Telemetry</a:t>
            </a:r>
          </a:p>
        </p:txBody>
      </p:sp>
      <p:sp>
        <p:nvSpPr>
          <p:cNvPr id="9" name="TextBox 9"/>
          <p:cNvSpPr txBox="1"/>
          <p:nvPr/>
        </p:nvSpPr>
        <p:spPr>
          <a:xfrm>
            <a:off x="992238" y="4405461"/>
            <a:ext cx="16303526" cy="747118"/>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Comprehensive vehicle management system providing real-time status monitoring, location tracking, and telemetry data simulation. Track every vehicle's operational state, battery levels, fuel consumption, and maintenance requirements.</a:t>
            </a:r>
          </a:p>
        </p:txBody>
      </p:sp>
      <p:grpSp>
        <p:nvGrpSpPr>
          <p:cNvPr id="10" name="Group 10"/>
          <p:cNvGrpSpPr/>
          <p:nvPr/>
        </p:nvGrpSpPr>
        <p:grpSpPr>
          <a:xfrm>
            <a:off x="992238" y="5391745"/>
            <a:ext cx="5292775" cy="1905446"/>
            <a:chOff x="0" y="0"/>
            <a:chExt cx="7057033" cy="2540595"/>
          </a:xfrm>
        </p:grpSpPr>
        <p:sp>
          <p:nvSpPr>
            <p:cNvPr id="11" name="Freeform 11"/>
            <p:cNvSpPr/>
            <p:nvPr/>
          </p:nvSpPr>
          <p:spPr>
            <a:xfrm>
              <a:off x="0" y="0"/>
              <a:ext cx="7057009" cy="2540635"/>
            </a:xfrm>
            <a:custGeom>
              <a:avLst/>
              <a:gdLst/>
              <a:ahLst/>
              <a:cxnLst/>
              <a:rect l="l" t="t" r="r" b="b"/>
              <a:pathLst>
                <a:path w="7057009" h="2540635">
                  <a:moveTo>
                    <a:pt x="0" y="42545"/>
                  </a:moveTo>
                  <a:cubicBezTo>
                    <a:pt x="0" y="19050"/>
                    <a:pt x="19050" y="0"/>
                    <a:pt x="42545" y="0"/>
                  </a:cubicBezTo>
                  <a:lnTo>
                    <a:pt x="7014464" y="0"/>
                  </a:lnTo>
                  <a:cubicBezTo>
                    <a:pt x="7037959" y="0"/>
                    <a:pt x="7057009" y="19050"/>
                    <a:pt x="7057009" y="42545"/>
                  </a:cubicBezTo>
                  <a:lnTo>
                    <a:pt x="7057009" y="2498090"/>
                  </a:lnTo>
                  <a:cubicBezTo>
                    <a:pt x="7057009" y="2521585"/>
                    <a:pt x="7037959" y="2540635"/>
                    <a:pt x="7014464" y="2540635"/>
                  </a:cubicBezTo>
                  <a:lnTo>
                    <a:pt x="42545" y="2540635"/>
                  </a:lnTo>
                  <a:cubicBezTo>
                    <a:pt x="19050" y="2540635"/>
                    <a:pt x="0" y="2521585"/>
                    <a:pt x="0" y="2498090"/>
                  </a:cubicBezTo>
                  <a:close/>
                </a:path>
              </a:pathLst>
            </a:custGeom>
            <a:solidFill>
              <a:srgbClr val="F2EEEE"/>
            </a:solidFill>
            <a:ln w="12700">
              <a:solidFill>
                <a:srgbClr val="000000"/>
              </a:solidFill>
            </a:ln>
          </p:spPr>
        </p:sp>
      </p:grpSp>
      <p:sp>
        <p:nvSpPr>
          <p:cNvPr id="12" name="TextBox 12"/>
          <p:cNvSpPr txBox="1"/>
          <p:nvPr/>
        </p:nvSpPr>
        <p:spPr>
          <a:xfrm>
            <a:off x="1204764" y="5585222"/>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CRUD Operations</a:t>
            </a:r>
          </a:p>
        </p:txBody>
      </p:sp>
      <p:sp>
        <p:nvSpPr>
          <p:cNvPr id="13" name="TextBox 13"/>
          <p:cNvSpPr txBox="1"/>
          <p:nvPr/>
        </p:nvSpPr>
        <p:spPr>
          <a:xfrm>
            <a:off x="1204764" y="5997327"/>
            <a:ext cx="4867721" cy="1087339"/>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Complete vehicle management: add, update, remove, and configure fleet assets with detailed specifications and capabilities.</a:t>
            </a:r>
          </a:p>
        </p:txBody>
      </p:sp>
      <p:grpSp>
        <p:nvGrpSpPr>
          <p:cNvPr id="14" name="Group 14"/>
          <p:cNvGrpSpPr/>
          <p:nvPr/>
        </p:nvGrpSpPr>
        <p:grpSpPr>
          <a:xfrm>
            <a:off x="6497539" y="5391745"/>
            <a:ext cx="5292775" cy="1905446"/>
            <a:chOff x="0" y="0"/>
            <a:chExt cx="7057033" cy="2540595"/>
          </a:xfrm>
        </p:grpSpPr>
        <p:sp>
          <p:nvSpPr>
            <p:cNvPr id="15" name="Freeform 15"/>
            <p:cNvSpPr/>
            <p:nvPr/>
          </p:nvSpPr>
          <p:spPr>
            <a:xfrm>
              <a:off x="0" y="0"/>
              <a:ext cx="7057009" cy="2540635"/>
            </a:xfrm>
            <a:custGeom>
              <a:avLst/>
              <a:gdLst/>
              <a:ahLst/>
              <a:cxnLst/>
              <a:rect l="l" t="t" r="r" b="b"/>
              <a:pathLst>
                <a:path w="7057009" h="2540635">
                  <a:moveTo>
                    <a:pt x="0" y="42545"/>
                  </a:moveTo>
                  <a:cubicBezTo>
                    <a:pt x="0" y="19050"/>
                    <a:pt x="19050" y="0"/>
                    <a:pt x="42545" y="0"/>
                  </a:cubicBezTo>
                  <a:lnTo>
                    <a:pt x="7014464" y="0"/>
                  </a:lnTo>
                  <a:cubicBezTo>
                    <a:pt x="7037959" y="0"/>
                    <a:pt x="7057009" y="19050"/>
                    <a:pt x="7057009" y="42545"/>
                  </a:cubicBezTo>
                  <a:lnTo>
                    <a:pt x="7057009" y="2498090"/>
                  </a:lnTo>
                  <a:cubicBezTo>
                    <a:pt x="7057009" y="2521585"/>
                    <a:pt x="7037959" y="2540635"/>
                    <a:pt x="7014464" y="2540635"/>
                  </a:cubicBezTo>
                  <a:lnTo>
                    <a:pt x="42545" y="2540635"/>
                  </a:lnTo>
                  <a:cubicBezTo>
                    <a:pt x="19050" y="2540635"/>
                    <a:pt x="0" y="2521585"/>
                    <a:pt x="0" y="2498090"/>
                  </a:cubicBezTo>
                  <a:close/>
                </a:path>
              </a:pathLst>
            </a:custGeom>
            <a:solidFill>
              <a:srgbClr val="F2EEEE"/>
            </a:solidFill>
            <a:ln w="12700">
              <a:solidFill>
                <a:srgbClr val="000000"/>
              </a:solidFill>
            </a:ln>
          </p:spPr>
        </p:sp>
      </p:grpSp>
      <p:sp>
        <p:nvSpPr>
          <p:cNvPr id="16" name="TextBox 16"/>
          <p:cNvSpPr txBox="1"/>
          <p:nvPr/>
        </p:nvSpPr>
        <p:spPr>
          <a:xfrm>
            <a:off x="6710065" y="5585222"/>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Real-Time Status</a:t>
            </a:r>
          </a:p>
        </p:txBody>
      </p:sp>
      <p:sp>
        <p:nvSpPr>
          <p:cNvPr id="17" name="TextBox 17"/>
          <p:cNvSpPr txBox="1"/>
          <p:nvPr/>
        </p:nvSpPr>
        <p:spPr>
          <a:xfrm>
            <a:off x="6710065" y="5997327"/>
            <a:ext cx="4867721" cy="1087339"/>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Monitor vehicle availability: idle, in use, or requiring maintenance with instant status updates and automated alerts.</a:t>
            </a:r>
          </a:p>
        </p:txBody>
      </p:sp>
      <p:grpSp>
        <p:nvGrpSpPr>
          <p:cNvPr id="18" name="Group 18"/>
          <p:cNvGrpSpPr/>
          <p:nvPr/>
        </p:nvGrpSpPr>
        <p:grpSpPr>
          <a:xfrm>
            <a:off x="12002840" y="5391745"/>
            <a:ext cx="5292775" cy="1905446"/>
            <a:chOff x="0" y="0"/>
            <a:chExt cx="7057033" cy="2540595"/>
          </a:xfrm>
        </p:grpSpPr>
        <p:sp>
          <p:nvSpPr>
            <p:cNvPr id="19" name="Freeform 19"/>
            <p:cNvSpPr/>
            <p:nvPr/>
          </p:nvSpPr>
          <p:spPr>
            <a:xfrm>
              <a:off x="0" y="0"/>
              <a:ext cx="7057009" cy="2540635"/>
            </a:xfrm>
            <a:custGeom>
              <a:avLst/>
              <a:gdLst/>
              <a:ahLst/>
              <a:cxnLst/>
              <a:rect l="l" t="t" r="r" b="b"/>
              <a:pathLst>
                <a:path w="7057009" h="2540635">
                  <a:moveTo>
                    <a:pt x="0" y="42545"/>
                  </a:moveTo>
                  <a:cubicBezTo>
                    <a:pt x="0" y="19050"/>
                    <a:pt x="19050" y="0"/>
                    <a:pt x="42545" y="0"/>
                  </a:cubicBezTo>
                  <a:lnTo>
                    <a:pt x="7014464" y="0"/>
                  </a:lnTo>
                  <a:cubicBezTo>
                    <a:pt x="7037959" y="0"/>
                    <a:pt x="7057009" y="19050"/>
                    <a:pt x="7057009" y="42545"/>
                  </a:cubicBezTo>
                  <a:lnTo>
                    <a:pt x="7057009" y="2498090"/>
                  </a:lnTo>
                  <a:cubicBezTo>
                    <a:pt x="7057009" y="2521585"/>
                    <a:pt x="7037959" y="2540635"/>
                    <a:pt x="7014464" y="2540635"/>
                  </a:cubicBezTo>
                  <a:lnTo>
                    <a:pt x="42545" y="2540635"/>
                  </a:lnTo>
                  <a:cubicBezTo>
                    <a:pt x="19050" y="2540635"/>
                    <a:pt x="0" y="2521585"/>
                    <a:pt x="0" y="2498090"/>
                  </a:cubicBezTo>
                  <a:close/>
                </a:path>
              </a:pathLst>
            </a:custGeom>
            <a:solidFill>
              <a:srgbClr val="F2EEEE"/>
            </a:solidFill>
            <a:ln w="12700">
              <a:solidFill>
                <a:srgbClr val="000000"/>
              </a:solidFill>
            </a:ln>
          </p:spPr>
        </p:sp>
      </p:grpSp>
      <p:sp>
        <p:nvSpPr>
          <p:cNvPr id="20" name="TextBox 20"/>
          <p:cNvSpPr txBox="1"/>
          <p:nvPr/>
        </p:nvSpPr>
        <p:spPr>
          <a:xfrm>
            <a:off x="12215366" y="5585222"/>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Telemetry Simulation</a:t>
            </a:r>
          </a:p>
        </p:txBody>
      </p:sp>
      <p:sp>
        <p:nvSpPr>
          <p:cNvPr id="21" name="TextBox 21"/>
          <p:cNvSpPr txBox="1"/>
          <p:nvPr/>
        </p:nvSpPr>
        <p:spPr>
          <a:xfrm>
            <a:off x="12215366" y="5997327"/>
            <a:ext cx="4867721" cy="1087339"/>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Track speed, battery charge, fuel levels, GPS location, and engine diagnostics through IoT sensor integration.</a:t>
            </a:r>
          </a:p>
        </p:txBody>
      </p:sp>
      <p:grpSp>
        <p:nvGrpSpPr>
          <p:cNvPr id="22" name="Group 22"/>
          <p:cNvGrpSpPr/>
          <p:nvPr/>
        </p:nvGrpSpPr>
        <p:grpSpPr>
          <a:xfrm>
            <a:off x="977950" y="7522071"/>
            <a:ext cx="5321350" cy="1948606"/>
            <a:chOff x="0" y="0"/>
            <a:chExt cx="7095133" cy="2598142"/>
          </a:xfrm>
        </p:grpSpPr>
        <p:sp>
          <p:nvSpPr>
            <p:cNvPr id="23" name="Freeform 23"/>
            <p:cNvSpPr/>
            <p:nvPr/>
          </p:nvSpPr>
          <p:spPr>
            <a:xfrm>
              <a:off x="19050" y="19050"/>
              <a:ext cx="7057009" cy="2560066"/>
            </a:xfrm>
            <a:custGeom>
              <a:avLst/>
              <a:gdLst/>
              <a:ahLst/>
              <a:cxnLst/>
              <a:rect l="l" t="t" r="r" b="b"/>
              <a:pathLst>
                <a:path w="7057009" h="2560066">
                  <a:moveTo>
                    <a:pt x="0" y="42545"/>
                  </a:moveTo>
                  <a:cubicBezTo>
                    <a:pt x="0" y="19050"/>
                    <a:pt x="19177" y="0"/>
                    <a:pt x="42926" y="0"/>
                  </a:cubicBezTo>
                  <a:lnTo>
                    <a:pt x="7014083" y="0"/>
                  </a:lnTo>
                  <a:cubicBezTo>
                    <a:pt x="7037832" y="0"/>
                    <a:pt x="7057009" y="19050"/>
                    <a:pt x="7057009" y="42545"/>
                  </a:cubicBezTo>
                  <a:lnTo>
                    <a:pt x="7057009" y="2517521"/>
                  </a:lnTo>
                  <a:cubicBezTo>
                    <a:pt x="7057009" y="2541016"/>
                    <a:pt x="7037832" y="2560066"/>
                    <a:pt x="7014083" y="2560066"/>
                  </a:cubicBezTo>
                  <a:lnTo>
                    <a:pt x="42926" y="2560066"/>
                  </a:lnTo>
                  <a:cubicBezTo>
                    <a:pt x="19177" y="2560066"/>
                    <a:pt x="0" y="2541016"/>
                    <a:pt x="0" y="2517521"/>
                  </a:cubicBezTo>
                  <a:close/>
                </a:path>
              </a:pathLst>
            </a:custGeom>
            <a:solidFill>
              <a:srgbClr val="FFFFFF"/>
            </a:solidFill>
            <a:ln w="12700">
              <a:solidFill>
                <a:srgbClr val="000000"/>
              </a:solidFill>
            </a:ln>
          </p:spPr>
        </p:sp>
        <p:sp>
          <p:nvSpPr>
            <p:cNvPr id="24" name="Freeform 24"/>
            <p:cNvSpPr/>
            <p:nvPr/>
          </p:nvSpPr>
          <p:spPr>
            <a:xfrm>
              <a:off x="0" y="0"/>
              <a:ext cx="7095109" cy="2598166"/>
            </a:xfrm>
            <a:custGeom>
              <a:avLst/>
              <a:gdLst/>
              <a:ahLst/>
              <a:cxnLst/>
              <a:rect l="l" t="t" r="r" b="b"/>
              <a:pathLst>
                <a:path w="7095109" h="2598166">
                  <a:moveTo>
                    <a:pt x="0" y="61595"/>
                  </a:moveTo>
                  <a:cubicBezTo>
                    <a:pt x="0" y="27432"/>
                    <a:pt x="27940" y="0"/>
                    <a:pt x="61976" y="0"/>
                  </a:cubicBezTo>
                  <a:lnTo>
                    <a:pt x="7033133" y="0"/>
                  </a:lnTo>
                  <a:lnTo>
                    <a:pt x="7033133" y="19050"/>
                  </a:lnTo>
                  <a:lnTo>
                    <a:pt x="7033133" y="0"/>
                  </a:lnTo>
                  <a:cubicBezTo>
                    <a:pt x="7067169" y="0"/>
                    <a:pt x="7095109" y="27432"/>
                    <a:pt x="7095109" y="61595"/>
                  </a:cubicBezTo>
                  <a:lnTo>
                    <a:pt x="7076059" y="61595"/>
                  </a:lnTo>
                  <a:lnTo>
                    <a:pt x="7095109" y="61595"/>
                  </a:lnTo>
                  <a:lnTo>
                    <a:pt x="7095109" y="2536571"/>
                  </a:lnTo>
                  <a:lnTo>
                    <a:pt x="7076059" y="2536571"/>
                  </a:lnTo>
                  <a:lnTo>
                    <a:pt x="7095109" y="2536571"/>
                  </a:lnTo>
                  <a:cubicBezTo>
                    <a:pt x="7095109" y="2570734"/>
                    <a:pt x="7067169" y="2598166"/>
                    <a:pt x="7033133" y="2598166"/>
                  </a:cubicBezTo>
                  <a:lnTo>
                    <a:pt x="7033133" y="2579116"/>
                  </a:lnTo>
                  <a:lnTo>
                    <a:pt x="7033133" y="2598166"/>
                  </a:lnTo>
                  <a:lnTo>
                    <a:pt x="61976" y="2598166"/>
                  </a:lnTo>
                  <a:lnTo>
                    <a:pt x="61976" y="2579116"/>
                  </a:lnTo>
                  <a:lnTo>
                    <a:pt x="61976" y="2598166"/>
                  </a:lnTo>
                  <a:cubicBezTo>
                    <a:pt x="27940" y="2598166"/>
                    <a:pt x="0" y="2570734"/>
                    <a:pt x="0" y="2536571"/>
                  </a:cubicBezTo>
                  <a:lnTo>
                    <a:pt x="0" y="61595"/>
                  </a:lnTo>
                  <a:lnTo>
                    <a:pt x="19050" y="61595"/>
                  </a:lnTo>
                  <a:lnTo>
                    <a:pt x="0" y="61595"/>
                  </a:lnTo>
                  <a:moveTo>
                    <a:pt x="38100" y="61595"/>
                  </a:moveTo>
                  <a:lnTo>
                    <a:pt x="38100" y="2536571"/>
                  </a:lnTo>
                  <a:lnTo>
                    <a:pt x="19050" y="2536571"/>
                  </a:lnTo>
                  <a:lnTo>
                    <a:pt x="38100" y="2536571"/>
                  </a:lnTo>
                  <a:cubicBezTo>
                    <a:pt x="38100" y="2549398"/>
                    <a:pt x="48641" y="2560066"/>
                    <a:pt x="61976" y="2560066"/>
                  </a:cubicBezTo>
                  <a:lnTo>
                    <a:pt x="7033133" y="2560066"/>
                  </a:lnTo>
                  <a:cubicBezTo>
                    <a:pt x="7046468" y="2560066"/>
                    <a:pt x="7057009" y="2549398"/>
                    <a:pt x="7057009" y="2536571"/>
                  </a:cubicBezTo>
                  <a:lnTo>
                    <a:pt x="7057009" y="61595"/>
                  </a:lnTo>
                  <a:cubicBezTo>
                    <a:pt x="7057009" y="48768"/>
                    <a:pt x="7046468" y="38100"/>
                    <a:pt x="7033133" y="38100"/>
                  </a:cubicBezTo>
                  <a:lnTo>
                    <a:pt x="61976" y="38100"/>
                  </a:lnTo>
                  <a:lnTo>
                    <a:pt x="61976" y="19050"/>
                  </a:lnTo>
                  <a:lnTo>
                    <a:pt x="61976" y="38100"/>
                  </a:lnTo>
                  <a:cubicBezTo>
                    <a:pt x="48641" y="38100"/>
                    <a:pt x="38100" y="48768"/>
                    <a:pt x="38100" y="61595"/>
                  </a:cubicBezTo>
                  <a:close/>
                </a:path>
              </a:pathLst>
            </a:custGeom>
            <a:solidFill>
              <a:srgbClr val="D8D4D4"/>
            </a:solidFill>
            <a:ln w="12700">
              <a:solidFill>
                <a:srgbClr val="000000"/>
              </a:solidFill>
            </a:ln>
          </p:spPr>
        </p:sp>
      </p:grpSp>
      <p:grpSp>
        <p:nvGrpSpPr>
          <p:cNvPr id="25" name="Group 25"/>
          <p:cNvGrpSpPr/>
          <p:nvPr/>
        </p:nvGrpSpPr>
        <p:grpSpPr>
          <a:xfrm>
            <a:off x="1020812" y="7564934"/>
            <a:ext cx="5235625" cy="637877"/>
            <a:chOff x="0" y="0"/>
            <a:chExt cx="6980833" cy="850503"/>
          </a:xfrm>
        </p:grpSpPr>
        <p:sp>
          <p:nvSpPr>
            <p:cNvPr id="26" name="Freeform 26"/>
            <p:cNvSpPr/>
            <p:nvPr/>
          </p:nvSpPr>
          <p:spPr>
            <a:xfrm>
              <a:off x="0" y="0"/>
              <a:ext cx="6980809" cy="850519"/>
            </a:xfrm>
            <a:custGeom>
              <a:avLst/>
              <a:gdLst/>
              <a:ahLst/>
              <a:cxnLst/>
              <a:rect l="l" t="t" r="r" b="b"/>
              <a:pathLst>
                <a:path w="6980809" h="850519">
                  <a:moveTo>
                    <a:pt x="0" y="0"/>
                  </a:moveTo>
                  <a:lnTo>
                    <a:pt x="6980809" y="0"/>
                  </a:lnTo>
                  <a:lnTo>
                    <a:pt x="6980809" y="850519"/>
                  </a:lnTo>
                  <a:lnTo>
                    <a:pt x="0" y="850519"/>
                  </a:lnTo>
                  <a:close/>
                </a:path>
              </a:pathLst>
            </a:custGeom>
            <a:solidFill>
              <a:srgbClr val="F2EEEE"/>
            </a:solidFill>
            <a:ln w="12700">
              <a:solidFill>
                <a:srgbClr val="000000"/>
              </a:solidFill>
            </a:ln>
          </p:spPr>
        </p:sp>
      </p:grpSp>
      <p:sp>
        <p:nvSpPr>
          <p:cNvPr id="27" name="Freeform 27" descr="preencoded.png"/>
          <p:cNvSpPr/>
          <p:nvPr/>
        </p:nvSpPr>
        <p:spPr>
          <a:xfrm>
            <a:off x="3479155" y="7724329"/>
            <a:ext cx="318939" cy="318939"/>
          </a:xfrm>
          <a:custGeom>
            <a:avLst/>
            <a:gdLst/>
            <a:ahLst/>
            <a:cxnLst/>
            <a:rect l="l" t="t" r="r" b="b"/>
            <a:pathLst>
              <a:path w="318939" h="318939">
                <a:moveTo>
                  <a:pt x="0" y="0"/>
                </a:moveTo>
                <a:lnTo>
                  <a:pt x="318939" y="0"/>
                </a:lnTo>
                <a:lnTo>
                  <a:pt x="318939" y="318939"/>
                </a:lnTo>
                <a:lnTo>
                  <a:pt x="0" y="318939"/>
                </a:lnTo>
                <a:lnTo>
                  <a:pt x="0" y="0"/>
                </a:lnTo>
                <a:close/>
              </a:path>
            </a:pathLst>
          </a:custGeom>
          <a:blipFill>
            <a:blip r:embed="rId4">
              <a:extLst>
                <a:ext uri="{96DAC541-7B7A-43D3-8B79-37D633B846F1}">
                  <asvg:svgBlip xmlns:asvg="http://schemas.microsoft.com/office/drawing/2016/SVG/main" r:embed="rId5"/>
                </a:ext>
              </a:extLst>
            </a:blip>
            <a:stretch>
              <a:fillRect t="-2941" b="-2941"/>
            </a:stretch>
          </a:blipFill>
        </p:spPr>
      </p:sp>
      <p:sp>
        <p:nvSpPr>
          <p:cNvPr id="28" name="TextBox 28"/>
          <p:cNvSpPr txBox="1"/>
          <p:nvPr/>
        </p:nvSpPr>
        <p:spPr>
          <a:xfrm>
            <a:off x="1233339" y="8396288"/>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Location Tracking</a:t>
            </a:r>
          </a:p>
        </p:txBody>
      </p:sp>
      <p:sp>
        <p:nvSpPr>
          <p:cNvPr id="29" name="TextBox 29"/>
          <p:cNvSpPr txBox="1"/>
          <p:nvPr/>
        </p:nvSpPr>
        <p:spPr>
          <a:xfrm>
            <a:off x="1233339" y="8808392"/>
            <a:ext cx="4810571" cy="406896"/>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GPS coordinates with accuracy indicators</a:t>
            </a:r>
          </a:p>
        </p:txBody>
      </p:sp>
      <p:grpSp>
        <p:nvGrpSpPr>
          <p:cNvPr id="30" name="Group 30"/>
          <p:cNvGrpSpPr/>
          <p:nvPr/>
        </p:nvGrpSpPr>
        <p:grpSpPr>
          <a:xfrm>
            <a:off x="6483251" y="7522071"/>
            <a:ext cx="5321350" cy="1948606"/>
            <a:chOff x="0" y="0"/>
            <a:chExt cx="7095133" cy="2598142"/>
          </a:xfrm>
        </p:grpSpPr>
        <p:sp>
          <p:nvSpPr>
            <p:cNvPr id="31" name="Freeform 31"/>
            <p:cNvSpPr/>
            <p:nvPr/>
          </p:nvSpPr>
          <p:spPr>
            <a:xfrm>
              <a:off x="19050" y="19050"/>
              <a:ext cx="7057009" cy="2560066"/>
            </a:xfrm>
            <a:custGeom>
              <a:avLst/>
              <a:gdLst/>
              <a:ahLst/>
              <a:cxnLst/>
              <a:rect l="l" t="t" r="r" b="b"/>
              <a:pathLst>
                <a:path w="7057009" h="2560066">
                  <a:moveTo>
                    <a:pt x="0" y="42545"/>
                  </a:moveTo>
                  <a:cubicBezTo>
                    <a:pt x="0" y="19050"/>
                    <a:pt x="19177" y="0"/>
                    <a:pt x="42926" y="0"/>
                  </a:cubicBezTo>
                  <a:lnTo>
                    <a:pt x="7014083" y="0"/>
                  </a:lnTo>
                  <a:cubicBezTo>
                    <a:pt x="7037832" y="0"/>
                    <a:pt x="7057009" y="19050"/>
                    <a:pt x="7057009" y="42545"/>
                  </a:cubicBezTo>
                  <a:lnTo>
                    <a:pt x="7057009" y="2517521"/>
                  </a:lnTo>
                  <a:cubicBezTo>
                    <a:pt x="7057009" y="2541016"/>
                    <a:pt x="7037832" y="2560066"/>
                    <a:pt x="7014083" y="2560066"/>
                  </a:cubicBezTo>
                  <a:lnTo>
                    <a:pt x="42926" y="2560066"/>
                  </a:lnTo>
                  <a:cubicBezTo>
                    <a:pt x="19177" y="2560066"/>
                    <a:pt x="0" y="2541016"/>
                    <a:pt x="0" y="2517521"/>
                  </a:cubicBezTo>
                  <a:close/>
                </a:path>
              </a:pathLst>
            </a:custGeom>
            <a:solidFill>
              <a:srgbClr val="FFFFFF"/>
            </a:solidFill>
            <a:ln w="12700">
              <a:solidFill>
                <a:srgbClr val="000000"/>
              </a:solidFill>
            </a:ln>
          </p:spPr>
        </p:sp>
        <p:sp>
          <p:nvSpPr>
            <p:cNvPr id="32" name="Freeform 32"/>
            <p:cNvSpPr/>
            <p:nvPr/>
          </p:nvSpPr>
          <p:spPr>
            <a:xfrm>
              <a:off x="0" y="0"/>
              <a:ext cx="7095109" cy="2598166"/>
            </a:xfrm>
            <a:custGeom>
              <a:avLst/>
              <a:gdLst/>
              <a:ahLst/>
              <a:cxnLst/>
              <a:rect l="l" t="t" r="r" b="b"/>
              <a:pathLst>
                <a:path w="7095109" h="2598166">
                  <a:moveTo>
                    <a:pt x="0" y="61595"/>
                  </a:moveTo>
                  <a:cubicBezTo>
                    <a:pt x="0" y="27432"/>
                    <a:pt x="27940" y="0"/>
                    <a:pt x="61976" y="0"/>
                  </a:cubicBezTo>
                  <a:lnTo>
                    <a:pt x="7033133" y="0"/>
                  </a:lnTo>
                  <a:lnTo>
                    <a:pt x="7033133" y="19050"/>
                  </a:lnTo>
                  <a:lnTo>
                    <a:pt x="7033133" y="0"/>
                  </a:lnTo>
                  <a:cubicBezTo>
                    <a:pt x="7067169" y="0"/>
                    <a:pt x="7095109" y="27432"/>
                    <a:pt x="7095109" y="61595"/>
                  </a:cubicBezTo>
                  <a:lnTo>
                    <a:pt x="7076059" y="61595"/>
                  </a:lnTo>
                  <a:lnTo>
                    <a:pt x="7095109" y="61595"/>
                  </a:lnTo>
                  <a:lnTo>
                    <a:pt x="7095109" y="2536571"/>
                  </a:lnTo>
                  <a:lnTo>
                    <a:pt x="7076059" y="2536571"/>
                  </a:lnTo>
                  <a:lnTo>
                    <a:pt x="7095109" y="2536571"/>
                  </a:lnTo>
                  <a:cubicBezTo>
                    <a:pt x="7095109" y="2570734"/>
                    <a:pt x="7067169" y="2598166"/>
                    <a:pt x="7033133" y="2598166"/>
                  </a:cubicBezTo>
                  <a:lnTo>
                    <a:pt x="7033133" y="2579116"/>
                  </a:lnTo>
                  <a:lnTo>
                    <a:pt x="7033133" y="2598166"/>
                  </a:lnTo>
                  <a:lnTo>
                    <a:pt x="61976" y="2598166"/>
                  </a:lnTo>
                  <a:lnTo>
                    <a:pt x="61976" y="2579116"/>
                  </a:lnTo>
                  <a:lnTo>
                    <a:pt x="61976" y="2598166"/>
                  </a:lnTo>
                  <a:cubicBezTo>
                    <a:pt x="27940" y="2598166"/>
                    <a:pt x="0" y="2570734"/>
                    <a:pt x="0" y="2536571"/>
                  </a:cubicBezTo>
                  <a:lnTo>
                    <a:pt x="0" y="61595"/>
                  </a:lnTo>
                  <a:lnTo>
                    <a:pt x="19050" y="61595"/>
                  </a:lnTo>
                  <a:lnTo>
                    <a:pt x="0" y="61595"/>
                  </a:lnTo>
                  <a:moveTo>
                    <a:pt x="38100" y="61595"/>
                  </a:moveTo>
                  <a:lnTo>
                    <a:pt x="38100" y="2536571"/>
                  </a:lnTo>
                  <a:lnTo>
                    <a:pt x="19050" y="2536571"/>
                  </a:lnTo>
                  <a:lnTo>
                    <a:pt x="38100" y="2536571"/>
                  </a:lnTo>
                  <a:cubicBezTo>
                    <a:pt x="38100" y="2549398"/>
                    <a:pt x="48641" y="2560066"/>
                    <a:pt x="61976" y="2560066"/>
                  </a:cubicBezTo>
                  <a:lnTo>
                    <a:pt x="7033133" y="2560066"/>
                  </a:lnTo>
                  <a:cubicBezTo>
                    <a:pt x="7046468" y="2560066"/>
                    <a:pt x="7057009" y="2549398"/>
                    <a:pt x="7057009" y="2536571"/>
                  </a:cubicBezTo>
                  <a:lnTo>
                    <a:pt x="7057009" y="61595"/>
                  </a:lnTo>
                  <a:cubicBezTo>
                    <a:pt x="7057009" y="48768"/>
                    <a:pt x="7046468" y="38100"/>
                    <a:pt x="7033133" y="38100"/>
                  </a:cubicBezTo>
                  <a:lnTo>
                    <a:pt x="61976" y="38100"/>
                  </a:lnTo>
                  <a:lnTo>
                    <a:pt x="61976" y="19050"/>
                  </a:lnTo>
                  <a:lnTo>
                    <a:pt x="61976" y="38100"/>
                  </a:lnTo>
                  <a:cubicBezTo>
                    <a:pt x="48641" y="38100"/>
                    <a:pt x="38100" y="48768"/>
                    <a:pt x="38100" y="61595"/>
                  </a:cubicBezTo>
                  <a:close/>
                </a:path>
              </a:pathLst>
            </a:custGeom>
            <a:solidFill>
              <a:srgbClr val="D8D4D4"/>
            </a:solidFill>
            <a:ln w="12700">
              <a:solidFill>
                <a:srgbClr val="000000"/>
              </a:solidFill>
            </a:ln>
          </p:spPr>
        </p:sp>
      </p:grpSp>
      <p:grpSp>
        <p:nvGrpSpPr>
          <p:cNvPr id="33" name="Group 33"/>
          <p:cNvGrpSpPr/>
          <p:nvPr/>
        </p:nvGrpSpPr>
        <p:grpSpPr>
          <a:xfrm>
            <a:off x="6526114" y="7564934"/>
            <a:ext cx="5235625" cy="637877"/>
            <a:chOff x="0" y="0"/>
            <a:chExt cx="6980833" cy="850503"/>
          </a:xfrm>
        </p:grpSpPr>
        <p:sp>
          <p:nvSpPr>
            <p:cNvPr id="34" name="Freeform 34"/>
            <p:cNvSpPr/>
            <p:nvPr/>
          </p:nvSpPr>
          <p:spPr>
            <a:xfrm>
              <a:off x="0" y="0"/>
              <a:ext cx="6980809" cy="850519"/>
            </a:xfrm>
            <a:custGeom>
              <a:avLst/>
              <a:gdLst/>
              <a:ahLst/>
              <a:cxnLst/>
              <a:rect l="l" t="t" r="r" b="b"/>
              <a:pathLst>
                <a:path w="6980809" h="850519">
                  <a:moveTo>
                    <a:pt x="0" y="0"/>
                  </a:moveTo>
                  <a:lnTo>
                    <a:pt x="6980809" y="0"/>
                  </a:lnTo>
                  <a:lnTo>
                    <a:pt x="6980809" y="850519"/>
                  </a:lnTo>
                  <a:lnTo>
                    <a:pt x="0" y="850519"/>
                  </a:lnTo>
                  <a:close/>
                </a:path>
              </a:pathLst>
            </a:custGeom>
            <a:solidFill>
              <a:srgbClr val="F2EEEE"/>
            </a:solidFill>
            <a:ln w="12700">
              <a:solidFill>
                <a:srgbClr val="000000"/>
              </a:solidFill>
            </a:ln>
          </p:spPr>
        </p:sp>
      </p:grpSp>
      <p:sp>
        <p:nvSpPr>
          <p:cNvPr id="35" name="Freeform 35" descr="preencoded.png"/>
          <p:cNvSpPr/>
          <p:nvPr/>
        </p:nvSpPr>
        <p:spPr>
          <a:xfrm>
            <a:off x="8984456" y="7724329"/>
            <a:ext cx="318939" cy="318939"/>
          </a:xfrm>
          <a:custGeom>
            <a:avLst/>
            <a:gdLst/>
            <a:ahLst/>
            <a:cxnLst/>
            <a:rect l="l" t="t" r="r" b="b"/>
            <a:pathLst>
              <a:path w="318939" h="318939">
                <a:moveTo>
                  <a:pt x="0" y="0"/>
                </a:moveTo>
                <a:lnTo>
                  <a:pt x="318939" y="0"/>
                </a:lnTo>
                <a:lnTo>
                  <a:pt x="318939" y="318939"/>
                </a:lnTo>
                <a:lnTo>
                  <a:pt x="0" y="318939"/>
                </a:lnTo>
                <a:lnTo>
                  <a:pt x="0" y="0"/>
                </a:lnTo>
                <a:close/>
              </a:path>
            </a:pathLst>
          </a:custGeom>
          <a:blipFill>
            <a:blip r:embed="rId6">
              <a:extLst>
                <a:ext uri="{96DAC541-7B7A-43D3-8B79-37D633B846F1}">
                  <asvg:svgBlip xmlns:asvg="http://schemas.microsoft.com/office/drawing/2016/SVG/main" r:embed="rId7"/>
                </a:ext>
              </a:extLst>
            </a:blip>
            <a:stretch>
              <a:fillRect l="-1470" r="-1470"/>
            </a:stretch>
          </a:blipFill>
        </p:spPr>
      </p:sp>
      <p:sp>
        <p:nvSpPr>
          <p:cNvPr id="36" name="TextBox 36"/>
          <p:cNvSpPr txBox="1"/>
          <p:nvPr/>
        </p:nvSpPr>
        <p:spPr>
          <a:xfrm>
            <a:off x="6738640" y="8396288"/>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Status Chips</a:t>
            </a:r>
          </a:p>
        </p:txBody>
      </p:sp>
      <p:sp>
        <p:nvSpPr>
          <p:cNvPr id="37" name="TextBox 37"/>
          <p:cNvSpPr txBox="1"/>
          <p:nvPr/>
        </p:nvSpPr>
        <p:spPr>
          <a:xfrm>
            <a:off x="6738640" y="8808392"/>
            <a:ext cx="4810571" cy="406896"/>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Available, In Use, or Needs Service states</a:t>
            </a:r>
          </a:p>
        </p:txBody>
      </p:sp>
      <p:grpSp>
        <p:nvGrpSpPr>
          <p:cNvPr id="38" name="Group 38"/>
          <p:cNvGrpSpPr/>
          <p:nvPr/>
        </p:nvGrpSpPr>
        <p:grpSpPr>
          <a:xfrm>
            <a:off x="11988552" y="7522071"/>
            <a:ext cx="5321350" cy="1948606"/>
            <a:chOff x="0" y="0"/>
            <a:chExt cx="7095133" cy="2598142"/>
          </a:xfrm>
        </p:grpSpPr>
        <p:sp>
          <p:nvSpPr>
            <p:cNvPr id="39" name="Freeform 39"/>
            <p:cNvSpPr/>
            <p:nvPr/>
          </p:nvSpPr>
          <p:spPr>
            <a:xfrm>
              <a:off x="19050" y="19050"/>
              <a:ext cx="7057009" cy="2560066"/>
            </a:xfrm>
            <a:custGeom>
              <a:avLst/>
              <a:gdLst/>
              <a:ahLst/>
              <a:cxnLst/>
              <a:rect l="l" t="t" r="r" b="b"/>
              <a:pathLst>
                <a:path w="7057009" h="2560066">
                  <a:moveTo>
                    <a:pt x="0" y="42545"/>
                  </a:moveTo>
                  <a:cubicBezTo>
                    <a:pt x="0" y="19050"/>
                    <a:pt x="19177" y="0"/>
                    <a:pt x="42926" y="0"/>
                  </a:cubicBezTo>
                  <a:lnTo>
                    <a:pt x="7014083" y="0"/>
                  </a:lnTo>
                  <a:cubicBezTo>
                    <a:pt x="7037832" y="0"/>
                    <a:pt x="7057009" y="19050"/>
                    <a:pt x="7057009" y="42545"/>
                  </a:cubicBezTo>
                  <a:lnTo>
                    <a:pt x="7057009" y="2517521"/>
                  </a:lnTo>
                  <a:cubicBezTo>
                    <a:pt x="7057009" y="2541016"/>
                    <a:pt x="7037832" y="2560066"/>
                    <a:pt x="7014083" y="2560066"/>
                  </a:cubicBezTo>
                  <a:lnTo>
                    <a:pt x="42926" y="2560066"/>
                  </a:lnTo>
                  <a:cubicBezTo>
                    <a:pt x="19177" y="2560066"/>
                    <a:pt x="0" y="2541016"/>
                    <a:pt x="0" y="2517521"/>
                  </a:cubicBezTo>
                  <a:close/>
                </a:path>
              </a:pathLst>
            </a:custGeom>
            <a:solidFill>
              <a:srgbClr val="FFFFFF"/>
            </a:solidFill>
            <a:ln w="12700">
              <a:solidFill>
                <a:srgbClr val="000000"/>
              </a:solidFill>
            </a:ln>
          </p:spPr>
        </p:sp>
        <p:sp>
          <p:nvSpPr>
            <p:cNvPr id="40" name="Freeform 40"/>
            <p:cNvSpPr/>
            <p:nvPr/>
          </p:nvSpPr>
          <p:spPr>
            <a:xfrm>
              <a:off x="0" y="0"/>
              <a:ext cx="7095109" cy="2598166"/>
            </a:xfrm>
            <a:custGeom>
              <a:avLst/>
              <a:gdLst/>
              <a:ahLst/>
              <a:cxnLst/>
              <a:rect l="l" t="t" r="r" b="b"/>
              <a:pathLst>
                <a:path w="7095109" h="2598166">
                  <a:moveTo>
                    <a:pt x="0" y="61595"/>
                  </a:moveTo>
                  <a:cubicBezTo>
                    <a:pt x="0" y="27432"/>
                    <a:pt x="27940" y="0"/>
                    <a:pt x="61976" y="0"/>
                  </a:cubicBezTo>
                  <a:lnTo>
                    <a:pt x="7033133" y="0"/>
                  </a:lnTo>
                  <a:lnTo>
                    <a:pt x="7033133" y="19050"/>
                  </a:lnTo>
                  <a:lnTo>
                    <a:pt x="7033133" y="0"/>
                  </a:lnTo>
                  <a:cubicBezTo>
                    <a:pt x="7067169" y="0"/>
                    <a:pt x="7095109" y="27432"/>
                    <a:pt x="7095109" y="61595"/>
                  </a:cubicBezTo>
                  <a:lnTo>
                    <a:pt x="7076059" y="61595"/>
                  </a:lnTo>
                  <a:lnTo>
                    <a:pt x="7095109" y="61595"/>
                  </a:lnTo>
                  <a:lnTo>
                    <a:pt x="7095109" y="2536571"/>
                  </a:lnTo>
                  <a:lnTo>
                    <a:pt x="7076059" y="2536571"/>
                  </a:lnTo>
                  <a:lnTo>
                    <a:pt x="7095109" y="2536571"/>
                  </a:lnTo>
                  <a:cubicBezTo>
                    <a:pt x="7095109" y="2570734"/>
                    <a:pt x="7067169" y="2598166"/>
                    <a:pt x="7033133" y="2598166"/>
                  </a:cubicBezTo>
                  <a:lnTo>
                    <a:pt x="7033133" y="2579116"/>
                  </a:lnTo>
                  <a:lnTo>
                    <a:pt x="7033133" y="2598166"/>
                  </a:lnTo>
                  <a:lnTo>
                    <a:pt x="61976" y="2598166"/>
                  </a:lnTo>
                  <a:lnTo>
                    <a:pt x="61976" y="2579116"/>
                  </a:lnTo>
                  <a:lnTo>
                    <a:pt x="61976" y="2598166"/>
                  </a:lnTo>
                  <a:cubicBezTo>
                    <a:pt x="27940" y="2598166"/>
                    <a:pt x="0" y="2570734"/>
                    <a:pt x="0" y="2536571"/>
                  </a:cubicBezTo>
                  <a:lnTo>
                    <a:pt x="0" y="61595"/>
                  </a:lnTo>
                  <a:lnTo>
                    <a:pt x="19050" y="61595"/>
                  </a:lnTo>
                  <a:lnTo>
                    <a:pt x="0" y="61595"/>
                  </a:lnTo>
                  <a:moveTo>
                    <a:pt x="38100" y="61595"/>
                  </a:moveTo>
                  <a:lnTo>
                    <a:pt x="38100" y="2536571"/>
                  </a:lnTo>
                  <a:lnTo>
                    <a:pt x="19050" y="2536571"/>
                  </a:lnTo>
                  <a:lnTo>
                    <a:pt x="38100" y="2536571"/>
                  </a:lnTo>
                  <a:cubicBezTo>
                    <a:pt x="38100" y="2549398"/>
                    <a:pt x="48641" y="2560066"/>
                    <a:pt x="61976" y="2560066"/>
                  </a:cubicBezTo>
                  <a:lnTo>
                    <a:pt x="7033133" y="2560066"/>
                  </a:lnTo>
                  <a:cubicBezTo>
                    <a:pt x="7046468" y="2560066"/>
                    <a:pt x="7057009" y="2549398"/>
                    <a:pt x="7057009" y="2536571"/>
                  </a:cubicBezTo>
                  <a:lnTo>
                    <a:pt x="7057009" y="61595"/>
                  </a:lnTo>
                  <a:cubicBezTo>
                    <a:pt x="7057009" y="48768"/>
                    <a:pt x="7046468" y="38100"/>
                    <a:pt x="7033133" y="38100"/>
                  </a:cubicBezTo>
                  <a:lnTo>
                    <a:pt x="61976" y="38100"/>
                  </a:lnTo>
                  <a:lnTo>
                    <a:pt x="61976" y="19050"/>
                  </a:lnTo>
                  <a:lnTo>
                    <a:pt x="61976" y="38100"/>
                  </a:lnTo>
                  <a:cubicBezTo>
                    <a:pt x="48641" y="38100"/>
                    <a:pt x="38100" y="48768"/>
                    <a:pt x="38100" y="61595"/>
                  </a:cubicBezTo>
                  <a:close/>
                </a:path>
              </a:pathLst>
            </a:custGeom>
            <a:solidFill>
              <a:srgbClr val="D8D4D4"/>
            </a:solidFill>
            <a:ln w="12700">
              <a:solidFill>
                <a:srgbClr val="000000"/>
              </a:solidFill>
            </a:ln>
          </p:spPr>
        </p:sp>
      </p:grpSp>
      <p:grpSp>
        <p:nvGrpSpPr>
          <p:cNvPr id="41" name="Group 41"/>
          <p:cNvGrpSpPr/>
          <p:nvPr/>
        </p:nvGrpSpPr>
        <p:grpSpPr>
          <a:xfrm>
            <a:off x="12031415" y="7564934"/>
            <a:ext cx="5235625" cy="637877"/>
            <a:chOff x="0" y="0"/>
            <a:chExt cx="6980833" cy="850503"/>
          </a:xfrm>
        </p:grpSpPr>
        <p:sp>
          <p:nvSpPr>
            <p:cNvPr id="42" name="Freeform 42"/>
            <p:cNvSpPr/>
            <p:nvPr/>
          </p:nvSpPr>
          <p:spPr>
            <a:xfrm>
              <a:off x="0" y="0"/>
              <a:ext cx="6980809" cy="850519"/>
            </a:xfrm>
            <a:custGeom>
              <a:avLst/>
              <a:gdLst/>
              <a:ahLst/>
              <a:cxnLst/>
              <a:rect l="l" t="t" r="r" b="b"/>
              <a:pathLst>
                <a:path w="6980809" h="850519">
                  <a:moveTo>
                    <a:pt x="0" y="0"/>
                  </a:moveTo>
                  <a:lnTo>
                    <a:pt x="6980809" y="0"/>
                  </a:lnTo>
                  <a:lnTo>
                    <a:pt x="6980809" y="850519"/>
                  </a:lnTo>
                  <a:lnTo>
                    <a:pt x="0" y="850519"/>
                  </a:lnTo>
                  <a:close/>
                </a:path>
              </a:pathLst>
            </a:custGeom>
            <a:solidFill>
              <a:srgbClr val="F2EEEE"/>
            </a:solidFill>
            <a:ln w="12700">
              <a:solidFill>
                <a:srgbClr val="000000"/>
              </a:solidFill>
            </a:ln>
          </p:spPr>
        </p:sp>
      </p:grpSp>
      <p:sp>
        <p:nvSpPr>
          <p:cNvPr id="43" name="Freeform 43" descr="preencoded.png"/>
          <p:cNvSpPr/>
          <p:nvPr/>
        </p:nvSpPr>
        <p:spPr>
          <a:xfrm>
            <a:off x="14489757" y="7724329"/>
            <a:ext cx="318939" cy="318939"/>
          </a:xfrm>
          <a:custGeom>
            <a:avLst/>
            <a:gdLst/>
            <a:ahLst/>
            <a:cxnLst/>
            <a:rect l="l" t="t" r="r" b="b"/>
            <a:pathLst>
              <a:path w="318939" h="318939">
                <a:moveTo>
                  <a:pt x="0" y="0"/>
                </a:moveTo>
                <a:lnTo>
                  <a:pt x="318939" y="0"/>
                </a:lnTo>
                <a:lnTo>
                  <a:pt x="318939" y="318939"/>
                </a:lnTo>
                <a:lnTo>
                  <a:pt x="0" y="318939"/>
                </a:lnTo>
                <a:lnTo>
                  <a:pt x="0" y="0"/>
                </a:lnTo>
                <a:close/>
              </a:path>
            </a:pathLst>
          </a:custGeom>
          <a:blipFill>
            <a:blip r:embed="rId8">
              <a:extLst>
                <a:ext uri="{96DAC541-7B7A-43D3-8B79-37D633B846F1}">
                  <asvg:svgBlip xmlns:asvg="http://schemas.microsoft.com/office/drawing/2016/SVG/main" r:embed="rId9"/>
                </a:ext>
              </a:extLst>
            </a:blip>
            <a:stretch>
              <a:fillRect l="-29411" r="-29411"/>
            </a:stretch>
          </a:blipFill>
        </p:spPr>
      </p:sp>
      <p:sp>
        <p:nvSpPr>
          <p:cNvPr id="44" name="TextBox 44"/>
          <p:cNvSpPr txBox="1"/>
          <p:nvPr/>
        </p:nvSpPr>
        <p:spPr>
          <a:xfrm>
            <a:off x="12243941" y="8396288"/>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Battery/Fuel Icons</a:t>
            </a:r>
          </a:p>
        </p:txBody>
      </p:sp>
      <p:sp>
        <p:nvSpPr>
          <p:cNvPr id="45" name="TextBox 45"/>
          <p:cNvSpPr txBox="1"/>
          <p:nvPr/>
        </p:nvSpPr>
        <p:spPr>
          <a:xfrm>
            <a:off x="12243941" y="8808392"/>
            <a:ext cx="4810571" cy="406896"/>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Visual percentage bars and alerts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3810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850236" y="1255514"/>
            <a:ext cx="10285363" cy="670633"/>
          </a:xfrm>
          <a:prstGeom prst="rect">
            <a:avLst/>
          </a:prstGeom>
        </p:spPr>
        <p:txBody>
          <a:bodyPr wrap="square" lIns="0" tIns="0" rIns="0" bIns="0" rtlCol="0" anchor="t">
            <a:spAutoFit/>
          </a:bodyPr>
          <a:lstStyle/>
          <a:p>
            <a:pPr algn="l">
              <a:lnSpc>
                <a:spcPts val="5562"/>
              </a:lnSpc>
            </a:pPr>
            <a:r>
              <a:rPr lang="en-US" sz="4437" b="1" dirty="0">
                <a:solidFill>
                  <a:srgbClr val="152D47"/>
                </a:solidFill>
                <a:latin typeface="Crimson Pro Bold"/>
                <a:ea typeface="Crimson Pro Bold"/>
                <a:cs typeface="Crimson Pro Bold"/>
                <a:sym typeface="Crimson Pro Bold"/>
              </a:rPr>
              <a:t>Module 3: AI Route &amp; Load </a:t>
            </a:r>
            <a:r>
              <a:rPr lang="en-US" sz="4437" b="1" dirty="0" err="1">
                <a:solidFill>
                  <a:srgbClr val="152D47"/>
                </a:solidFill>
                <a:latin typeface="Crimson Pro Bold"/>
                <a:ea typeface="Crimson Pro Bold"/>
                <a:cs typeface="Crimson Pro Bold"/>
                <a:sym typeface="Crimson Pro Bold"/>
              </a:rPr>
              <a:t>Optimisation</a:t>
            </a:r>
            <a:endParaRPr lang="en-US" sz="4437" b="1" dirty="0">
              <a:solidFill>
                <a:srgbClr val="152D47"/>
              </a:solidFill>
              <a:latin typeface="Crimson Pro Bold"/>
              <a:ea typeface="Crimson Pro Bold"/>
              <a:cs typeface="Crimson Pro Bold"/>
              <a:sym typeface="Crimson Pro Bold"/>
            </a:endParaRPr>
          </a:p>
        </p:txBody>
      </p:sp>
      <p:sp>
        <p:nvSpPr>
          <p:cNvPr id="9" name="TextBox 9"/>
          <p:cNvSpPr txBox="1"/>
          <p:nvPr/>
        </p:nvSpPr>
        <p:spPr>
          <a:xfrm>
            <a:off x="7850236" y="2522352"/>
            <a:ext cx="6703963" cy="395493"/>
          </a:xfrm>
          <a:prstGeom prst="rect">
            <a:avLst/>
          </a:prstGeom>
        </p:spPr>
        <p:txBody>
          <a:bodyPr wrap="square" lIns="0" tIns="0" rIns="0" bIns="0" rtlCol="0" anchor="t">
            <a:spAutoFit/>
          </a:bodyPr>
          <a:lstStyle/>
          <a:p>
            <a:pPr algn="l">
              <a:lnSpc>
                <a:spcPts val="3312"/>
              </a:lnSpc>
            </a:pPr>
            <a:r>
              <a:rPr lang="en-US" sz="2625" b="1" dirty="0">
                <a:solidFill>
                  <a:srgbClr val="152D47"/>
                </a:solidFill>
                <a:latin typeface="Crimson Pro Bold"/>
                <a:ea typeface="Crimson Pro Bold"/>
                <a:cs typeface="Crimson Pro Bold"/>
                <a:sym typeface="Crimson Pro Bold"/>
              </a:rPr>
              <a:t>Intelligent Journey Planning</a:t>
            </a:r>
          </a:p>
        </p:txBody>
      </p:sp>
      <p:sp>
        <p:nvSpPr>
          <p:cNvPr id="10" name="TextBox 10"/>
          <p:cNvSpPr txBox="1"/>
          <p:nvPr/>
        </p:nvSpPr>
        <p:spPr>
          <a:xfrm>
            <a:off x="7850237" y="3500437"/>
            <a:ext cx="9445526" cy="1155204"/>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Advanced AI-powered routing engine that dynamically suggests optimal paths considering real-time traffic conditions, energy consumption, and journey time. The system balances multiple variables to recommend the most efficient route.</a:t>
            </a:r>
          </a:p>
        </p:txBody>
      </p:sp>
      <p:grpSp>
        <p:nvGrpSpPr>
          <p:cNvPr id="11" name="Group 11"/>
          <p:cNvGrpSpPr>
            <a:grpSpLocks noChangeAspect="1"/>
          </p:cNvGrpSpPr>
          <p:nvPr/>
        </p:nvGrpSpPr>
        <p:grpSpPr>
          <a:xfrm>
            <a:off x="7850237" y="4910732"/>
            <a:ext cx="1134070" cy="1360885"/>
            <a:chOff x="0" y="0"/>
            <a:chExt cx="1512093" cy="1814513"/>
          </a:xfrm>
        </p:grpSpPr>
        <p:sp>
          <p:nvSpPr>
            <p:cNvPr id="12" name="Freeform 12" descr="preencoded.png"/>
            <p:cNvSpPr/>
            <p:nvPr/>
          </p:nvSpPr>
          <p:spPr>
            <a:xfrm>
              <a:off x="0" y="0"/>
              <a:ext cx="1512062" cy="1814576"/>
            </a:xfrm>
            <a:custGeom>
              <a:avLst/>
              <a:gdLst/>
              <a:ahLst/>
              <a:cxnLst/>
              <a:rect l="l" t="t" r="r" b="b"/>
              <a:pathLst>
                <a:path w="1512062" h="1814576">
                  <a:moveTo>
                    <a:pt x="0" y="0"/>
                  </a:moveTo>
                  <a:lnTo>
                    <a:pt x="1512062" y="0"/>
                  </a:lnTo>
                  <a:lnTo>
                    <a:pt x="1512062" y="1814576"/>
                  </a:lnTo>
                  <a:lnTo>
                    <a:pt x="0" y="1814576"/>
                  </a:lnTo>
                  <a:lnTo>
                    <a:pt x="0" y="0"/>
                  </a:lnTo>
                  <a:close/>
                </a:path>
              </a:pathLst>
            </a:custGeom>
            <a:blipFill>
              <a:blip r:embed="rId4"/>
              <a:stretch>
                <a:fillRect t="-69" r="-2" b="-66"/>
              </a:stretch>
            </a:blipFill>
          </p:spPr>
        </p:sp>
      </p:grpSp>
      <p:sp>
        <p:nvSpPr>
          <p:cNvPr id="13" name="TextBox 13"/>
          <p:cNvSpPr txBox="1"/>
          <p:nvPr/>
        </p:nvSpPr>
        <p:spPr>
          <a:xfrm>
            <a:off x="9211121" y="5108973"/>
            <a:ext cx="2835325" cy="382935"/>
          </a:xfrm>
          <a:prstGeom prst="rect">
            <a:avLst/>
          </a:prstGeom>
        </p:spPr>
        <p:txBody>
          <a:bodyPr lIns="0" tIns="0" rIns="0" bIns="0" rtlCol="0" anchor="t">
            <a:spAutoFit/>
          </a:bodyPr>
          <a:lstStyle/>
          <a:p>
            <a:pPr algn="l">
              <a:lnSpc>
                <a:spcPts val="2750"/>
              </a:lnSpc>
            </a:pPr>
            <a:r>
              <a:rPr lang="en-US" sz="2187" b="1">
                <a:solidFill>
                  <a:srgbClr val="4C4C4D"/>
                </a:solidFill>
                <a:latin typeface="Crimson Pro Bold"/>
                <a:ea typeface="Crimson Pro Bold"/>
                <a:cs typeface="Crimson Pro Bold"/>
                <a:sym typeface="Crimson Pro Bold"/>
              </a:rPr>
              <a:t>Map Integration</a:t>
            </a:r>
          </a:p>
        </p:txBody>
      </p:sp>
      <p:sp>
        <p:nvSpPr>
          <p:cNvPr id="14" name="TextBox 14"/>
          <p:cNvSpPr txBox="1"/>
          <p:nvPr/>
        </p:nvSpPr>
        <p:spPr>
          <a:xfrm>
            <a:off x="9211121" y="5561260"/>
            <a:ext cx="8084641" cy="429517"/>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Google Maps API or OpenStreetMap connectivity for accurate geospatial data</a:t>
            </a:r>
          </a:p>
        </p:txBody>
      </p:sp>
      <p:grpSp>
        <p:nvGrpSpPr>
          <p:cNvPr id="15" name="Group 15"/>
          <p:cNvGrpSpPr>
            <a:grpSpLocks noChangeAspect="1"/>
          </p:cNvGrpSpPr>
          <p:nvPr/>
        </p:nvGrpSpPr>
        <p:grpSpPr>
          <a:xfrm>
            <a:off x="7850237" y="6271618"/>
            <a:ext cx="1134070" cy="1360885"/>
            <a:chOff x="0" y="0"/>
            <a:chExt cx="1512093" cy="1814513"/>
          </a:xfrm>
        </p:grpSpPr>
        <p:sp>
          <p:nvSpPr>
            <p:cNvPr id="16" name="Freeform 16" descr="preencoded.png"/>
            <p:cNvSpPr/>
            <p:nvPr/>
          </p:nvSpPr>
          <p:spPr>
            <a:xfrm>
              <a:off x="0" y="0"/>
              <a:ext cx="1512062" cy="1814576"/>
            </a:xfrm>
            <a:custGeom>
              <a:avLst/>
              <a:gdLst/>
              <a:ahLst/>
              <a:cxnLst/>
              <a:rect l="l" t="t" r="r" b="b"/>
              <a:pathLst>
                <a:path w="1512062" h="1814576">
                  <a:moveTo>
                    <a:pt x="0" y="0"/>
                  </a:moveTo>
                  <a:lnTo>
                    <a:pt x="1512062" y="0"/>
                  </a:lnTo>
                  <a:lnTo>
                    <a:pt x="1512062" y="1814576"/>
                  </a:lnTo>
                  <a:lnTo>
                    <a:pt x="0" y="1814576"/>
                  </a:lnTo>
                  <a:lnTo>
                    <a:pt x="0" y="0"/>
                  </a:lnTo>
                  <a:close/>
                </a:path>
              </a:pathLst>
            </a:custGeom>
            <a:blipFill>
              <a:blip r:embed="rId5"/>
              <a:stretch>
                <a:fillRect t="-69" r="-2" b="-66"/>
              </a:stretch>
            </a:blipFill>
          </p:spPr>
        </p:sp>
      </p:grpSp>
      <p:sp>
        <p:nvSpPr>
          <p:cNvPr id="17" name="TextBox 17"/>
          <p:cNvSpPr txBox="1"/>
          <p:nvPr/>
        </p:nvSpPr>
        <p:spPr>
          <a:xfrm>
            <a:off x="9211121" y="6469856"/>
            <a:ext cx="2835325" cy="382935"/>
          </a:xfrm>
          <a:prstGeom prst="rect">
            <a:avLst/>
          </a:prstGeom>
        </p:spPr>
        <p:txBody>
          <a:bodyPr lIns="0" tIns="0" rIns="0" bIns="0" rtlCol="0" anchor="t">
            <a:spAutoFit/>
          </a:bodyPr>
          <a:lstStyle/>
          <a:p>
            <a:pPr algn="l">
              <a:lnSpc>
                <a:spcPts val="2750"/>
              </a:lnSpc>
            </a:pPr>
            <a:r>
              <a:rPr lang="en-US" sz="2187" b="1">
                <a:solidFill>
                  <a:srgbClr val="4C4C4D"/>
                </a:solidFill>
                <a:latin typeface="Crimson Pro Bold"/>
                <a:ea typeface="Crimson Pro Bold"/>
                <a:cs typeface="Crimson Pro Bold"/>
                <a:sym typeface="Crimson Pro Bold"/>
              </a:rPr>
              <a:t>AI Algorithm</a:t>
            </a:r>
          </a:p>
        </p:txBody>
      </p:sp>
      <p:sp>
        <p:nvSpPr>
          <p:cNvPr id="18" name="TextBox 18"/>
          <p:cNvSpPr txBox="1"/>
          <p:nvPr/>
        </p:nvSpPr>
        <p:spPr>
          <a:xfrm>
            <a:off x="9211121" y="6922145"/>
            <a:ext cx="8084641" cy="429517"/>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Machine learning-based ETA prediction with traffic pattern analysis</a:t>
            </a:r>
          </a:p>
        </p:txBody>
      </p:sp>
      <p:grpSp>
        <p:nvGrpSpPr>
          <p:cNvPr id="19" name="Group 19"/>
          <p:cNvGrpSpPr>
            <a:grpSpLocks noChangeAspect="1"/>
          </p:cNvGrpSpPr>
          <p:nvPr/>
        </p:nvGrpSpPr>
        <p:grpSpPr>
          <a:xfrm>
            <a:off x="7850237" y="7632501"/>
            <a:ext cx="1134070" cy="1360885"/>
            <a:chOff x="0" y="0"/>
            <a:chExt cx="1512093" cy="1814513"/>
          </a:xfrm>
        </p:grpSpPr>
        <p:sp>
          <p:nvSpPr>
            <p:cNvPr id="20" name="Freeform 20" descr="preencoded.png"/>
            <p:cNvSpPr/>
            <p:nvPr/>
          </p:nvSpPr>
          <p:spPr>
            <a:xfrm>
              <a:off x="0" y="0"/>
              <a:ext cx="1512062" cy="1814576"/>
            </a:xfrm>
            <a:custGeom>
              <a:avLst/>
              <a:gdLst/>
              <a:ahLst/>
              <a:cxnLst/>
              <a:rect l="l" t="t" r="r" b="b"/>
              <a:pathLst>
                <a:path w="1512062" h="1814576">
                  <a:moveTo>
                    <a:pt x="0" y="0"/>
                  </a:moveTo>
                  <a:lnTo>
                    <a:pt x="1512062" y="0"/>
                  </a:lnTo>
                  <a:lnTo>
                    <a:pt x="1512062" y="1814576"/>
                  </a:lnTo>
                  <a:lnTo>
                    <a:pt x="0" y="1814576"/>
                  </a:lnTo>
                  <a:lnTo>
                    <a:pt x="0" y="0"/>
                  </a:lnTo>
                  <a:close/>
                </a:path>
              </a:pathLst>
            </a:custGeom>
            <a:blipFill>
              <a:blip r:embed="rId6"/>
              <a:stretch>
                <a:fillRect t="-69" r="-2" b="-66"/>
              </a:stretch>
            </a:blipFill>
          </p:spPr>
        </p:sp>
      </p:grpSp>
      <p:sp>
        <p:nvSpPr>
          <p:cNvPr id="21" name="TextBox 21"/>
          <p:cNvSpPr txBox="1"/>
          <p:nvPr/>
        </p:nvSpPr>
        <p:spPr>
          <a:xfrm>
            <a:off x="9211121" y="7830741"/>
            <a:ext cx="2835325" cy="382935"/>
          </a:xfrm>
          <a:prstGeom prst="rect">
            <a:avLst/>
          </a:prstGeom>
        </p:spPr>
        <p:txBody>
          <a:bodyPr lIns="0" tIns="0" rIns="0" bIns="0" rtlCol="0" anchor="t">
            <a:spAutoFit/>
          </a:bodyPr>
          <a:lstStyle/>
          <a:p>
            <a:pPr algn="l">
              <a:lnSpc>
                <a:spcPts val="2750"/>
              </a:lnSpc>
            </a:pPr>
            <a:r>
              <a:rPr lang="en-US" sz="2187" b="1">
                <a:solidFill>
                  <a:srgbClr val="4C4C4D"/>
                </a:solidFill>
                <a:latin typeface="Crimson Pro Bold"/>
                <a:ea typeface="Crimson Pro Bold"/>
                <a:cs typeface="Crimson Pro Bold"/>
                <a:sym typeface="Crimson Pro Bold"/>
              </a:rPr>
              <a:t>Route Visualisation</a:t>
            </a:r>
          </a:p>
        </p:txBody>
      </p:sp>
      <p:sp>
        <p:nvSpPr>
          <p:cNvPr id="22" name="TextBox 22"/>
          <p:cNvSpPr txBox="1"/>
          <p:nvPr/>
        </p:nvSpPr>
        <p:spPr>
          <a:xfrm>
            <a:off x="9211121" y="8283029"/>
            <a:ext cx="8084641" cy="429517"/>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Interactive polyline routes with colour-coded traffic zones and waypoints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3810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770781"/>
            <a:ext cx="12647562" cy="622863"/>
          </a:xfrm>
          <a:prstGeom prst="rect">
            <a:avLst/>
          </a:prstGeom>
        </p:spPr>
        <p:txBody>
          <a:bodyPr wrap="square" lIns="0" tIns="0" rIns="0" bIns="0" rtlCol="0" anchor="t">
            <a:spAutoFit/>
          </a:bodyPr>
          <a:lstStyle/>
          <a:p>
            <a:pPr algn="l">
              <a:lnSpc>
                <a:spcPts val="5187"/>
              </a:lnSpc>
            </a:pPr>
            <a:r>
              <a:rPr lang="en-US" sz="4124" b="1" dirty="0">
                <a:solidFill>
                  <a:srgbClr val="152D47"/>
                </a:solidFill>
                <a:latin typeface="Crimson Pro Bold"/>
                <a:ea typeface="Crimson Pro Bold"/>
                <a:cs typeface="Crimson Pro Bold"/>
                <a:sym typeface="Crimson Pro Bold"/>
              </a:rPr>
              <a:t>Module 4: Predictive Maintenance &amp; Health Analytics</a:t>
            </a:r>
          </a:p>
        </p:txBody>
      </p:sp>
      <p:sp>
        <p:nvSpPr>
          <p:cNvPr id="7" name="TextBox 7"/>
          <p:cNvSpPr txBox="1"/>
          <p:nvPr/>
        </p:nvSpPr>
        <p:spPr>
          <a:xfrm>
            <a:off x="2312938" y="3337918"/>
            <a:ext cx="2615505" cy="474464"/>
          </a:xfrm>
          <a:prstGeom prst="rect">
            <a:avLst/>
          </a:prstGeom>
        </p:spPr>
        <p:txBody>
          <a:bodyPr lIns="0" tIns="0" rIns="0" bIns="0" rtlCol="0" anchor="t">
            <a:spAutoFit/>
          </a:bodyPr>
          <a:lstStyle/>
          <a:p>
            <a:pPr algn="ctr">
              <a:lnSpc>
                <a:spcPts val="4124"/>
              </a:lnSpc>
            </a:pPr>
            <a:r>
              <a:rPr lang="en-US" sz="4124" b="1">
                <a:solidFill>
                  <a:srgbClr val="4C4C4D"/>
                </a:solidFill>
                <a:latin typeface="Crimson Pro Bold"/>
                <a:ea typeface="Crimson Pro Bold"/>
                <a:cs typeface="Crimson Pro Bold"/>
                <a:sym typeface="Crimson Pro Bold"/>
              </a:rPr>
              <a:t>85%</a:t>
            </a:r>
          </a:p>
        </p:txBody>
      </p:sp>
      <p:grpSp>
        <p:nvGrpSpPr>
          <p:cNvPr id="8" name="Group 8"/>
          <p:cNvGrpSpPr>
            <a:grpSpLocks noChangeAspect="1"/>
          </p:cNvGrpSpPr>
          <p:nvPr/>
        </p:nvGrpSpPr>
        <p:grpSpPr>
          <a:xfrm>
            <a:off x="2025997" y="1951732"/>
            <a:ext cx="3189685" cy="3189685"/>
            <a:chOff x="0" y="0"/>
            <a:chExt cx="4252913" cy="4252913"/>
          </a:xfrm>
        </p:grpSpPr>
        <p:sp>
          <p:nvSpPr>
            <p:cNvPr id="9" name="Freeform 9" descr="preencoded.png"/>
            <p:cNvSpPr/>
            <p:nvPr/>
          </p:nvSpPr>
          <p:spPr>
            <a:xfrm>
              <a:off x="0" y="0"/>
              <a:ext cx="4252976" cy="4252976"/>
            </a:xfrm>
            <a:custGeom>
              <a:avLst/>
              <a:gdLst/>
              <a:ahLst/>
              <a:cxnLst/>
              <a:rect l="l" t="t" r="r" b="b"/>
              <a:pathLst>
                <a:path w="4252976" h="4252976">
                  <a:moveTo>
                    <a:pt x="0" y="0"/>
                  </a:moveTo>
                  <a:lnTo>
                    <a:pt x="4252976" y="0"/>
                  </a:lnTo>
                  <a:lnTo>
                    <a:pt x="4252976" y="4252976"/>
                  </a:lnTo>
                  <a:lnTo>
                    <a:pt x="0" y="4252976"/>
                  </a:lnTo>
                  <a:lnTo>
                    <a:pt x="0" y="0"/>
                  </a:lnTo>
                  <a:close/>
                </a:path>
              </a:pathLst>
            </a:custGeom>
            <a:blipFill>
              <a:blip r:embed="rId3"/>
              <a:stretch>
                <a:fillRect r="1" b="1"/>
              </a:stretch>
            </a:blipFill>
          </p:spPr>
        </p:sp>
      </p:grpSp>
      <p:sp>
        <p:nvSpPr>
          <p:cNvPr id="10" name="TextBox 10"/>
          <p:cNvSpPr txBox="1"/>
          <p:nvPr/>
        </p:nvSpPr>
        <p:spPr>
          <a:xfrm>
            <a:off x="992238" y="5340400"/>
            <a:ext cx="5257205" cy="747117"/>
          </a:xfrm>
          <a:prstGeom prst="rect">
            <a:avLst/>
          </a:prstGeom>
        </p:spPr>
        <p:txBody>
          <a:bodyPr lIns="0" tIns="0" rIns="0" bIns="0" rtlCol="0" anchor="t">
            <a:spAutoFit/>
          </a:bodyPr>
          <a:lstStyle/>
          <a:p>
            <a:pPr algn="ctr">
              <a:lnSpc>
                <a:spcPts val="2625"/>
              </a:lnSpc>
            </a:pPr>
            <a:r>
              <a:rPr lang="en-US" sz="1625">
                <a:solidFill>
                  <a:srgbClr val="4C4C4D"/>
                </a:solidFill>
                <a:latin typeface="Heebo"/>
                <a:ea typeface="Heebo"/>
                <a:cs typeface="Heebo"/>
                <a:sym typeface="Heebo"/>
              </a:rPr>
              <a:t>Reduction in unexpected breakdowns through predictive alerts</a:t>
            </a:r>
          </a:p>
        </p:txBody>
      </p:sp>
      <p:sp>
        <p:nvSpPr>
          <p:cNvPr id="11" name="TextBox 11"/>
          <p:cNvSpPr txBox="1"/>
          <p:nvPr/>
        </p:nvSpPr>
        <p:spPr>
          <a:xfrm>
            <a:off x="7835950" y="3337918"/>
            <a:ext cx="2615505" cy="474464"/>
          </a:xfrm>
          <a:prstGeom prst="rect">
            <a:avLst/>
          </a:prstGeom>
        </p:spPr>
        <p:txBody>
          <a:bodyPr lIns="0" tIns="0" rIns="0" bIns="0" rtlCol="0" anchor="t">
            <a:spAutoFit/>
          </a:bodyPr>
          <a:lstStyle/>
          <a:p>
            <a:pPr algn="ctr">
              <a:lnSpc>
                <a:spcPts val="4124"/>
              </a:lnSpc>
            </a:pPr>
            <a:r>
              <a:rPr lang="en-US" sz="4124" b="1">
                <a:solidFill>
                  <a:srgbClr val="4C4C4D"/>
                </a:solidFill>
                <a:latin typeface="Crimson Pro Bold"/>
                <a:ea typeface="Crimson Pro Bold"/>
                <a:cs typeface="Crimson Pro Bold"/>
                <a:sym typeface="Crimson Pro Bold"/>
              </a:rPr>
              <a:t>60%</a:t>
            </a:r>
          </a:p>
        </p:txBody>
      </p:sp>
      <p:grpSp>
        <p:nvGrpSpPr>
          <p:cNvPr id="12" name="Group 12"/>
          <p:cNvGrpSpPr>
            <a:grpSpLocks noChangeAspect="1"/>
          </p:cNvGrpSpPr>
          <p:nvPr/>
        </p:nvGrpSpPr>
        <p:grpSpPr>
          <a:xfrm>
            <a:off x="7549009" y="1951732"/>
            <a:ext cx="3189685" cy="3189685"/>
            <a:chOff x="0" y="0"/>
            <a:chExt cx="4252913" cy="4252913"/>
          </a:xfrm>
        </p:grpSpPr>
        <p:sp>
          <p:nvSpPr>
            <p:cNvPr id="13" name="Freeform 13" descr="preencoded.png"/>
            <p:cNvSpPr/>
            <p:nvPr/>
          </p:nvSpPr>
          <p:spPr>
            <a:xfrm>
              <a:off x="0" y="0"/>
              <a:ext cx="4252976" cy="4252976"/>
            </a:xfrm>
            <a:custGeom>
              <a:avLst/>
              <a:gdLst/>
              <a:ahLst/>
              <a:cxnLst/>
              <a:rect l="l" t="t" r="r" b="b"/>
              <a:pathLst>
                <a:path w="4252976" h="4252976">
                  <a:moveTo>
                    <a:pt x="0" y="0"/>
                  </a:moveTo>
                  <a:lnTo>
                    <a:pt x="4252976" y="0"/>
                  </a:lnTo>
                  <a:lnTo>
                    <a:pt x="4252976" y="4252976"/>
                  </a:lnTo>
                  <a:lnTo>
                    <a:pt x="0" y="4252976"/>
                  </a:lnTo>
                  <a:lnTo>
                    <a:pt x="0" y="0"/>
                  </a:lnTo>
                  <a:close/>
                </a:path>
              </a:pathLst>
            </a:custGeom>
            <a:blipFill>
              <a:blip r:embed="rId4"/>
              <a:stretch>
                <a:fillRect r="1" b="1"/>
              </a:stretch>
            </a:blipFill>
          </p:spPr>
        </p:sp>
      </p:grpSp>
      <p:sp>
        <p:nvSpPr>
          <p:cNvPr id="14" name="TextBox 14"/>
          <p:cNvSpPr txBox="1"/>
          <p:nvPr/>
        </p:nvSpPr>
        <p:spPr>
          <a:xfrm>
            <a:off x="6515249" y="5340400"/>
            <a:ext cx="5257354" cy="747117"/>
          </a:xfrm>
          <a:prstGeom prst="rect">
            <a:avLst/>
          </a:prstGeom>
        </p:spPr>
        <p:txBody>
          <a:bodyPr lIns="0" tIns="0" rIns="0" bIns="0" rtlCol="0" anchor="t">
            <a:spAutoFit/>
          </a:bodyPr>
          <a:lstStyle/>
          <a:p>
            <a:pPr algn="ctr">
              <a:lnSpc>
                <a:spcPts val="2625"/>
              </a:lnSpc>
            </a:pPr>
            <a:r>
              <a:rPr lang="en-US" sz="1625">
                <a:solidFill>
                  <a:srgbClr val="4C4C4D"/>
                </a:solidFill>
                <a:latin typeface="Heebo"/>
                <a:ea typeface="Heebo"/>
                <a:cs typeface="Heebo"/>
                <a:sym typeface="Heebo"/>
              </a:rPr>
              <a:t>Decrease in maintenance costs via optimised scheduling</a:t>
            </a:r>
          </a:p>
        </p:txBody>
      </p:sp>
      <p:sp>
        <p:nvSpPr>
          <p:cNvPr id="15" name="TextBox 15"/>
          <p:cNvSpPr txBox="1"/>
          <p:nvPr/>
        </p:nvSpPr>
        <p:spPr>
          <a:xfrm>
            <a:off x="13359110" y="3337918"/>
            <a:ext cx="2615505" cy="474464"/>
          </a:xfrm>
          <a:prstGeom prst="rect">
            <a:avLst/>
          </a:prstGeom>
        </p:spPr>
        <p:txBody>
          <a:bodyPr lIns="0" tIns="0" rIns="0" bIns="0" rtlCol="0" anchor="t">
            <a:spAutoFit/>
          </a:bodyPr>
          <a:lstStyle/>
          <a:p>
            <a:pPr algn="ctr">
              <a:lnSpc>
                <a:spcPts val="4124"/>
              </a:lnSpc>
            </a:pPr>
            <a:r>
              <a:rPr lang="en-US" sz="4124" b="1">
                <a:solidFill>
                  <a:srgbClr val="4C4C4D"/>
                </a:solidFill>
                <a:latin typeface="Crimson Pro Bold"/>
                <a:ea typeface="Crimson Pro Bold"/>
                <a:cs typeface="Crimson Pro Bold"/>
                <a:sym typeface="Crimson Pro Bold"/>
              </a:rPr>
              <a:t>95%</a:t>
            </a:r>
          </a:p>
        </p:txBody>
      </p:sp>
      <p:grpSp>
        <p:nvGrpSpPr>
          <p:cNvPr id="16" name="Group 16"/>
          <p:cNvGrpSpPr>
            <a:grpSpLocks noChangeAspect="1"/>
          </p:cNvGrpSpPr>
          <p:nvPr/>
        </p:nvGrpSpPr>
        <p:grpSpPr>
          <a:xfrm>
            <a:off x="13072170" y="1951732"/>
            <a:ext cx="3189685" cy="3189685"/>
            <a:chOff x="0" y="0"/>
            <a:chExt cx="4252913" cy="4252913"/>
          </a:xfrm>
        </p:grpSpPr>
        <p:sp>
          <p:nvSpPr>
            <p:cNvPr id="17" name="Freeform 17" descr="preencoded.png"/>
            <p:cNvSpPr/>
            <p:nvPr/>
          </p:nvSpPr>
          <p:spPr>
            <a:xfrm>
              <a:off x="0" y="0"/>
              <a:ext cx="4252976" cy="4252976"/>
            </a:xfrm>
            <a:custGeom>
              <a:avLst/>
              <a:gdLst/>
              <a:ahLst/>
              <a:cxnLst/>
              <a:rect l="l" t="t" r="r" b="b"/>
              <a:pathLst>
                <a:path w="4252976" h="4252976">
                  <a:moveTo>
                    <a:pt x="0" y="0"/>
                  </a:moveTo>
                  <a:lnTo>
                    <a:pt x="4252976" y="0"/>
                  </a:lnTo>
                  <a:lnTo>
                    <a:pt x="4252976" y="4252976"/>
                  </a:lnTo>
                  <a:lnTo>
                    <a:pt x="0" y="4252976"/>
                  </a:lnTo>
                  <a:lnTo>
                    <a:pt x="0" y="0"/>
                  </a:lnTo>
                  <a:close/>
                </a:path>
              </a:pathLst>
            </a:custGeom>
            <a:blipFill>
              <a:blip r:embed="rId5"/>
              <a:stretch>
                <a:fillRect r="1" b="1"/>
              </a:stretch>
            </a:blipFill>
          </p:spPr>
        </p:sp>
      </p:grpSp>
      <p:sp>
        <p:nvSpPr>
          <p:cNvPr id="18" name="TextBox 18"/>
          <p:cNvSpPr txBox="1"/>
          <p:nvPr/>
        </p:nvSpPr>
        <p:spPr>
          <a:xfrm>
            <a:off x="12038410" y="5340400"/>
            <a:ext cx="5257354" cy="747117"/>
          </a:xfrm>
          <a:prstGeom prst="rect">
            <a:avLst/>
          </a:prstGeom>
        </p:spPr>
        <p:txBody>
          <a:bodyPr lIns="0" tIns="0" rIns="0" bIns="0" rtlCol="0" anchor="t">
            <a:spAutoFit/>
          </a:bodyPr>
          <a:lstStyle/>
          <a:p>
            <a:pPr algn="ctr">
              <a:lnSpc>
                <a:spcPts val="2625"/>
              </a:lnSpc>
            </a:pPr>
            <a:r>
              <a:rPr lang="en-US" sz="1625">
                <a:solidFill>
                  <a:srgbClr val="4C4C4D"/>
                </a:solidFill>
                <a:latin typeface="Heebo"/>
                <a:ea typeface="Heebo"/>
                <a:cs typeface="Heebo"/>
                <a:sym typeface="Heebo"/>
              </a:rPr>
              <a:t>Fleet health monitoring accuracy with AI-driven diagnostics</a:t>
            </a:r>
          </a:p>
        </p:txBody>
      </p:sp>
      <p:sp>
        <p:nvSpPr>
          <p:cNvPr id="19" name="TextBox 19"/>
          <p:cNvSpPr txBox="1"/>
          <p:nvPr/>
        </p:nvSpPr>
        <p:spPr>
          <a:xfrm>
            <a:off x="992238" y="6260009"/>
            <a:ext cx="16303526"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Proactive vehicle health monitoring system that tracks engine performance, tyre condition, fuel efficiency, battery health, and mileage. Advanced algorithms predict maintenance requirements and alert fleet managers before issues become critical, minimising downtime and extending vehicle lifespan.</a:t>
            </a:r>
          </a:p>
        </p:txBody>
      </p:sp>
      <p:grpSp>
        <p:nvGrpSpPr>
          <p:cNvPr id="20" name="Group 20"/>
          <p:cNvGrpSpPr/>
          <p:nvPr/>
        </p:nvGrpSpPr>
        <p:grpSpPr>
          <a:xfrm>
            <a:off x="992238" y="7565231"/>
            <a:ext cx="5292775" cy="1912887"/>
            <a:chOff x="0" y="0"/>
            <a:chExt cx="7057033" cy="2550517"/>
          </a:xfrm>
        </p:grpSpPr>
        <p:sp>
          <p:nvSpPr>
            <p:cNvPr id="21" name="Freeform 21"/>
            <p:cNvSpPr/>
            <p:nvPr/>
          </p:nvSpPr>
          <p:spPr>
            <a:xfrm>
              <a:off x="0" y="0"/>
              <a:ext cx="7057010" cy="2550541"/>
            </a:xfrm>
            <a:custGeom>
              <a:avLst/>
              <a:gdLst/>
              <a:ahLst/>
              <a:cxnLst/>
              <a:rect l="l" t="t" r="r" b="b"/>
              <a:pathLst>
                <a:path w="7057010" h="2550541">
                  <a:moveTo>
                    <a:pt x="0" y="182880"/>
                  </a:moveTo>
                  <a:cubicBezTo>
                    <a:pt x="0" y="81915"/>
                    <a:pt x="81915" y="0"/>
                    <a:pt x="182880" y="0"/>
                  </a:cubicBezTo>
                  <a:lnTo>
                    <a:pt x="6874129" y="0"/>
                  </a:lnTo>
                  <a:cubicBezTo>
                    <a:pt x="6975094" y="0"/>
                    <a:pt x="7057010" y="81915"/>
                    <a:pt x="7057010" y="182880"/>
                  </a:cubicBezTo>
                  <a:lnTo>
                    <a:pt x="7057010" y="2367661"/>
                  </a:lnTo>
                  <a:cubicBezTo>
                    <a:pt x="7057010" y="2468626"/>
                    <a:pt x="6975094" y="2550541"/>
                    <a:pt x="6874129" y="2550541"/>
                  </a:cubicBezTo>
                  <a:lnTo>
                    <a:pt x="182880" y="2550541"/>
                  </a:lnTo>
                  <a:cubicBezTo>
                    <a:pt x="81915" y="2550541"/>
                    <a:pt x="0" y="2468626"/>
                    <a:pt x="0" y="2367661"/>
                  </a:cubicBezTo>
                  <a:close/>
                </a:path>
              </a:pathLst>
            </a:custGeom>
            <a:solidFill>
              <a:srgbClr val="FFFFFF"/>
            </a:solidFill>
            <a:ln w="12700">
              <a:solidFill>
                <a:srgbClr val="000000"/>
              </a:solidFill>
            </a:ln>
          </p:spPr>
        </p:sp>
      </p:grpSp>
      <p:grpSp>
        <p:nvGrpSpPr>
          <p:cNvPr id="22" name="Group 22"/>
          <p:cNvGrpSpPr/>
          <p:nvPr/>
        </p:nvGrpSpPr>
        <p:grpSpPr>
          <a:xfrm>
            <a:off x="992238" y="7536656"/>
            <a:ext cx="5292775" cy="114300"/>
            <a:chOff x="0" y="0"/>
            <a:chExt cx="7057033" cy="152400"/>
          </a:xfrm>
        </p:grpSpPr>
        <p:sp>
          <p:nvSpPr>
            <p:cNvPr id="23" name="Freeform 23"/>
            <p:cNvSpPr/>
            <p:nvPr/>
          </p:nvSpPr>
          <p:spPr>
            <a:xfrm>
              <a:off x="0" y="0"/>
              <a:ext cx="7057009" cy="152400"/>
            </a:xfrm>
            <a:custGeom>
              <a:avLst/>
              <a:gdLst/>
              <a:ahLst/>
              <a:cxnLst/>
              <a:rect l="l" t="t" r="r" b="b"/>
              <a:pathLst>
                <a:path w="7057009" h="152400">
                  <a:moveTo>
                    <a:pt x="0" y="42545"/>
                  </a:moveTo>
                  <a:cubicBezTo>
                    <a:pt x="0" y="19050"/>
                    <a:pt x="19050" y="0"/>
                    <a:pt x="42545" y="0"/>
                  </a:cubicBezTo>
                  <a:lnTo>
                    <a:pt x="7014464" y="0"/>
                  </a:lnTo>
                  <a:cubicBezTo>
                    <a:pt x="7037959" y="0"/>
                    <a:pt x="7057009" y="19050"/>
                    <a:pt x="7057009" y="42545"/>
                  </a:cubicBezTo>
                  <a:lnTo>
                    <a:pt x="7057009" y="109855"/>
                  </a:lnTo>
                  <a:cubicBezTo>
                    <a:pt x="7057009" y="133350"/>
                    <a:pt x="7037959" y="152400"/>
                    <a:pt x="7014464" y="152400"/>
                  </a:cubicBezTo>
                  <a:lnTo>
                    <a:pt x="42545" y="152400"/>
                  </a:lnTo>
                  <a:cubicBezTo>
                    <a:pt x="19050" y="152400"/>
                    <a:pt x="0" y="133350"/>
                    <a:pt x="0" y="109855"/>
                  </a:cubicBezTo>
                  <a:close/>
                </a:path>
              </a:pathLst>
            </a:custGeom>
            <a:solidFill>
              <a:srgbClr val="2150FE"/>
            </a:solidFill>
            <a:ln w="12700">
              <a:solidFill>
                <a:srgbClr val="000000"/>
              </a:solidFill>
            </a:ln>
          </p:spPr>
        </p:sp>
      </p:grpSp>
      <p:grpSp>
        <p:nvGrpSpPr>
          <p:cNvPr id="24" name="Group 24"/>
          <p:cNvGrpSpPr/>
          <p:nvPr/>
        </p:nvGrpSpPr>
        <p:grpSpPr>
          <a:xfrm>
            <a:off x="3319611" y="7246292"/>
            <a:ext cx="637878" cy="637878"/>
            <a:chOff x="0" y="0"/>
            <a:chExt cx="850503" cy="850503"/>
          </a:xfrm>
        </p:grpSpPr>
        <p:sp>
          <p:nvSpPr>
            <p:cNvPr id="25" name="Freeform 25"/>
            <p:cNvSpPr/>
            <p:nvPr/>
          </p:nvSpPr>
          <p:spPr>
            <a:xfrm>
              <a:off x="0" y="0"/>
              <a:ext cx="850519" cy="850519"/>
            </a:xfrm>
            <a:custGeom>
              <a:avLst/>
              <a:gdLst/>
              <a:ahLst/>
              <a:cxnLst/>
              <a:rect l="l" t="t" r="r" b="b"/>
              <a:pathLst>
                <a:path w="850519" h="850519">
                  <a:moveTo>
                    <a:pt x="0" y="425196"/>
                  </a:moveTo>
                  <a:cubicBezTo>
                    <a:pt x="0" y="190373"/>
                    <a:pt x="190373" y="0"/>
                    <a:pt x="425196" y="0"/>
                  </a:cubicBezTo>
                  <a:cubicBezTo>
                    <a:pt x="660019" y="0"/>
                    <a:pt x="850519" y="190373"/>
                    <a:pt x="850519" y="425196"/>
                  </a:cubicBezTo>
                  <a:cubicBezTo>
                    <a:pt x="850519" y="660019"/>
                    <a:pt x="660146" y="850519"/>
                    <a:pt x="425196" y="850519"/>
                  </a:cubicBezTo>
                  <a:cubicBezTo>
                    <a:pt x="190246" y="850519"/>
                    <a:pt x="0" y="660146"/>
                    <a:pt x="0" y="425196"/>
                  </a:cubicBezTo>
                  <a:close/>
                </a:path>
              </a:pathLst>
            </a:custGeom>
            <a:solidFill>
              <a:srgbClr val="2150FE"/>
            </a:solidFill>
            <a:ln w="12700">
              <a:solidFill>
                <a:srgbClr val="000000"/>
              </a:solidFill>
            </a:ln>
          </p:spPr>
        </p:sp>
      </p:grpSp>
      <p:sp>
        <p:nvSpPr>
          <p:cNvPr id="26" name="TextBox 26"/>
          <p:cNvSpPr txBox="1"/>
          <p:nvPr/>
        </p:nvSpPr>
        <p:spPr>
          <a:xfrm>
            <a:off x="3511004" y="7319962"/>
            <a:ext cx="255091" cy="404664"/>
          </a:xfrm>
          <a:prstGeom prst="rect">
            <a:avLst/>
          </a:prstGeom>
        </p:spPr>
        <p:txBody>
          <a:bodyPr lIns="0" tIns="0" rIns="0" bIns="0" rtlCol="0" anchor="t">
            <a:spAutoFit/>
          </a:bodyPr>
          <a:lstStyle/>
          <a:p>
            <a:pPr algn="l">
              <a:lnSpc>
                <a:spcPts val="3187"/>
              </a:lnSpc>
            </a:pPr>
            <a:r>
              <a:rPr lang="en-US" sz="2000" b="1">
                <a:solidFill>
                  <a:srgbClr val="FFFFFF"/>
                </a:solidFill>
                <a:latin typeface="Crimson Pro Bold"/>
                <a:ea typeface="Crimson Pro Bold"/>
                <a:cs typeface="Crimson Pro Bold"/>
                <a:sym typeface="Crimson Pro Bold"/>
              </a:rPr>
              <a:t>1</a:t>
            </a:r>
          </a:p>
        </p:txBody>
      </p:sp>
      <p:sp>
        <p:nvSpPr>
          <p:cNvPr id="27" name="TextBox 27"/>
          <p:cNvSpPr txBox="1"/>
          <p:nvPr/>
        </p:nvSpPr>
        <p:spPr>
          <a:xfrm>
            <a:off x="1233339" y="8077795"/>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Simulate Parameters</a:t>
            </a:r>
          </a:p>
        </p:txBody>
      </p:sp>
      <p:sp>
        <p:nvSpPr>
          <p:cNvPr id="28" name="TextBox 28"/>
          <p:cNvSpPr txBox="1"/>
          <p:nvPr/>
        </p:nvSpPr>
        <p:spPr>
          <a:xfrm>
            <a:off x="1233339" y="8489900"/>
            <a:ext cx="4810571"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Generate realistic vehicle health data across multiple systems</a:t>
            </a:r>
          </a:p>
        </p:txBody>
      </p:sp>
      <p:grpSp>
        <p:nvGrpSpPr>
          <p:cNvPr id="29" name="Group 29"/>
          <p:cNvGrpSpPr/>
          <p:nvPr/>
        </p:nvGrpSpPr>
        <p:grpSpPr>
          <a:xfrm>
            <a:off x="6497539" y="7565231"/>
            <a:ext cx="5292775" cy="1912887"/>
            <a:chOff x="0" y="0"/>
            <a:chExt cx="7057033" cy="2550517"/>
          </a:xfrm>
        </p:grpSpPr>
        <p:sp>
          <p:nvSpPr>
            <p:cNvPr id="30" name="Freeform 30"/>
            <p:cNvSpPr/>
            <p:nvPr/>
          </p:nvSpPr>
          <p:spPr>
            <a:xfrm>
              <a:off x="0" y="0"/>
              <a:ext cx="7057010" cy="2550541"/>
            </a:xfrm>
            <a:custGeom>
              <a:avLst/>
              <a:gdLst/>
              <a:ahLst/>
              <a:cxnLst/>
              <a:rect l="l" t="t" r="r" b="b"/>
              <a:pathLst>
                <a:path w="7057010" h="2550541">
                  <a:moveTo>
                    <a:pt x="0" y="182880"/>
                  </a:moveTo>
                  <a:cubicBezTo>
                    <a:pt x="0" y="81915"/>
                    <a:pt x="81915" y="0"/>
                    <a:pt x="182880" y="0"/>
                  </a:cubicBezTo>
                  <a:lnTo>
                    <a:pt x="6874129" y="0"/>
                  </a:lnTo>
                  <a:cubicBezTo>
                    <a:pt x="6975094" y="0"/>
                    <a:pt x="7057010" y="81915"/>
                    <a:pt x="7057010" y="182880"/>
                  </a:cubicBezTo>
                  <a:lnTo>
                    <a:pt x="7057010" y="2367661"/>
                  </a:lnTo>
                  <a:cubicBezTo>
                    <a:pt x="7057010" y="2468626"/>
                    <a:pt x="6975094" y="2550541"/>
                    <a:pt x="6874129" y="2550541"/>
                  </a:cubicBezTo>
                  <a:lnTo>
                    <a:pt x="182880" y="2550541"/>
                  </a:lnTo>
                  <a:cubicBezTo>
                    <a:pt x="81915" y="2550541"/>
                    <a:pt x="0" y="2468626"/>
                    <a:pt x="0" y="2367661"/>
                  </a:cubicBezTo>
                  <a:close/>
                </a:path>
              </a:pathLst>
            </a:custGeom>
            <a:solidFill>
              <a:srgbClr val="FFFFFF"/>
            </a:solidFill>
            <a:ln w="12700">
              <a:solidFill>
                <a:srgbClr val="000000"/>
              </a:solidFill>
            </a:ln>
          </p:spPr>
        </p:sp>
      </p:grpSp>
      <p:grpSp>
        <p:nvGrpSpPr>
          <p:cNvPr id="31" name="Group 31"/>
          <p:cNvGrpSpPr/>
          <p:nvPr/>
        </p:nvGrpSpPr>
        <p:grpSpPr>
          <a:xfrm>
            <a:off x="6497539" y="7536656"/>
            <a:ext cx="5292775" cy="114300"/>
            <a:chOff x="0" y="0"/>
            <a:chExt cx="7057033" cy="152400"/>
          </a:xfrm>
        </p:grpSpPr>
        <p:sp>
          <p:nvSpPr>
            <p:cNvPr id="32" name="Freeform 32"/>
            <p:cNvSpPr/>
            <p:nvPr/>
          </p:nvSpPr>
          <p:spPr>
            <a:xfrm>
              <a:off x="0" y="0"/>
              <a:ext cx="7057009" cy="152400"/>
            </a:xfrm>
            <a:custGeom>
              <a:avLst/>
              <a:gdLst/>
              <a:ahLst/>
              <a:cxnLst/>
              <a:rect l="l" t="t" r="r" b="b"/>
              <a:pathLst>
                <a:path w="7057009" h="152400">
                  <a:moveTo>
                    <a:pt x="0" y="42545"/>
                  </a:moveTo>
                  <a:cubicBezTo>
                    <a:pt x="0" y="19050"/>
                    <a:pt x="19050" y="0"/>
                    <a:pt x="42545" y="0"/>
                  </a:cubicBezTo>
                  <a:lnTo>
                    <a:pt x="7014464" y="0"/>
                  </a:lnTo>
                  <a:cubicBezTo>
                    <a:pt x="7037959" y="0"/>
                    <a:pt x="7057009" y="19050"/>
                    <a:pt x="7057009" y="42545"/>
                  </a:cubicBezTo>
                  <a:lnTo>
                    <a:pt x="7057009" y="109855"/>
                  </a:lnTo>
                  <a:cubicBezTo>
                    <a:pt x="7057009" y="133350"/>
                    <a:pt x="7037959" y="152400"/>
                    <a:pt x="7014464" y="152400"/>
                  </a:cubicBezTo>
                  <a:lnTo>
                    <a:pt x="42545" y="152400"/>
                  </a:lnTo>
                  <a:cubicBezTo>
                    <a:pt x="19050" y="152400"/>
                    <a:pt x="0" y="133350"/>
                    <a:pt x="0" y="109855"/>
                  </a:cubicBezTo>
                  <a:close/>
                </a:path>
              </a:pathLst>
            </a:custGeom>
            <a:solidFill>
              <a:srgbClr val="2150FE"/>
            </a:solidFill>
            <a:ln w="12700">
              <a:solidFill>
                <a:srgbClr val="000000"/>
              </a:solidFill>
            </a:ln>
          </p:spPr>
        </p:sp>
      </p:grpSp>
      <p:grpSp>
        <p:nvGrpSpPr>
          <p:cNvPr id="33" name="Group 33"/>
          <p:cNvGrpSpPr/>
          <p:nvPr/>
        </p:nvGrpSpPr>
        <p:grpSpPr>
          <a:xfrm>
            <a:off x="8824912" y="7246292"/>
            <a:ext cx="637878" cy="637878"/>
            <a:chOff x="0" y="0"/>
            <a:chExt cx="850503" cy="850503"/>
          </a:xfrm>
        </p:grpSpPr>
        <p:sp>
          <p:nvSpPr>
            <p:cNvPr id="34" name="Freeform 34"/>
            <p:cNvSpPr/>
            <p:nvPr/>
          </p:nvSpPr>
          <p:spPr>
            <a:xfrm>
              <a:off x="0" y="0"/>
              <a:ext cx="850519" cy="850519"/>
            </a:xfrm>
            <a:custGeom>
              <a:avLst/>
              <a:gdLst/>
              <a:ahLst/>
              <a:cxnLst/>
              <a:rect l="l" t="t" r="r" b="b"/>
              <a:pathLst>
                <a:path w="850519" h="850519">
                  <a:moveTo>
                    <a:pt x="0" y="425196"/>
                  </a:moveTo>
                  <a:cubicBezTo>
                    <a:pt x="0" y="190373"/>
                    <a:pt x="190373" y="0"/>
                    <a:pt x="425196" y="0"/>
                  </a:cubicBezTo>
                  <a:cubicBezTo>
                    <a:pt x="660019" y="0"/>
                    <a:pt x="850519" y="190373"/>
                    <a:pt x="850519" y="425196"/>
                  </a:cubicBezTo>
                  <a:cubicBezTo>
                    <a:pt x="850519" y="660019"/>
                    <a:pt x="660146" y="850519"/>
                    <a:pt x="425196" y="850519"/>
                  </a:cubicBezTo>
                  <a:cubicBezTo>
                    <a:pt x="190246" y="850519"/>
                    <a:pt x="0" y="660146"/>
                    <a:pt x="0" y="425196"/>
                  </a:cubicBezTo>
                  <a:close/>
                </a:path>
              </a:pathLst>
            </a:custGeom>
            <a:solidFill>
              <a:srgbClr val="2150FE"/>
            </a:solidFill>
            <a:ln w="12700">
              <a:solidFill>
                <a:srgbClr val="000000"/>
              </a:solidFill>
            </a:ln>
          </p:spPr>
        </p:sp>
      </p:grpSp>
      <p:sp>
        <p:nvSpPr>
          <p:cNvPr id="35" name="TextBox 35"/>
          <p:cNvSpPr txBox="1"/>
          <p:nvPr/>
        </p:nvSpPr>
        <p:spPr>
          <a:xfrm>
            <a:off x="9016305" y="7319962"/>
            <a:ext cx="255091" cy="404664"/>
          </a:xfrm>
          <a:prstGeom prst="rect">
            <a:avLst/>
          </a:prstGeom>
        </p:spPr>
        <p:txBody>
          <a:bodyPr lIns="0" tIns="0" rIns="0" bIns="0" rtlCol="0" anchor="t">
            <a:spAutoFit/>
          </a:bodyPr>
          <a:lstStyle/>
          <a:p>
            <a:pPr algn="l">
              <a:lnSpc>
                <a:spcPts val="3187"/>
              </a:lnSpc>
            </a:pPr>
            <a:r>
              <a:rPr lang="en-US" sz="2000" b="1">
                <a:solidFill>
                  <a:srgbClr val="FFFFFF"/>
                </a:solidFill>
                <a:latin typeface="Crimson Pro Bold"/>
                <a:ea typeface="Crimson Pro Bold"/>
                <a:cs typeface="Crimson Pro Bold"/>
                <a:sym typeface="Crimson Pro Bold"/>
              </a:rPr>
              <a:t>2</a:t>
            </a:r>
          </a:p>
        </p:txBody>
      </p:sp>
      <p:sp>
        <p:nvSpPr>
          <p:cNvPr id="36" name="TextBox 36"/>
          <p:cNvSpPr txBox="1"/>
          <p:nvPr/>
        </p:nvSpPr>
        <p:spPr>
          <a:xfrm>
            <a:off x="6738640" y="8077795"/>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Configure Thresholds</a:t>
            </a:r>
          </a:p>
        </p:txBody>
      </p:sp>
      <p:sp>
        <p:nvSpPr>
          <p:cNvPr id="37" name="TextBox 37"/>
          <p:cNvSpPr txBox="1"/>
          <p:nvPr/>
        </p:nvSpPr>
        <p:spPr>
          <a:xfrm>
            <a:off x="6738640" y="8489900"/>
            <a:ext cx="4810571"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Set intelligent warning triggers based on operational patterns</a:t>
            </a:r>
          </a:p>
        </p:txBody>
      </p:sp>
      <p:grpSp>
        <p:nvGrpSpPr>
          <p:cNvPr id="38" name="Group 38"/>
          <p:cNvGrpSpPr/>
          <p:nvPr/>
        </p:nvGrpSpPr>
        <p:grpSpPr>
          <a:xfrm>
            <a:off x="12002840" y="7565231"/>
            <a:ext cx="5292775" cy="1912887"/>
            <a:chOff x="0" y="0"/>
            <a:chExt cx="7057033" cy="2550517"/>
          </a:xfrm>
        </p:grpSpPr>
        <p:sp>
          <p:nvSpPr>
            <p:cNvPr id="39" name="Freeform 39"/>
            <p:cNvSpPr/>
            <p:nvPr/>
          </p:nvSpPr>
          <p:spPr>
            <a:xfrm>
              <a:off x="0" y="0"/>
              <a:ext cx="7057010" cy="2550541"/>
            </a:xfrm>
            <a:custGeom>
              <a:avLst/>
              <a:gdLst/>
              <a:ahLst/>
              <a:cxnLst/>
              <a:rect l="l" t="t" r="r" b="b"/>
              <a:pathLst>
                <a:path w="7057010" h="2550541">
                  <a:moveTo>
                    <a:pt x="0" y="182880"/>
                  </a:moveTo>
                  <a:cubicBezTo>
                    <a:pt x="0" y="81915"/>
                    <a:pt x="81915" y="0"/>
                    <a:pt x="182880" y="0"/>
                  </a:cubicBezTo>
                  <a:lnTo>
                    <a:pt x="6874129" y="0"/>
                  </a:lnTo>
                  <a:cubicBezTo>
                    <a:pt x="6975094" y="0"/>
                    <a:pt x="7057010" y="81915"/>
                    <a:pt x="7057010" y="182880"/>
                  </a:cubicBezTo>
                  <a:lnTo>
                    <a:pt x="7057010" y="2367661"/>
                  </a:lnTo>
                  <a:cubicBezTo>
                    <a:pt x="7057010" y="2468626"/>
                    <a:pt x="6975094" y="2550541"/>
                    <a:pt x="6874129" y="2550541"/>
                  </a:cubicBezTo>
                  <a:lnTo>
                    <a:pt x="182880" y="2550541"/>
                  </a:lnTo>
                  <a:cubicBezTo>
                    <a:pt x="81915" y="2550541"/>
                    <a:pt x="0" y="2468626"/>
                    <a:pt x="0" y="2367661"/>
                  </a:cubicBezTo>
                  <a:close/>
                </a:path>
              </a:pathLst>
            </a:custGeom>
            <a:solidFill>
              <a:srgbClr val="FFFFFF"/>
            </a:solidFill>
            <a:ln w="12700">
              <a:solidFill>
                <a:srgbClr val="000000"/>
              </a:solidFill>
            </a:ln>
          </p:spPr>
        </p:sp>
      </p:grpSp>
      <p:grpSp>
        <p:nvGrpSpPr>
          <p:cNvPr id="40" name="Group 40"/>
          <p:cNvGrpSpPr/>
          <p:nvPr/>
        </p:nvGrpSpPr>
        <p:grpSpPr>
          <a:xfrm>
            <a:off x="12002840" y="7536656"/>
            <a:ext cx="5292775" cy="114300"/>
            <a:chOff x="0" y="0"/>
            <a:chExt cx="7057033" cy="152400"/>
          </a:xfrm>
        </p:grpSpPr>
        <p:sp>
          <p:nvSpPr>
            <p:cNvPr id="41" name="Freeform 41"/>
            <p:cNvSpPr/>
            <p:nvPr/>
          </p:nvSpPr>
          <p:spPr>
            <a:xfrm>
              <a:off x="0" y="0"/>
              <a:ext cx="7057009" cy="152400"/>
            </a:xfrm>
            <a:custGeom>
              <a:avLst/>
              <a:gdLst/>
              <a:ahLst/>
              <a:cxnLst/>
              <a:rect l="l" t="t" r="r" b="b"/>
              <a:pathLst>
                <a:path w="7057009" h="152400">
                  <a:moveTo>
                    <a:pt x="0" y="42545"/>
                  </a:moveTo>
                  <a:cubicBezTo>
                    <a:pt x="0" y="19050"/>
                    <a:pt x="19050" y="0"/>
                    <a:pt x="42545" y="0"/>
                  </a:cubicBezTo>
                  <a:lnTo>
                    <a:pt x="7014464" y="0"/>
                  </a:lnTo>
                  <a:cubicBezTo>
                    <a:pt x="7037959" y="0"/>
                    <a:pt x="7057009" y="19050"/>
                    <a:pt x="7057009" y="42545"/>
                  </a:cubicBezTo>
                  <a:lnTo>
                    <a:pt x="7057009" y="109855"/>
                  </a:lnTo>
                  <a:cubicBezTo>
                    <a:pt x="7057009" y="133350"/>
                    <a:pt x="7037959" y="152400"/>
                    <a:pt x="7014464" y="152400"/>
                  </a:cubicBezTo>
                  <a:lnTo>
                    <a:pt x="42545" y="152400"/>
                  </a:lnTo>
                  <a:cubicBezTo>
                    <a:pt x="19050" y="152400"/>
                    <a:pt x="0" y="133350"/>
                    <a:pt x="0" y="109855"/>
                  </a:cubicBezTo>
                  <a:close/>
                </a:path>
              </a:pathLst>
            </a:custGeom>
            <a:solidFill>
              <a:srgbClr val="2150FE"/>
            </a:solidFill>
            <a:ln w="12700">
              <a:solidFill>
                <a:srgbClr val="000000"/>
              </a:solidFill>
            </a:ln>
          </p:spPr>
        </p:sp>
      </p:grpSp>
      <p:grpSp>
        <p:nvGrpSpPr>
          <p:cNvPr id="42" name="Group 42"/>
          <p:cNvGrpSpPr/>
          <p:nvPr/>
        </p:nvGrpSpPr>
        <p:grpSpPr>
          <a:xfrm>
            <a:off x="14330214" y="7246292"/>
            <a:ext cx="637877" cy="637878"/>
            <a:chOff x="0" y="0"/>
            <a:chExt cx="850503" cy="850503"/>
          </a:xfrm>
        </p:grpSpPr>
        <p:sp>
          <p:nvSpPr>
            <p:cNvPr id="43" name="Freeform 43"/>
            <p:cNvSpPr/>
            <p:nvPr/>
          </p:nvSpPr>
          <p:spPr>
            <a:xfrm>
              <a:off x="0" y="0"/>
              <a:ext cx="850519" cy="850519"/>
            </a:xfrm>
            <a:custGeom>
              <a:avLst/>
              <a:gdLst/>
              <a:ahLst/>
              <a:cxnLst/>
              <a:rect l="l" t="t" r="r" b="b"/>
              <a:pathLst>
                <a:path w="850519" h="850519">
                  <a:moveTo>
                    <a:pt x="0" y="425196"/>
                  </a:moveTo>
                  <a:cubicBezTo>
                    <a:pt x="0" y="190373"/>
                    <a:pt x="190373" y="0"/>
                    <a:pt x="425196" y="0"/>
                  </a:cubicBezTo>
                  <a:cubicBezTo>
                    <a:pt x="660019" y="0"/>
                    <a:pt x="850519" y="190373"/>
                    <a:pt x="850519" y="425196"/>
                  </a:cubicBezTo>
                  <a:cubicBezTo>
                    <a:pt x="850519" y="660019"/>
                    <a:pt x="660146" y="850519"/>
                    <a:pt x="425196" y="850519"/>
                  </a:cubicBezTo>
                  <a:cubicBezTo>
                    <a:pt x="190246" y="850519"/>
                    <a:pt x="0" y="660146"/>
                    <a:pt x="0" y="425196"/>
                  </a:cubicBezTo>
                  <a:close/>
                </a:path>
              </a:pathLst>
            </a:custGeom>
            <a:solidFill>
              <a:srgbClr val="2150FE"/>
            </a:solidFill>
            <a:ln w="12700">
              <a:solidFill>
                <a:srgbClr val="000000"/>
              </a:solidFill>
            </a:ln>
          </p:spPr>
        </p:sp>
      </p:grpSp>
      <p:sp>
        <p:nvSpPr>
          <p:cNvPr id="44" name="TextBox 44"/>
          <p:cNvSpPr txBox="1"/>
          <p:nvPr/>
        </p:nvSpPr>
        <p:spPr>
          <a:xfrm>
            <a:off x="14521606" y="7319962"/>
            <a:ext cx="255091" cy="404664"/>
          </a:xfrm>
          <a:prstGeom prst="rect">
            <a:avLst/>
          </a:prstGeom>
        </p:spPr>
        <p:txBody>
          <a:bodyPr lIns="0" tIns="0" rIns="0" bIns="0" rtlCol="0" anchor="t">
            <a:spAutoFit/>
          </a:bodyPr>
          <a:lstStyle/>
          <a:p>
            <a:pPr algn="l">
              <a:lnSpc>
                <a:spcPts val="3187"/>
              </a:lnSpc>
            </a:pPr>
            <a:r>
              <a:rPr lang="en-US" sz="2000" b="1">
                <a:solidFill>
                  <a:srgbClr val="FFFFFF"/>
                </a:solidFill>
                <a:latin typeface="Crimson Pro Bold"/>
                <a:ea typeface="Crimson Pro Bold"/>
                <a:cs typeface="Crimson Pro Bold"/>
                <a:sym typeface="Crimson Pro Bold"/>
              </a:rPr>
              <a:t>3</a:t>
            </a:r>
          </a:p>
        </p:txBody>
      </p:sp>
      <p:sp>
        <p:nvSpPr>
          <p:cNvPr id="45" name="TextBox 45"/>
          <p:cNvSpPr txBox="1"/>
          <p:nvPr/>
        </p:nvSpPr>
        <p:spPr>
          <a:xfrm>
            <a:off x="12243941" y="8077795"/>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Visualise Analytics</a:t>
            </a:r>
          </a:p>
        </p:txBody>
      </p:sp>
      <p:sp>
        <p:nvSpPr>
          <p:cNvPr id="46" name="TextBox 46"/>
          <p:cNvSpPr txBox="1"/>
          <p:nvPr/>
        </p:nvSpPr>
        <p:spPr>
          <a:xfrm>
            <a:off x="12243941" y="8489900"/>
            <a:ext cx="4810571"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Create comprehensive dashboards with trend analysis and alerts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850237" y="867072"/>
            <a:ext cx="9445526" cy="1721644"/>
          </a:xfrm>
          <a:prstGeom prst="rect">
            <a:avLst/>
          </a:prstGeom>
        </p:spPr>
        <p:txBody>
          <a:bodyPr lIns="0" tIns="0" rIns="0" bIns="0" rtlCol="0" anchor="t">
            <a:spAutoFit/>
          </a:bodyPr>
          <a:lstStyle/>
          <a:p>
            <a:pPr algn="l">
              <a:lnSpc>
                <a:spcPts val="6625"/>
              </a:lnSpc>
            </a:pPr>
            <a:r>
              <a:rPr lang="en-US" sz="5250" b="1">
                <a:solidFill>
                  <a:srgbClr val="152D47"/>
                </a:solidFill>
                <a:latin typeface="Crimson Pro Bold"/>
                <a:ea typeface="Crimson Pro Bold"/>
                <a:cs typeface="Crimson Pro Bold"/>
                <a:sym typeface="Crimson Pro Bold"/>
              </a:rPr>
              <a:t>Module 5: Customer Booking &amp; Smart Recommendations</a:t>
            </a:r>
          </a:p>
        </p:txBody>
      </p:sp>
      <p:grpSp>
        <p:nvGrpSpPr>
          <p:cNvPr id="9" name="Group 9"/>
          <p:cNvGrpSpPr/>
          <p:nvPr/>
        </p:nvGrpSpPr>
        <p:grpSpPr>
          <a:xfrm>
            <a:off x="7850237" y="2992636"/>
            <a:ext cx="4588074" cy="3490912"/>
            <a:chOff x="0" y="0"/>
            <a:chExt cx="6117432" cy="4654550"/>
          </a:xfrm>
        </p:grpSpPr>
        <p:sp>
          <p:nvSpPr>
            <p:cNvPr id="10" name="Freeform 10"/>
            <p:cNvSpPr/>
            <p:nvPr/>
          </p:nvSpPr>
          <p:spPr>
            <a:xfrm>
              <a:off x="0" y="0"/>
              <a:ext cx="6117463" cy="4654550"/>
            </a:xfrm>
            <a:custGeom>
              <a:avLst/>
              <a:gdLst/>
              <a:ahLst/>
              <a:cxnLst/>
              <a:rect l="l" t="t" r="r" b="b"/>
              <a:pathLst>
                <a:path w="6117463" h="4654550">
                  <a:moveTo>
                    <a:pt x="0" y="53848"/>
                  </a:moveTo>
                  <a:cubicBezTo>
                    <a:pt x="0" y="24130"/>
                    <a:pt x="24130" y="0"/>
                    <a:pt x="53848" y="0"/>
                  </a:cubicBezTo>
                  <a:lnTo>
                    <a:pt x="6063615" y="0"/>
                  </a:lnTo>
                  <a:cubicBezTo>
                    <a:pt x="6093333" y="0"/>
                    <a:pt x="6117463" y="24130"/>
                    <a:pt x="6117463" y="53848"/>
                  </a:cubicBezTo>
                  <a:lnTo>
                    <a:pt x="6117463" y="4600702"/>
                  </a:lnTo>
                  <a:cubicBezTo>
                    <a:pt x="6117463" y="4630420"/>
                    <a:pt x="6093333" y="4654550"/>
                    <a:pt x="6063615" y="4654550"/>
                  </a:cubicBezTo>
                  <a:lnTo>
                    <a:pt x="53848" y="4654550"/>
                  </a:lnTo>
                  <a:cubicBezTo>
                    <a:pt x="24130" y="4654550"/>
                    <a:pt x="0" y="4630420"/>
                    <a:pt x="0" y="4600702"/>
                  </a:cubicBezTo>
                  <a:close/>
                </a:path>
              </a:pathLst>
            </a:custGeom>
            <a:solidFill>
              <a:srgbClr val="F2EEEE"/>
            </a:solidFill>
            <a:ln w="12700">
              <a:solidFill>
                <a:srgbClr val="000000"/>
              </a:solidFill>
            </a:ln>
          </p:spPr>
        </p:sp>
      </p:grpSp>
      <p:grpSp>
        <p:nvGrpSpPr>
          <p:cNvPr id="11" name="Group 11"/>
          <p:cNvGrpSpPr/>
          <p:nvPr/>
        </p:nvGrpSpPr>
        <p:grpSpPr>
          <a:xfrm>
            <a:off x="8119467" y="3261866"/>
            <a:ext cx="807988" cy="807987"/>
            <a:chOff x="0" y="0"/>
            <a:chExt cx="1077317" cy="1077317"/>
          </a:xfrm>
        </p:grpSpPr>
        <p:sp>
          <p:nvSpPr>
            <p:cNvPr id="12" name="Freeform 12"/>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13" name="Freeform 13" descr="preencoded.png"/>
          <p:cNvSpPr/>
          <p:nvPr/>
        </p:nvSpPr>
        <p:spPr>
          <a:xfrm>
            <a:off x="8341667" y="3483917"/>
            <a:ext cx="363588" cy="363588"/>
          </a:xfrm>
          <a:custGeom>
            <a:avLst/>
            <a:gdLst/>
            <a:ahLst/>
            <a:cxnLst/>
            <a:rect l="l" t="t" r="r" b="b"/>
            <a:pathLst>
              <a:path w="363588" h="363588">
                <a:moveTo>
                  <a:pt x="0" y="0"/>
                </a:moveTo>
                <a:lnTo>
                  <a:pt x="363588" y="0"/>
                </a:lnTo>
                <a:lnTo>
                  <a:pt x="363588" y="363588"/>
                </a:lnTo>
                <a:lnTo>
                  <a:pt x="0" y="36358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4" name="TextBox 14"/>
          <p:cNvSpPr txBox="1"/>
          <p:nvPr/>
        </p:nvSpPr>
        <p:spPr>
          <a:xfrm>
            <a:off x="8119467" y="4310509"/>
            <a:ext cx="3366939" cy="449313"/>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Search &amp; Filter</a:t>
            </a:r>
          </a:p>
        </p:txBody>
      </p:sp>
      <p:sp>
        <p:nvSpPr>
          <p:cNvPr id="15" name="TextBox 15"/>
          <p:cNvSpPr txBox="1"/>
          <p:nvPr/>
        </p:nvSpPr>
        <p:spPr>
          <a:xfrm>
            <a:off x="8119467" y="4835575"/>
            <a:ext cx="4049614"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Select vehicle type, location, and time with advanced filters.</a:t>
            </a:r>
          </a:p>
        </p:txBody>
      </p:sp>
      <p:grpSp>
        <p:nvGrpSpPr>
          <p:cNvPr id="16" name="Group 16"/>
          <p:cNvGrpSpPr/>
          <p:nvPr/>
        </p:nvGrpSpPr>
        <p:grpSpPr>
          <a:xfrm>
            <a:off x="12707541" y="2992636"/>
            <a:ext cx="4588222" cy="3490912"/>
            <a:chOff x="0" y="0"/>
            <a:chExt cx="6117630" cy="4654550"/>
          </a:xfrm>
        </p:grpSpPr>
        <p:sp>
          <p:nvSpPr>
            <p:cNvPr id="17" name="Freeform 17"/>
            <p:cNvSpPr/>
            <p:nvPr/>
          </p:nvSpPr>
          <p:spPr>
            <a:xfrm>
              <a:off x="0" y="0"/>
              <a:ext cx="6117590" cy="4654550"/>
            </a:xfrm>
            <a:custGeom>
              <a:avLst/>
              <a:gdLst/>
              <a:ahLst/>
              <a:cxnLst/>
              <a:rect l="l" t="t" r="r" b="b"/>
              <a:pathLst>
                <a:path w="6117590" h="4654550">
                  <a:moveTo>
                    <a:pt x="0" y="53848"/>
                  </a:moveTo>
                  <a:cubicBezTo>
                    <a:pt x="0" y="24130"/>
                    <a:pt x="24130" y="0"/>
                    <a:pt x="53848" y="0"/>
                  </a:cubicBezTo>
                  <a:lnTo>
                    <a:pt x="6063742" y="0"/>
                  </a:lnTo>
                  <a:cubicBezTo>
                    <a:pt x="6093460" y="0"/>
                    <a:pt x="6117590" y="24130"/>
                    <a:pt x="6117590" y="53848"/>
                  </a:cubicBezTo>
                  <a:lnTo>
                    <a:pt x="6117590" y="4600702"/>
                  </a:lnTo>
                  <a:cubicBezTo>
                    <a:pt x="6117590" y="4630420"/>
                    <a:pt x="6093460" y="4654550"/>
                    <a:pt x="6063742" y="4654550"/>
                  </a:cubicBezTo>
                  <a:lnTo>
                    <a:pt x="53848" y="4654550"/>
                  </a:lnTo>
                  <a:cubicBezTo>
                    <a:pt x="24130" y="4654550"/>
                    <a:pt x="0" y="4630420"/>
                    <a:pt x="0" y="4600702"/>
                  </a:cubicBezTo>
                  <a:close/>
                </a:path>
              </a:pathLst>
            </a:custGeom>
            <a:solidFill>
              <a:srgbClr val="F2EEEE"/>
            </a:solidFill>
            <a:ln w="12700">
              <a:solidFill>
                <a:srgbClr val="000000"/>
              </a:solidFill>
            </a:ln>
          </p:spPr>
        </p:sp>
      </p:grpSp>
      <p:grpSp>
        <p:nvGrpSpPr>
          <p:cNvPr id="18" name="Group 18"/>
          <p:cNvGrpSpPr/>
          <p:nvPr/>
        </p:nvGrpSpPr>
        <p:grpSpPr>
          <a:xfrm>
            <a:off x="12976771" y="3261866"/>
            <a:ext cx="807987" cy="807987"/>
            <a:chOff x="0" y="0"/>
            <a:chExt cx="1077317" cy="1077317"/>
          </a:xfrm>
        </p:grpSpPr>
        <p:sp>
          <p:nvSpPr>
            <p:cNvPr id="19" name="Freeform 19"/>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20" name="Freeform 20" descr="preencoded.png"/>
          <p:cNvSpPr/>
          <p:nvPr/>
        </p:nvSpPr>
        <p:spPr>
          <a:xfrm>
            <a:off x="13198971" y="3483917"/>
            <a:ext cx="363588" cy="363588"/>
          </a:xfrm>
          <a:custGeom>
            <a:avLst/>
            <a:gdLst/>
            <a:ahLst/>
            <a:cxnLst/>
            <a:rect l="l" t="t" r="r" b="b"/>
            <a:pathLst>
              <a:path w="363588" h="363588">
                <a:moveTo>
                  <a:pt x="0" y="0"/>
                </a:moveTo>
                <a:lnTo>
                  <a:pt x="363588" y="0"/>
                </a:lnTo>
                <a:lnTo>
                  <a:pt x="363588" y="363588"/>
                </a:lnTo>
                <a:lnTo>
                  <a:pt x="0" y="36358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1" name="TextBox 21"/>
          <p:cNvSpPr txBox="1"/>
          <p:nvPr/>
        </p:nvSpPr>
        <p:spPr>
          <a:xfrm>
            <a:off x="12976771" y="4310509"/>
            <a:ext cx="3366939" cy="449313"/>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AI Recommendations</a:t>
            </a:r>
          </a:p>
        </p:txBody>
      </p:sp>
      <p:sp>
        <p:nvSpPr>
          <p:cNvPr id="22" name="TextBox 22"/>
          <p:cNvSpPr txBox="1"/>
          <p:nvPr/>
        </p:nvSpPr>
        <p:spPr>
          <a:xfrm>
            <a:off x="12976771" y="4835575"/>
            <a:ext cx="4049762" cy="1378744"/>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Machine learning suggests best-fit vehicles based on past behaviour.</a:t>
            </a:r>
          </a:p>
        </p:txBody>
      </p:sp>
      <p:grpSp>
        <p:nvGrpSpPr>
          <p:cNvPr id="23" name="Group 23"/>
          <p:cNvGrpSpPr/>
          <p:nvPr/>
        </p:nvGrpSpPr>
        <p:grpSpPr>
          <a:xfrm>
            <a:off x="7850237" y="6752779"/>
            <a:ext cx="9445526" cy="2628900"/>
            <a:chOff x="0" y="0"/>
            <a:chExt cx="12594035" cy="3505200"/>
          </a:xfrm>
        </p:grpSpPr>
        <p:sp>
          <p:nvSpPr>
            <p:cNvPr id="24" name="Freeform 24"/>
            <p:cNvSpPr/>
            <p:nvPr/>
          </p:nvSpPr>
          <p:spPr>
            <a:xfrm>
              <a:off x="0" y="0"/>
              <a:ext cx="12593955" cy="3505200"/>
            </a:xfrm>
            <a:custGeom>
              <a:avLst/>
              <a:gdLst/>
              <a:ahLst/>
              <a:cxnLst/>
              <a:rect l="l" t="t" r="r" b="b"/>
              <a:pathLst>
                <a:path w="12593955" h="3505200">
                  <a:moveTo>
                    <a:pt x="0" y="53848"/>
                  </a:moveTo>
                  <a:cubicBezTo>
                    <a:pt x="0" y="24130"/>
                    <a:pt x="24130" y="0"/>
                    <a:pt x="53848" y="0"/>
                  </a:cubicBezTo>
                  <a:lnTo>
                    <a:pt x="12540107" y="0"/>
                  </a:lnTo>
                  <a:cubicBezTo>
                    <a:pt x="12569825" y="0"/>
                    <a:pt x="12593955" y="24130"/>
                    <a:pt x="12593955" y="53848"/>
                  </a:cubicBezTo>
                  <a:lnTo>
                    <a:pt x="12593955" y="3451352"/>
                  </a:lnTo>
                  <a:cubicBezTo>
                    <a:pt x="12593955" y="3481070"/>
                    <a:pt x="12569825" y="3505200"/>
                    <a:pt x="12540107" y="3505200"/>
                  </a:cubicBezTo>
                  <a:lnTo>
                    <a:pt x="53848" y="3505200"/>
                  </a:lnTo>
                  <a:cubicBezTo>
                    <a:pt x="24130" y="3505200"/>
                    <a:pt x="0" y="3481070"/>
                    <a:pt x="0" y="3451352"/>
                  </a:cubicBezTo>
                  <a:close/>
                </a:path>
              </a:pathLst>
            </a:custGeom>
            <a:solidFill>
              <a:srgbClr val="F2EEEE"/>
            </a:solidFill>
            <a:ln w="12700">
              <a:solidFill>
                <a:srgbClr val="000000"/>
              </a:solidFill>
            </a:ln>
          </p:spPr>
        </p:sp>
      </p:grpSp>
      <p:grpSp>
        <p:nvGrpSpPr>
          <p:cNvPr id="25" name="Group 25"/>
          <p:cNvGrpSpPr/>
          <p:nvPr/>
        </p:nvGrpSpPr>
        <p:grpSpPr>
          <a:xfrm>
            <a:off x="8119467" y="7022009"/>
            <a:ext cx="807988" cy="807988"/>
            <a:chOff x="0" y="0"/>
            <a:chExt cx="1077317" cy="1077317"/>
          </a:xfrm>
        </p:grpSpPr>
        <p:sp>
          <p:nvSpPr>
            <p:cNvPr id="26" name="Freeform 26"/>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27" name="Freeform 27" descr="preencoded.png"/>
          <p:cNvSpPr/>
          <p:nvPr/>
        </p:nvSpPr>
        <p:spPr>
          <a:xfrm>
            <a:off x="8341667" y="7244060"/>
            <a:ext cx="363588" cy="363588"/>
          </a:xfrm>
          <a:custGeom>
            <a:avLst/>
            <a:gdLst/>
            <a:ahLst/>
            <a:cxnLst/>
            <a:rect l="l" t="t" r="r" b="b"/>
            <a:pathLst>
              <a:path w="363588" h="363588">
                <a:moveTo>
                  <a:pt x="0" y="0"/>
                </a:moveTo>
                <a:lnTo>
                  <a:pt x="363588" y="0"/>
                </a:lnTo>
                <a:lnTo>
                  <a:pt x="363588" y="363587"/>
                </a:lnTo>
                <a:lnTo>
                  <a:pt x="0" y="36358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8" name="TextBox 28"/>
          <p:cNvSpPr txBox="1"/>
          <p:nvPr/>
        </p:nvSpPr>
        <p:spPr>
          <a:xfrm>
            <a:off x="8119467" y="8070651"/>
            <a:ext cx="3366939" cy="449312"/>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Calendar Integration</a:t>
            </a:r>
          </a:p>
        </p:txBody>
      </p:sp>
      <p:sp>
        <p:nvSpPr>
          <p:cNvPr id="29" name="TextBox 29"/>
          <p:cNvSpPr txBox="1"/>
          <p:nvPr/>
        </p:nvSpPr>
        <p:spPr>
          <a:xfrm>
            <a:off x="8119467" y="8595717"/>
            <a:ext cx="8907066" cy="516731"/>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Interactive calendar shows real-time availability and dynamic pricing.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3810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1510010"/>
            <a:ext cx="16762362" cy="790986"/>
          </a:xfrm>
          <a:prstGeom prst="rect">
            <a:avLst/>
          </a:prstGeom>
        </p:spPr>
        <p:txBody>
          <a:bodyPr wrap="square" lIns="0" tIns="0" rIns="0" bIns="0" rtlCol="0" anchor="t">
            <a:spAutoFit/>
          </a:bodyPr>
          <a:lstStyle/>
          <a:p>
            <a:pPr algn="l">
              <a:lnSpc>
                <a:spcPts val="6625"/>
              </a:lnSpc>
            </a:pPr>
            <a:r>
              <a:rPr lang="en-US" sz="5250" b="1" dirty="0">
                <a:solidFill>
                  <a:srgbClr val="152D47"/>
                </a:solidFill>
                <a:latin typeface="Crimson Pro Bold"/>
                <a:ea typeface="Crimson Pro Bold"/>
                <a:cs typeface="Crimson Pro Bold"/>
                <a:sym typeface="Crimson Pro Bold"/>
              </a:rPr>
              <a:t>Module 6: Admin Dashboard &amp; Urban Mobility Insights</a:t>
            </a:r>
          </a:p>
        </p:txBody>
      </p:sp>
      <p:sp>
        <p:nvSpPr>
          <p:cNvPr id="7" name="TextBox 7"/>
          <p:cNvSpPr txBox="1"/>
          <p:nvPr/>
        </p:nvSpPr>
        <p:spPr>
          <a:xfrm>
            <a:off x="992238" y="2842766"/>
            <a:ext cx="16303526" cy="947737"/>
          </a:xfrm>
          <a:prstGeom prst="rect">
            <a:avLst/>
          </a:prstGeom>
        </p:spPr>
        <p:txBody>
          <a:bodyPr lIns="0" tIns="0" rIns="0" bIns="0" rtlCol="0" anchor="t">
            <a:spAutoFit/>
          </a:bodyPr>
          <a:lstStyle/>
          <a:p>
            <a:pPr algn="l">
              <a:lnSpc>
                <a:spcPts val="3374"/>
              </a:lnSpc>
            </a:pPr>
            <a:r>
              <a:rPr lang="en-US" sz="2062" dirty="0">
                <a:solidFill>
                  <a:srgbClr val="4C4C4D"/>
                </a:solidFill>
                <a:latin typeface="Heebo"/>
                <a:ea typeface="Heebo"/>
                <a:cs typeface="Heebo"/>
                <a:sym typeface="Heebo"/>
              </a:rPr>
              <a:t>Comprehensive administrative control </a:t>
            </a:r>
            <a:r>
              <a:rPr lang="en-US" sz="2062" dirty="0" err="1">
                <a:solidFill>
                  <a:srgbClr val="4C4C4D"/>
                </a:solidFill>
                <a:latin typeface="Heebo"/>
                <a:ea typeface="Heebo"/>
                <a:cs typeface="Heebo"/>
                <a:sym typeface="Heebo"/>
              </a:rPr>
              <a:t>centre</a:t>
            </a:r>
            <a:r>
              <a:rPr lang="en-US" sz="2062" dirty="0">
                <a:solidFill>
                  <a:srgbClr val="4C4C4D"/>
                </a:solidFill>
                <a:latin typeface="Heebo"/>
                <a:ea typeface="Heebo"/>
                <a:cs typeface="Heebo"/>
                <a:sym typeface="Heebo"/>
              </a:rPr>
              <a:t> providing real-time fleet visibility, urban mobility analytics, and actionable insights. Interactive heatmaps reveal trip density patterns whilst </a:t>
            </a:r>
            <a:r>
              <a:rPr lang="en-US" sz="2062" dirty="0" err="1">
                <a:solidFill>
                  <a:srgbClr val="4C4C4D"/>
                </a:solidFill>
                <a:latin typeface="Heebo"/>
                <a:ea typeface="Heebo"/>
                <a:cs typeface="Heebo"/>
                <a:sym typeface="Heebo"/>
              </a:rPr>
              <a:t>customisable</a:t>
            </a:r>
            <a:r>
              <a:rPr lang="en-US" sz="2062" dirty="0">
                <a:solidFill>
                  <a:srgbClr val="4C4C4D"/>
                </a:solidFill>
                <a:latin typeface="Heebo"/>
                <a:ea typeface="Heebo"/>
                <a:cs typeface="Heebo"/>
                <a:sym typeface="Heebo"/>
              </a:rPr>
              <a:t> reports enable data-driven decision-making for strategic planning.</a:t>
            </a:r>
          </a:p>
        </p:txBody>
      </p:sp>
      <p:sp>
        <p:nvSpPr>
          <p:cNvPr id="8" name="TextBox 8"/>
          <p:cNvSpPr txBox="1"/>
          <p:nvPr/>
        </p:nvSpPr>
        <p:spPr>
          <a:xfrm>
            <a:off x="992238" y="4334172"/>
            <a:ext cx="3366939" cy="449313"/>
          </a:xfrm>
          <a:prstGeom prst="rect">
            <a:avLst/>
          </a:prstGeom>
        </p:spPr>
        <p:txBody>
          <a:bodyPr lIns="0" tIns="0" rIns="0" bIns="0" rtlCol="0" anchor="t">
            <a:spAutoFit/>
          </a:bodyPr>
          <a:lstStyle/>
          <a:p>
            <a:pPr algn="l">
              <a:lnSpc>
                <a:spcPts val="3312"/>
              </a:lnSpc>
            </a:pPr>
            <a:r>
              <a:rPr lang="en-US" sz="2625" b="1" dirty="0">
                <a:solidFill>
                  <a:srgbClr val="4C4C4D"/>
                </a:solidFill>
                <a:latin typeface="Crimson Pro Bold"/>
                <a:ea typeface="Crimson Pro Bold"/>
                <a:cs typeface="Crimson Pro Bold"/>
                <a:sym typeface="Crimson Pro Bold"/>
              </a:rPr>
              <a:t>KPI Monitoring</a:t>
            </a:r>
          </a:p>
        </p:txBody>
      </p:sp>
      <p:sp>
        <p:nvSpPr>
          <p:cNvPr id="9" name="TextBox 9"/>
          <p:cNvSpPr txBox="1"/>
          <p:nvPr/>
        </p:nvSpPr>
        <p:spPr>
          <a:xfrm>
            <a:off x="992238" y="4859239"/>
            <a:ext cx="5210026"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Total fleet, daily trips, and active routes tracked in real-time</a:t>
            </a:r>
          </a:p>
        </p:txBody>
      </p:sp>
      <p:sp>
        <p:nvSpPr>
          <p:cNvPr id="15" name="TextBox 15"/>
          <p:cNvSpPr txBox="1"/>
          <p:nvPr/>
        </p:nvSpPr>
        <p:spPr>
          <a:xfrm>
            <a:off x="6539061" y="4381500"/>
            <a:ext cx="3366939" cy="449313"/>
          </a:xfrm>
          <a:prstGeom prst="rect">
            <a:avLst/>
          </a:prstGeom>
        </p:spPr>
        <p:txBody>
          <a:bodyPr lIns="0" tIns="0" rIns="0" bIns="0" rtlCol="0" anchor="t">
            <a:spAutoFit/>
          </a:bodyPr>
          <a:lstStyle/>
          <a:p>
            <a:pPr algn="l">
              <a:lnSpc>
                <a:spcPts val="3312"/>
              </a:lnSpc>
            </a:pPr>
            <a:r>
              <a:rPr lang="en-US" sz="2625" b="1" dirty="0">
                <a:solidFill>
                  <a:srgbClr val="4C4C4D"/>
                </a:solidFill>
                <a:latin typeface="Crimson Pro Bold"/>
                <a:ea typeface="Crimson Pro Bold"/>
                <a:cs typeface="Crimson Pro Bold"/>
                <a:sym typeface="Crimson Pro Bold"/>
              </a:rPr>
              <a:t>Heatmap </a:t>
            </a:r>
            <a:r>
              <a:rPr lang="en-US" sz="2625" b="1" dirty="0" err="1">
                <a:solidFill>
                  <a:srgbClr val="4C4C4D"/>
                </a:solidFill>
                <a:latin typeface="Crimson Pro Bold"/>
                <a:ea typeface="Crimson Pro Bold"/>
                <a:cs typeface="Crimson Pro Bold"/>
                <a:sym typeface="Crimson Pro Bold"/>
              </a:rPr>
              <a:t>Visualisation</a:t>
            </a:r>
            <a:endParaRPr lang="en-US" sz="2625" b="1" dirty="0">
              <a:solidFill>
                <a:srgbClr val="4C4C4D"/>
              </a:solidFill>
              <a:latin typeface="Crimson Pro Bold"/>
              <a:ea typeface="Crimson Pro Bold"/>
              <a:cs typeface="Crimson Pro Bold"/>
              <a:sym typeface="Crimson Pro Bold"/>
            </a:endParaRPr>
          </a:p>
        </p:txBody>
      </p:sp>
      <p:sp>
        <p:nvSpPr>
          <p:cNvPr id="16" name="TextBox 16"/>
          <p:cNvSpPr txBox="1"/>
          <p:nvPr/>
        </p:nvSpPr>
        <p:spPr>
          <a:xfrm>
            <a:off x="6538912" y="4859239"/>
            <a:ext cx="5210026" cy="947737"/>
          </a:xfrm>
          <a:prstGeom prst="rect">
            <a:avLst/>
          </a:prstGeom>
        </p:spPr>
        <p:txBody>
          <a:bodyPr lIns="0" tIns="0" rIns="0" bIns="0" rtlCol="0" anchor="t">
            <a:spAutoFit/>
          </a:bodyPr>
          <a:lstStyle/>
          <a:p>
            <a:pPr algn="l">
              <a:lnSpc>
                <a:spcPts val="3374"/>
              </a:lnSpc>
            </a:pPr>
            <a:r>
              <a:rPr lang="en-US" sz="2062" dirty="0">
                <a:solidFill>
                  <a:srgbClr val="4C4C4D"/>
                </a:solidFill>
                <a:latin typeface="Heebo"/>
                <a:ea typeface="Heebo"/>
                <a:cs typeface="Heebo"/>
                <a:sym typeface="Heebo"/>
              </a:rPr>
              <a:t>Geographic distribution overlaid on city layouts with density indicators</a:t>
            </a:r>
          </a:p>
        </p:txBody>
      </p:sp>
      <p:sp>
        <p:nvSpPr>
          <p:cNvPr id="22" name="TextBox 22"/>
          <p:cNvSpPr txBox="1"/>
          <p:nvPr/>
        </p:nvSpPr>
        <p:spPr>
          <a:xfrm>
            <a:off x="12101661" y="4372048"/>
            <a:ext cx="3366939" cy="449313"/>
          </a:xfrm>
          <a:prstGeom prst="rect">
            <a:avLst/>
          </a:prstGeom>
        </p:spPr>
        <p:txBody>
          <a:bodyPr lIns="0" tIns="0" rIns="0" bIns="0" rtlCol="0" anchor="t">
            <a:spAutoFit/>
          </a:bodyPr>
          <a:lstStyle/>
          <a:p>
            <a:pPr algn="l">
              <a:lnSpc>
                <a:spcPts val="3312"/>
              </a:lnSpc>
            </a:pPr>
            <a:r>
              <a:rPr lang="en-US" sz="2625" b="1" dirty="0">
                <a:solidFill>
                  <a:srgbClr val="4C4C4D"/>
                </a:solidFill>
                <a:latin typeface="Crimson Pro Bold"/>
                <a:ea typeface="Crimson Pro Bold"/>
                <a:cs typeface="Crimson Pro Bold"/>
                <a:sym typeface="Crimson Pro Bold"/>
              </a:rPr>
              <a:t>Activity Analytics</a:t>
            </a:r>
          </a:p>
        </p:txBody>
      </p:sp>
      <p:sp>
        <p:nvSpPr>
          <p:cNvPr id="23" name="TextBox 23"/>
          <p:cNvSpPr txBox="1"/>
          <p:nvPr/>
        </p:nvSpPr>
        <p:spPr>
          <a:xfrm>
            <a:off x="12085587" y="4859239"/>
            <a:ext cx="5210175"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Bar charts showing hourly rental patterns and usage trends</a:t>
            </a:r>
          </a:p>
        </p:txBody>
      </p:sp>
      <p:grpSp>
        <p:nvGrpSpPr>
          <p:cNvPr id="24" name="Group 24"/>
          <p:cNvGrpSpPr/>
          <p:nvPr/>
        </p:nvGrpSpPr>
        <p:grpSpPr>
          <a:xfrm>
            <a:off x="992238" y="6109990"/>
            <a:ext cx="8017074" cy="2628900"/>
            <a:chOff x="0" y="0"/>
            <a:chExt cx="10689432" cy="3505200"/>
          </a:xfrm>
        </p:grpSpPr>
        <p:sp>
          <p:nvSpPr>
            <p:cNvPr id="25" name="Freeform 25"/>
            <p:cNvSpPr/>
            <p:nvPr/>
          </p:nvSpPr>
          <p:spPr>
            <a:xfrm>
              <a:off x="0" y="0"/>
              <a:ext cx="10689336" cy="3505200"/>
            </a:xfrm>
            <a:custGeom>
              <a:avLst/>
              <a:gdLst/>
              <a:ahLst/>
              <a:cxnLst/>
              <a:rect l="l" t="t" r="r" b="b"/>
              <a:pathLst>
                <a:path w="10689336" h="3505200">
                  <a:moveTo>
                    <a:pt x="0" y="53848"/>
                  </a:moveTo>
                  <a:cubicBezTo>
                    <a:pt x="0" y="24130"/>
                    <a:pt x="24130" y="0"/>
                    <a:pt x="53848" y="0"/>
                  </a:cubicBezTo>
                  <a:lnTo>
                    <a:pt x="10635488" y="0"/>
                  </a:lnTo>
                  <a:cubicBezTo>
                    <a:pt x="10665206" y="0"/>
                    <a:pt x="10689336" y="24130"/>
                    <a:pt x="10689336" y="53848"/>
                  </a:cubicBezTo>
                  <a:lnTo>
                    <a:pt x="10689336" y="3451352"/>
                  </a:lnTo>
                  <a:cubicBezTo>
                    <a:pt x="10689336" y="3481070"/>
                    <a:pt x="10665206" y="3505200"/>
                    <a:pt x="10635488" y="3505200"/>
                  </a:cubicBezTo>
                  <a:lnTo>
                    <a:pt x="53848" y="3505200"/>
                  </a:lnTo>
                  <a:cubicBezTo>
                    <a:pt x="24130" y="3505200"/>
                    <a:pt x="0" y="3481070"/>
                    <a:pt x="0" y="3451352"/>
                  </a:cubicBezTo>
                  <a:close/>
                </a:path>
              </a:pathLst>
            </a:custGeom>
            <a:solidFill>
              <a:srgbClr val="F2EEEE"/>
            </a:solidFill>
            <a:ln w="12700">
              <a:solidFill>
                <a:srgbClr val="000000"/>
              </a:solidFill>
            </a:ln>
          </p:spPr>
        </p:sp>
      </p:grpSp>
      <p:grpSp>
        <p:nvGrpSpPr>
          <p:cNvPr id="26" name="Group 26"/>
          <p:cNvGrpSpPr/>
          <p:nvPr/>
        </p:nvGrpSpPr>
        <p:grpSpPr>
          <a:xfrm>
            <a:off x="1261468" y="6379220"/>
            <a:ext cx="807987" cy="807988"/>
            <a:chOff x="0" y="0"/>
            <a:chExt cx="1077317" cy="1077317"/>
          </a:xfrm>
        </p:grpSpPr>
        <p:sp>
          <p:nvSpPr>
            <p:cNvPr id="27" name="Freeform 27"/>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28" name="Freeform 28" descr="preencoded.png"/>
          <p:cNvSpPr/>
          <p:nvPr/>
        </p:nvSpPr>
        <p:spPr>
          <a:xfrm>
            <a:off x="1483668" y="6601271"/>
            <a:ext cx="363588" cy="363588"/>
          </a:xfrm>
          <a:custGeom>
            <a:avLst/>
            <a:gdLst/>
            <a:ahLst/>
            <a:cxnLst/>
            <a:rect l="l" t="t" r="r" b="b"/>
            <a:pathLst>
              <a:path w="363588" h="363588">
                <a:moveTo>
                  <a:pt x="0" y="0"/>
                </a:moveTo>
                <a:lnTo>
                  <a:pt x="363587" y="0"/>
                </a:lnTo>
                <a:lnTo>
                  <a:pt x="363587" y="363588"/>
                </a:lnTo>
                <a:lnTo>
                  <a:pt x="0" y="363588"/>
                </a:lnTo>
                <a:lnTo>
                  <a:pt x="0" y="0"/>
                </a:lnTo>
                <a:close/>
              </a:path>
            </a:pathLst>
          </a:custGeom>
          <a:blipFill>
            <a:blip r:embed="rId3">
              <a:extLst>
                <a:ext uri="{96DAC541-7B7A-43D3-8B79-37D633B846F1}">
                  <asvg:svgBlip xmlns:asvg="http://schemas.microsoft.com/office/drawing/2016/SVG/main" r:embed="rId4"/>
                </a:ext>
              </a:extLst>
            </a:blip>
            <a:stretch>
              <a:fillRect t="-7692" b="-7692"/>
            </a:stretch>
          </a:blipFill>
        </p:spPr>
      </p:sp>
      <p:sp>
        <p:nvSpPr>
          <p:cNvPr id="29" name="TextBox 29"/>
          <p:cNvSpPr txBox="1"/>
          <p:nvPr/>
        </p:nvSpPr>
        <p:spPr>
          <a:xfrm>
            <a:off x="1261468" y="7427862"/>
            <a:ext cx="3366939" cy="449312"/>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Exportable Reports</a:t>
            </a:r>
          </a:p>
        </p:txBody>
      </p:sp>
      <p:sp>
        <p:nvSpPr>
          <p:cNvPr id="30" name="TextBox 30"/>
          <p:cNvSpPr txBox="1"/>
          <p:nvPr/>
        </p:nvSpPr>
        <p:spPr>
          <a:xfrm>
            <a:off x="1261468" y="7952929"/>
            <a:ext cx="7478614" cy="516731"/>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CSV and PDF formats for compliance and analysis</a:t>
            </a:r>
          </a:p>
        </p:txBody>
      </p:sp>
      <p:grpSp>
        <p:nvGrpSpPr>
          <p:cNvPr id="31" name="Group 31"/>
          <p:cNvGrpSpPr/>
          <p:nvPr/>
        </p:nvGrpSpPr>
        <p:grpSpPr>
          <a:xfrm>
            <a:off x="9278541" y="6109990"/>
            <a:ext cx="8017222" cy="2628900"/>
            <a:chOff x="0" y="0"/>
            <a:chExt cx="10689630" cy="3505200"/>
          </a:xfrm>
        </p:grpSpPr>
        <p:sp>
          <p:nvSpPr>
            <p:cNvPr id="32" name="Freeform 32"/>
            <p:cNvSpPr/>
            <p:nvPr/>
          </p:nvSpPr>
          <p:spPr>
            <a:xfrm>
              <a:off x="0" y="0"/>
              <a:ext cx="10689590" cy="3505200"/>
            </a:xfrm>
            <a:custGeom>
              <a:avLst/>
              <a:gdLst/>
              <a:ahLst/>
              <a:cxnLst/>
              <a:rect l="l" t="t" r="r" b="b"/>
              <a:pathLst>
                <a:path w="10689590" h="3505200">
                  <a:moveTo>
                    <a:pt x="0" y="53848"/>
                  </a:moveTo>
                  <a:cubicBezTo>
                    <a:pt x="0" y="24130"/>
                    <a:pt x="24130" y="0"/>
                    <a:pt x="53848" y="0"/>
                  </a:cubicBezTo>
                  <a:lnTo>
                    <a:pt x="10635742" y="0"/>
                  </a:lnTo>
                  <a:cubicBezTo>
                    <a:pt x="10665461" y="0"/>
                    <a:pt x="10689590" y="24130"/>
                    <a:pt x="10689590" y="53848"/>
                  </a:cubicBezTo>
                  <a:lnTo>
                    <a:pt x="10689590" y="3451352"/>
                  </a:lnTo>
                  <a:cubicBezTo>
                    <a:pt x="10689590" y="3481070"/>
                    <a:pt x="10665461" y="3505200"/>
                    <a:pt x="10635742" y="3505200"/>
                  </a:cubicBezTo>
                  <a:lnTo>
                    <a:pt x="53848" y="3505200"/>
                  </a:lnTo>
                  <a:cubicBezTo>
                    <a:pt x="24130" y="3505200"/>
                    <a:pt x="0" y="3481070"/>
                    <a:pt x="0" y="3451352"/>
                  </a:cubicBezTo>
                  <a:close/>
                </a:path>
              </a:pathLst>
            </a:custGeom>
            <a:solidFill>
              <a:srgbClr val="F2EEEE"/>
            </a:solidFill>
            <a:ln w="12700">
              <a:solidFill>
                <a:srgbClr val="000000"/>
              </a:solidFill>
            </a:ln>
          </p:spPr>
        </p:sp>
      </p:grpSp>
      <p:grpSp>
        <p:nvGrpSpPr>
          <p:cNvPr id="33" name="Group 33"/>
          <p:cNvGrpSpPr/>
          <p:nvPr/>
        </p:nvGrpSpPr>
        <p:grpSpPr>
          <a:xfrm>
            <a:off x="9547771" y="6379220"/>
            <a:ext cx="807988" cy="807988"/>
            <a:chOff x="0" y="0"/>
            <a:chExt cx="1077317" cy="1077317"/>
          </a:xfrm>
        </p:grpSpPr>
        <p:sp>
          <p:nvSpPr>
            <p:cNvPr id="34" name="Freeform 34"/>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35" name="Freeform 35" descr="preencoded.png"/>
          <p:cNvSpPr/>
          <p:nvPr/>
        </p:nvSpPr>
        <p:spPr>
          <a:xfrm>
            <a:off x="9769971" y="6601271"/>
            <a:ext cx="363588" cy="363588"/>
          </a:xfrm>
          <a:custGeom>
            <a:avLst/>
            <a:gdLst/>
            <a:ahLst/>
            <a:cxnLst/>
            <a:rect l="l" t="t" r="r" b="b"/>
            <a:pathLst>
              <a:path w="363588" h="363588">
                <a:moveTo>
                  <a:pt x="0" y="0"/>
                </a:moveTo>
                <a:lnTo>
                  <a:pt x="363588" y="0"/>
                </a:lnTo>
                <a:lnTo>
                  <a:pt x="363588" y="363588"/>
                </a:lnTo>
                <a:lnTo>
                  <a:pt x="0" y="36358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36" name="TextBox 36"/>
          <p:cNvSpPr txBox="1"/>
          <p:nvPr/>
        </p:nvSpPr>
        <p:spPr>
          <a:xfrm>
            <a:off x="9547771" y="7427862"/>
            <a:ext cx="3366939" cy="449312"/>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Chart.js Integration</a:t>
            </a:r>
          </a:p>
        </p:txBody>
      </p:sp>
      <p:sp>
        <p:nvSpPr>
          <p:cNvPr id="37" name="TextBox 37"/>
          <p:cNvSpPr txBox="1"/>
          <p:nvPr/>
        </p:nvSpPr>
        <p:spPr>
          <a:xfrm>
            <a:off x="9547771" y="7952929"/>
            <a:ext cx="7478762" cy="516731"/>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Dynamic visualisations with ApexCharts and Recharts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850237" y="1278136"/>
            <a:ext cx="4607421" cy="595015"/>
          </a:xfrm>
          <a:prstGeom prst="rect">
            <a:avLst/>
          </a:prstGeom>
        </p:spPr>
        <p:txBody>
          <a:bodyPr lIns="0" tIns="0" rIns="0" bIns="0" rtlCol="0" anchor="t">
            <a:spAutoFit/>
          </a:bodyPr>
          <a:lstStyle/>
          <a:p>
            <a:pPr algn="l">
              <a:lnSpc>
                <a:spcPts val="4499"/>
              </a:lnSpc>
            </a:pPr>
            <a:r>
              <a:rPr lang="en-US" sz="3625" b="1">
                <a:solidFill>
                  <a:srgbClr val="152D47"/>
                </a:solidFill>
                <a:latin typeface="Crimson Pro Bold"/>
                <a:ea typeface="Crimson Pro Bold"/>
                <a:cs typeface="Crimson Pro Bold"/>
                <a:sym typeface="Crimson Pro Bold"/>
              </a:rPr>
              <a:t>Technology Stack</a:t>
            </a:r>
          </a:p>
        </p:txBody>
      </p:sp>
      <p:grpSp>
        <p:nvGrpSpPr>
          <p:cNvPr id="9" name="Group 9"/>
          <p:cNvGrpSpPr/>
          <p:nvPr/>
        </p:nvGrpSpPr>
        <p:grpSpPr>
          <a:xfrm>
            <a:off x="7840712" y="2347318"/>
            <a:ext cx="4517082" cy="1487240"/>
            <a:chOff x="0" y="0"/>
            <a:chExt cx="6022777" cy="1982987"/>
          </a:xfrm>
        </p:grpSpPr>
        <p:sp>
          <p:nvSpPr>
            <p:cNvPr id="10" name="Freeform 10"/>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11" name="Freeform 11"/>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84C1FA"/>
            </a:solidFill>
            <a:ln w="12700">
              <a:solidFill>
                <a:srgbClr val="000000"/>
              </a:solidFill>
            </a:ln>
          </p:spPr>
        </p:sp>
      </p:grpSp>
      <p:grpSp>
        <p:nvGrpSpPr>
          <p:cNvPr id="12" name="Group 12"/>
          <p:cNvGrpSpPr/>
          <p:nvPr/>
        </p:nvGrpSpPr>
        <p:grpSpPr>
          <a:xfrm>
            <a:off x="7831188" y="2356842"/>
            <a:ext cx="76200" cy="1468190"/>
            <a:chOff x="0" y="0"/>
            <a:chExt cx="101600" cy="1957587"/>
          </a:xfrm>
        </p:grpSpPr>
        <p:sp>
          <p:nvSpPr>
            <p:cNvPr id="13" name="Freeform 13"/>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84C1FA"/>
            </a:solidFill>
            <a:ln w="12700">
              <a:solidFill>
                <a:srgbClr val="000000"/>
              </a:solidFill>
            </a:ln>
          </p:spPr>
        </p:sp>
      </p:grpSp>
      <p:sp>
        <p:nvSpPr>
          <p:cNvPr id="14" name="TextBox 14"/>
          <p:cNvSpPr txBox="1"/>
          <p:nvPr/>
        </p:nvSpPr>
        <p:spPr>
          <a:xfrm>
            <a:off x="8110686" y="2541091"/>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Frontend Layer</a:t>
            </a:r>
          </a:p>
        </p:txBody>
      </p:sp>
      <p:sp>
        <p:nvSpPr>
          <p:cNvPr id="15" name="TextBox 15"/>
          <p:cNvSpPr txBox="1"/>
          <p:nvPr/>
        </p:nvSpPr>
        <p:spPr>
          <a:xfrm>
            <a:off x="8110686" y="2984747"/>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React </a:t>
            </a:r>
            <a:r>
              <a:rPr lang="en-US" sz="1437">
                <a:solidFill>
                  <a:srgbClr val="4C4C4D"/>
                </a:solidFill>
                <a:latin typeface="Heebo"/>
                <a:ea typeface="Heebo"/>
                <a:cs typeface="Heebo"/>
                <a:sym typeface="Heebo"/>
              </a:rPr>
              <a:t> for responsive, modern user interfaces with component-based architecture</a:t>
            </a:r>
          </a:p>
        </p:txBody>
      </p:sp>
      <p:grpSp>
        <p:nvGrpSpPr>
          <p:cNvPr id="16" name="Group 16"/>
          <p:cNvGrpSpPr/>
          <p:nvPr/>
        </p:nvGrpSpPr>
        <p:grpSpPr>
          <a:xfrm>
            <a:off x="7840712" y="3999756"/>
            <a:ext cx="4517082" cy="1487240"/>
            <a:chOff x="0" y="0"/>
            <a:chExt cx="6022777" cy="1982987"/>
          </a:xfrm>
        </p:grpSpPr>
        <p:sp>
          <p:nvSpPr>
            <p:cNvPr id="17" name="Freeform 17"/>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18" name="Freeform 18"/>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0540AD"/>
            </a:solidFill>
            <a:ln w="12700">
              <a:solidFill>
                <a:srgbClr val="000000"/>
              </a:solidFill>
            </a:ln>
          </p:spPr>
        </p:sp>
      </p:grpSp>
      <p:grpSp>
        <p:nvGrpSpPr>
          <p:cNvPr id="19" name="Group 19"/>
          <p:cNvGrpSpPr/>
          <p:nvPr/>
        </p:nvGrpSpPr>
        <p:grpSpPr>
          <a:xfrm>
            <a:off x="7831188" y="4009281"/>
            <a:ext cx="76200" cy="1468190"/>
            <a:chOff x="0" y="0"/>
            <a:chExt cx="101600" cy="1957587"/>
          </a:xfrm>
        </p:grpSpPr>
        <p:sp>
          <p:nvSpPr>
            <p:cNvPr id="20" name="Freeform 20"/>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0540AD"/>
            </a:solidFill>
            <a:ln w="12700">
              <a:solidFill>
                <a:srgbClr val="000000"/>
              </a:solidFill>
            </a:ln>
          </p:spPr>
        </p:sp>
      </p:grpSp>
      <p:sp>
        <p:nvSpPr>
          <p:cNvPr id="21" name="TextBox 21"/>
          <p:cNvSpPr txBox="1"/>
          <p:nvPr/>
        </p:nvSpPr>
        <p:spPr>
          <a:xfrm>
            <a:off x="8110686" y="4193530"/>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Backend Services</a:t>
            </a:r>
          </a:p>
        </p:txBody>
      </p:sp>
      <p:sp>
        <p:nvSpPr>
          <p:cNvPr id="22" name="TextBox 22"/>
          <p:cNvSpPr txBox="1"/>
          <p:nvPr/>
        </p:nvSpPr>
        <p:spPr>
          <a:xfrm>
            <a:off x="8110686" y="4637186"/>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Java Spring Boot</a:t>
            </a:r>
            <a:r>
              <a:rPr lang="en-US" sz="1437">
                <a:solidFill>
                  <a:srgbClr val="4C4C4D"/>
                </a:solidFill>
                <a:latin typeface="Heebo"/>
                <a:ea typeface="Heebo"/>
                <a:cs typeface="Heebo"/>
                <a:sym typeface="Heebo"/>
              </a:rPr>
              <a:t> providing robust REST APIs with scalable microservices architecture</a:t>
            </a:r>
          </a:p>
        </p:txBody>
      </p:sp>
      <p:grpSp>
        <p:nvGrpSpPr>
          <p:cNvPr id="23" name="Group 23"/>
          <p:cNvGrpSpPr/>
          <p:nvPr/>
        </p:nvGrpSpPr>
        <p:grpSpPr>
          <a:xfrm>
            <a:off x="7840712" y="5652195"/>
            <a:ext cx="4517082" cy="1487240"/>
            <a:chOff x="0" y="0"/>
            <a:chExt cx="6022777" cy="1982987"/>
          </a:xfrm>
        </p:grpSpPr>
        <p:sp>
          <p:nvSpPr>
            <p:cNvPr id="24" name="Freeform 24"/>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25" name="Freeform 25"/>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FF5000"/>
            </a:solidFill>
            <a:ln w="12700">
              <a:solidFill>
                <a:srgbClr val="000000"/>
              </a:solidFill>
            </a:ln>
          </p:spPr>
        </p:sp>
      </p:grpSp>
      <p:grpSp>
        <p:nvGrpSpPr>
          <p:cNvPr id="26" name="Group 26"/>
          <p:cNvGrpSpPr/>
          <p:nvPr/>
        </p:nvGrpSpPr>
        <p:grpSpPr>
          <a:xfrm>
            <a:off x="7831188" y="5661720"/>
            <a:ext cx="76200" cy="1468190"/>
            <a:chOff x="0" y="0"/>
            <a:chExt cx="101600" cy="1957587"/>
          </a:xfrm>
        </p:grpSpPr>
        <p:sp>
          <p:nvSpPr>
            <p:cNvPr id="27" name="Freeform 27"/>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FF5000"/>
            </a:solidFill>
            <a:ln w="12700">
              <a:solidFill>
                <a:srgbClr val="000000"/>
              </a:solidFill>
            </a:ln>
          </p:spPr>
        </p:sp>
      </p:grpSp>
      <p:sp>
        <p:nvSpPr>
          <p:cNvPr id="28" name="TextBox 28"/>
          <p:cNvSpPr txBox="1"/>
          <p:nvPr/>
        </p:nvSpPr>
        <p:spPr>
          <a:xfrm>
            <a:off x="8110686" y="5845969"/>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Database Layer</a:t>
            </a:r>
          </a:p>
        </p:txBody>
      </p:sp>
      <p:sp>
        <p:nvSpPr>
          <p:cNvPr id="29" name="TextBox 29"/>
          <p:cNvSpPr txBox="1"/>
          <p:nvPr/>
        </p:nvSpPr>
        <p:spPr>
          <a:xfrm>
            <a:off x="8110686" y="6289625"/>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MySQL</a:t>
            </a:r>
            <a:r>
              <a:rPr lang="en-US" sz="1437">
                <a:solidFill>
                  <a:srgbClr val="4C4C4D"/>
                </a:solidFill>
                <a:latin typeface="Heebo"/>
                <a:ea typeface="Heebo"/>
                <a:cs typeface="Heebo"/>
                <a:sym typeface="Heebo"/>
              </a:rPr>
              <a:t> for reliable relational data storage with optimised query performance</a:t>
            </a:r>
          </a:p>
        </p:txBody>
      </p:sp>
      <p:grpSp>
        <p:nvGrpSpPr>
          <p:cNvPr id="30" name="Group 30"/>
          <p:cNvGrpSpPr/>
          <p:nvPr/>
        </p:nvGrpSpPr>
        <p:grpSpPr>
          <a:xfrm>
            <a:off x="7840712" y="7304634"/>
            <a:ext cx="4517082" cy="1487240"/>
            <a:chOff x="0" y="0"/>
            <a:chExt cx="6022777" cy="1982987"/>
          </a:xfrm>
        </p:grpSpPr>
        <p:sp>
          <p:nvSpPr>
            <p:cNvPr id="31" name="Freeform 31"/>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32" name="Freeform 32"/>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921653"/>
            </a:solidFill>
            <a:ln w="12700">
              <a:solidFill>
                <a:srgbClr val="000000"/>
              </a:solidFill>
            </a:ln>
          </p:spPr>
        </p:sp>
      </p:grpSp>
      <p:grpSp>
        <p:nvGrpSpPr>
          <p:cNvPr id="33" name="Group 33"/>
          <p:cNvGrpSpPr/>
          <p:nvPr/>
        </p:nvGrpSpPr>
        <p:grpSpPr>
          <a:xfrm>
            <a:off x="7831188" y="7314159"/>
            <a:ext cx="76200" cy="1468190"/>
            <a:chOff x="0" y="0"/>
            <a:chExt cx="101600" cy="1957587"/>
          </a:xfrm>
        </p:grpSpPr>
        <p:sp>
          <p:nvSpPr>
            <p:cNvPr id="34" name="Freeform 34"/>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921653"/>
            </a:solidFill>
            <a:ln w="12700">
              <a:solidFill>
                <a:srgbClr val="000000"/>
              </a:solidFill>
            </a:ln>
          </p:spPr>
        </p:sp>
      </p:grpSp>
      <p:sp>
        <p:nvSpPr>
          <p:cNvPr id="35" name="TextBox 35"/>
          <p:cNvSpPr txBox="1"/>
          <p:nvPr/>
        </p:nvSpPr>
        <p:spPr>
          <a:xfrm>
            <a:off x="8110686" y="7498408"/>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AI &amp; ML Engine</a:t>
            </a:r>
          </a:p>
        </p:txBody>
      </p:sp>
      <p:sp>
        <p:nvSpPr>
          <p:cNvPr id="36" name="TextBox 36"/>
          <p:cNvSpPr txBox="1"/>
          <p:nvPr/>
        </p:nvSpPr>
        <p:spPr>
          <a:xfrm>
            <a:off x="8110686" y="7942064"/>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Python Flask</a:t>
            </a:r>
            <a:r>
              <a:rPr lang="en-US" sz="1437">
                <a:solidFill>
                  <a:srgbClr val="4C4C4D"/>
                </a:solidFill>
                <a:latin typeface="Heebo"/>
                <a:ea typeface="Heebo"/>
                <a:cs typeface="Heebo"/>
                <a:sym typeface="Heebo"/>
              </a:rPr>
              <a:t> microservice or </a:t>
            </a:r>
            <a:r>
              <a:rPr lang="en-US" sz="1437" b="1">
                <a:solidFill>
                  <a:srgbClr val="4C4C4D"/>
                </a:solidFill>
                <a:latin typeface="Heebo Bold"/>
                <a:ea typeface="Heebo Bold"/>
                <a:cs typeface="Heebo Bold"/>
                <a:sym typeface="Heebo Bold"/>
              </a:rPr>
              <a:t>Java ML</a:t>
            </a:r>
            <a:r>
              <a:rPr lang="en-US" sz="1437">
                <a:solidFill>
                  <a:srgbClr val="4C4C4D"/>
                </a:solidFill>
                <a:latin typeface="Heebo"/>
                <a:ea typeface="Heebo"/>
                <a:cs typeface="Heebo"/>
                <a:sym typeface="Heebo"/>
              </a:rPr>
              <a:t> for intelligent predictions and analytics</a:t>
            </a:r>
          </a:p>
        </p:txBody>
      </p:sp>
      <p:grpSp>
        <p:nvGrpSpPr>
          <p:cNvPr id="37" name="Group 37"/>
          <p:cNvGrpSpPr/>
          <p:nvPr/>
        </p:nvGrpSpPr>
        <p:grpSpPr>
          <a:xfrm>
            <a:off x="12797730" y="2347318"/>
            <a:ext cx="4517082" cy="1487240"/>
            <a:chOff x="0" y="0"/>
            <a:chExt cx="6022777" cy="1982987"/>
          </a:xfrm>
        </p:grpSpPr>
        <p:sp>
          <p:nvSpPr>
            <p:cNvPr id="38" name="Freeform 38"/>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39" name="Freeform 39"/>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1A561C"/>
            </a:solidFill>
            <a:ln w="12700">
              <a:solidFill>
                <a:srgbClr val="000000"/>
              </a:solidFill>
            </a:ln>
          </p:spPr>
        </p:sp>
      </p:grpSp>
      <p:grpSp>
        <p:nvGrpSpPr>
          <p:cNvPr id="40" name="Group 40"/>
          <p:cNvGrpSpPr/>
          <p:nvPr/>
        </p:nvGrpSpPr>
        <p:grpSpPr>
          <a:xfrm>
            <a:off x="12788205" y="2356842"/>
            <a:ext cx="76200" cy="1468190"/>
            <a:chOff x="0" y="0"/>
            <a:chExt cx="101600" cy="1957587"/>
          </a:xfrm>
        </p:grpSpPr>
        <p:sp>
          <p:nvSpPr>
            <p:cNvPr id="41" name="Freeform 41"/>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1A561C"/>
            </a:solidFill>
            <a:ln w="12700">
              <a:solidFill>
                <a:srgbClr val="000000"/>
              </a:solidFill>
            </a:ln>
          </p:spPr>
        </p:sp>
      </p:grpSp>
      <p:sp>
        <p:nvSpPr>
          <p:cNvPr id="42" name="TextBox 42"/>
          <p:cNvSpPr txBox="1"/>
          <p:nvPr/>
        </p:nvSpPr>
        <p:spPr>
          <a:xfrm>
            <a:off x="13067705" y="2541091"/>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Mapping Services</a:t>
            </a:r>
          </a:p>
        </p:txBody>
      </p:sp>
      <p:sp>
        <p:nvSpPr>
          <p:cNvPr id="43" name="TextBox 43"/>
          <p:cNvSpPr txBox="1"/>
          <p:nvPr/>
        </p:nvSpPr>
        <p:spPr>
          <a:xfrm>
            <a:off x="13067705" y="2984747"/>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Google Maps API</a:t>
            </a:r>
            <a:r>
              <a:rPr lang="en-US" sz="1437">
                <a:solidFill>
                  <a:srgbClr val="4C4C4D"/>
                </a:solidFill>
                <a:latin typeface="Heebo"/>
                <a:ea typeface="Heebo"/>
                <a:cs typeface="Heebo"/>
                <a:sym typeface="Heebo"/>
              </a:rPr>
              <a:t> and </a:t>
            </a:r>
            <a:r>
              <a:rPr lang="en-US" sz="1437" b="1">
                <a:solidFill>
                  <a:srgbClr val="4C4C4D"/>
                </a:solidFill>
                <a:latin typeface="Heebo Bold"/>
                <a:ea typeface="Heebo Bold"/>
                <a:cs typeface="Heebo Bold"/>
                <a:sym typeface="Heebo Bold"/>
              </a:rPr>
              <a:t>Leaflet.js</a:t>
            </a:r>
            <a:r>
              <a:rPr lang="en-US" sz="1437">
                <a:solidFill>
                  <a:srgbClr val="4C4C4D"/>
                </a:solidFill>
                <a:latin typeface="Heebo"/>
                <a:ea typeface="Heebo"/>
                <a:cs typeface="Heebo"/>
                <a:sym typeface="Heebo"/>
              </a:rPr>
              <a:t> for geospatial visualisation and routing</a:t>
            </a:r>
          </a:p>
        </p:txBody>
      </p:sp>
      <p:grpSp>
        <p:nvGrpSpPr>
          <p:cNvPr id="44" name="Group 44"/>
          <p:cNvGrpSpPr/>
          <p:nvPr/>
        </p:nvGrpSpPr>
        <p:grpSpPr>
          <a:xfrm>
            <a:off x="12797730" y="3999756"/>
            <a:ext cx="4517082" cy="1487240"/>
            <a:chOff x="0" y="0"/>
            <a:chExt cx="6022777" cy="1982987"/>
          </a:xfrm>
        </p:grpSpPr>
        <p:sp>
          <p:nvSpPr>
            <p:cNvPr id="45" name="Freeform 45"/>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46" name="Freeform 46"/>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F578DE"/>
            </a:solidFill>
            <a:ln w="12700">
              <a:solidFill>
                <a:srgbClr val="000000"/>
              </a:solidFill>
            </a:ln>
          </p:spPr>
        </p:sp>
      </p:grpSp>
      <p:grpSp>
        <p:nvGrpSpPr>
          <p:cNvPr id="47" name="Group 47"/>
          <p:cNvGrpSpPr/>
          <p:nvPr/>
        </p:nvGrpSpPr>
        <p:grpSpPr>
          <a:xfrm>
            <a:off x="12788205" y="4009281"/>
            <a:ext cx="76200" cy="1468190"/>
            <a:chOff x="0" y="0"/>
            <a:chExt cx="101600" cy="1957587"/>
          </a:xfrm>
        </p:grpSpPr>
        <p:sp>
          <p:nvSpPr>
            <p:cNvPr id="48" name="Freeform 48"/>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F578DE"/>
            </a:solidFill>
            <a:ln w="12700">
              <a:solidFill>
                <a:srgbClr val="000000"/>
              </a:solidFill>
            </a:ln>
          </p:spPr>
        </p:sp>
      </p:grpSp>
      <p:sp>
        <p:nvSpPr>
          <p:cNvPr id="49" name="TextBox 49"/>
          <p:cNvSpPr txBox="1"/>
          <p:nvPr/>
        </p:nvSpPr>
        <p:spPr>
          <a:xfrm>
            <a:off x="13067705" y="4193530"/>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Security Layer</a:t>
            </a:r>
          </a:p>
        </p:txBody>
      </p:sp>
      <p:sp>
        <p:nvSpPr>
          <p:cNvPr id="50" name="TextBox 50"/>
          <p:cNvSpPr txBox="1"/>
          <p:nvPr/>
        </p:nvSpPr>
        <p:spPr>
          <a:xfrm>
            <a:off x="13067705" y="4637186"/>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Spring Security with JWT</a:t>
            </a:r>
            <a:r>
              <a:rPr lang="en-US" sz="1437">
                <a:solidFill>
                  <a:srgbClr val="4C4C4D"/>
                </a:solidFill>
                <a:latin typeface="Heebo"/>
                <a:ea typeface="Heebo"/>
                <a:cs typeface="Heebo"/>
                <a:sym typeface="Heebo"/>
              </a:rPr>
              <a:t> tokens ensuring encrypted, role-based access control</a:t>
            </a:r>
          </a:p>
        </p:txBody>
      </p:sp>
      <p:grpSp>
        <p:nvGrpSpPr>
          <p:cNvPr id="51" name="Group 51"/>
          <p:cNvGrpSpPr/>
          <p:nvPr/>
        </p:nvGrpSpPr>
        <p:grpSpPr>
          <a:xfrm>
            <a:off x="12797730" y="5652195"/>
            <a:ext cx="4517082" cy="1487240"/>
            <a:chOff x="0" y="0"/>
            <a:chExt cx="6022777" cy="1982987"/>
          </a:xfrm>
        </p:grpSpPr>
        <p:sp>
          <p:nvSpPr>
            <p:cNvPr id="52" name="Freeform 52"/>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53" name="Freeform 53"/>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84C1FA"/>
            </a:solidFill>
            <a:ln w="12700">
              <a:solidFill>
                <a:srgbClr val="000000"/>
              </a:solidFill>
            </a:ln>
          </p:spPr>
        </p:sp>
      </p:grpSp>
      <p:grpSp>
        <p:nvGrpSpPr>
          <p:cNvPr id="54" name="Group 54"/>
          <p:cNvGrpSpPr/>
          <p:nvPr/>
        </p:nvGrpSpPr>
        <p:grpSpPr>
          <a:xfrm>
            <a:off x="12788205" y="5661720"/>
            <a:ext cx="76200" cy="1468190"/>
            <a:chOff x="0" y="0"/>
            <a:chExt cx="101600" cy="1957587"/>
          </a:xfrm>
        </p:grpSpPr>
        <p:sp>
          <p:nvSpPr>
            <p:cNvPr id="55" name="Freeform 55"/>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84C1FA"/>
            </a:solidFill>
            <a:ln w="12700">
              <a:solidFill>
                <a:srgbClr val="000000"/>
              </a:solidFill>
            </a:ln>
          </p:spPr>
        </p:sp>
      </p:grpSp>
      <p:sp>
        <p:nvSpPr>
          <p:cNvPr id="56" name="TextBox 56"/>
          <p:cNvSpPr txBox="1"/>
          <p:nvPr/>
        </p:nvSpPr>
        <p:spPr>
          <a:xfrm>
            <a:off x="13067705" y="5845969"/>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Data Visualisation</a:t>
            </a:r>
          </a:p>
        </p:txBody>
      </p:sp>
      <p:sp>
        <p:nvSpPr>
          <p:cNvPr id="57" name="TextBox 57"/>
          <p:cNvSpPr txBox="1"/>
          <p:nvPr/>
        </p:nvSpPr>
        <p:spPr>
          <a:xfrm>
            <a:off x="13067705" y="6289625"/>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Chart.js, ApexCharts, Recharts</a:t>
            </a:r>
            <a:r>
              <a:rPr lang="en-US" sz="1437">
                <a:solidFill>
                  <a:srgbClr val="4C4C4D"/>
                </a:solidFill>
                <a:latin typeface="Heebo"/>
                <a:ea typeface="Heebo"/>
                <a:cs typeface="Heebo"/>
                <a:sym typeface="Heebo"/>
              </a:rPr>
              <a:t> for interactive analytics and reporting dashboards</a:t>
            </a:r>
          </a:p>
        </p:txBody>
      </p:sp>
      <p:grpSp>
        <p:nvGrpSpPr>
          <p:cNvPr id="58" name="Group 58"/>
          <p:cNvGrpSpPr/>
          <p:nvPr/>
        </p:nvGrpSpPr>
        <p:grpSpPr>
          <a:xfrm>
            <a:off x="12797730" y="7304634"/>
            <a:ext cx="4517082" cy="1487240"/>
            <a:chOff x="0" y="0"/>
            <a:chExt cx="6022777" cy="1982987"/>
          </a:xfrm>
        </p:grpSpPr>
        <p:sp>
          <p:nvSpPr>
            <p:cNvPr id="59" name="Freeform 59"/>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60" name="Freeform 60"/>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CDDAFA"/>
            </a:solidFill>
            <a:ln w="12700">
              <a:solidFill>
                <a:srgbClr val="000000"/>
              </a:solidFill>
            </a:ln>
          </p:spPr>
        </p:sp>
      </p:grpSp>
      <p:grpSp>
        <p:nvGrpSpPr>
          <p:cNvPr id="61" name="Group 61"/>
          <p:cNvGrpSpPr/>
          <p:nvPr/>
        </p:nvGrpSpPr>
        <p:grpSpPr>
          <a:xfrm>
            <a:off x="12788205" y="7314159"/>
            <a:ext cx="76200" cy="1468190"/>
            <a:chOff x="0" y="0"/>
            <a:chExt cx="101600" cy="1957587"/>
          </a:xfrm>
        </p:grpSpPr>
        <p:sp>
          <p:nvSpPr>
            <p:cNvPr id="62" name="Freeform 62"/>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CDDAFA"/>
            </a:solidFill>
            <a:ln w="12700">
              <a:solidFill>
                <a:srgbClr val="000000"/>
              </a:solidFill>
            </a:ln>
          </p:spPr>
        </p:sp>
      </p:grpSp>
      <p:sp>
        <p:nvSpPr>
          <p:cNvPr id="63" name="TextBox 63"/>
          <p:cNvSpPr txBox="1"/>
          <p:nvPr/>
        </p:nvSpPr>
        <p:spPr>
          <a:xfrm>
            <a:off x="13067705" y="7498408"/>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Additional APIs</a:t>
            </a:r>
          </a:p>
        </p:txBody>
      </p:sp>
      <p:sp>
        <p:nvSpPr>
          <p:cNvPr id="64" name="TextBox 64"/>
          <p:cNvSpPr txBox="1"/>
          <p:nvPr/>
        </p:nvSpPr>
        <p:spPr>
          <a:xfrm>
            <a:off x="13067705" y="7942064"/>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SMTP</a:t>
            </a:r>
            <a:r>
              <a:rPr lang="en-US" sz="1437">
                <a:solidFill>
                  <a:srgbClr val="4C4C4D"/>
                </a:solidFill>
                <a:latin typeface="Heebo"/>
                <a:ea typeface="Heebo"/>
                <a:cs typeface="Heebo"/>
                <a:sym typeface="Heebo"/>
              </a:rPr>
              <a:t> for email notifications and </a:t>
            </a:r>
            <a:r>
              <a:rPr lang="en-US" sz="1437" b="1">
                <a:solidFill>
                  <a:srgbClr val="4C4C4D"/>
                </a:solidFill>
                <a:latin typeface="Heebo Bold"/>
                <a:ea typeface="Heebo Bold"/>
                <a:cs typeface="Heebo Bold"/>
                <a:sym typeface="Heebo Bold"/>
              </a:rPr>
              <a:t>WebSocket</a:t>
            </a:r>
            <a:r>
              <a:rPr lang="en-US" sz="1437">
                <a:solidFill>
                  <a:srgbClr val="4C4C4D"/>
                </a:solidFill>
                <a:latin typeface="Heebo"/>
                <a:ea typeface="Heebo"/>
                <a:cs typeface="Heebo"/>
                <a:sym typeface="Heebo"/>
              </a:rPr>
              <a:t> for real-time live updates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a:extLst>
              <a:ext uri="{FF2B5EF4-FFF2-40B4-BE49-F238E27FC236}">
                <a16:creationId xmlns:a16="http://schemas.microsoft.com/office/drawing/2014/main" id="{F7A65D15-55E8-7F14-1F6C-E969324236BB}"/>
              </a:ext>
            </a:extLst>
          </p:cNvPr>
          <p:cNvGrpSpPr/>
          <p:nvPr/>
        </p:nvGrpSpPr>
        <p:grpSpPr>
          <a:xfrm>
            <a:off x="0" y="0"/>
            <a:ext cx="18288000" cy="10287000"/>
            <a:chOff x="1989221" y="16674948"/>
            <a:chExt cx="24384000" cy="13716000"/>
          </a:xfrm>
        </p:grpSpPr>
        <p:sp>
          <p:nvSpPr>
            <p:cNvPr id="5" name="Freeform 5">
              <a:extLst>
                <a:ext uri="{FF2B5EF4-FFF2-40B4-BE49-F238E27FC236}">
                  <a16:creationId xmlns:a16="http://schemas.microsoft.com/office/drawing/2014/main" id="{914472A2-CD49-4A72-44EA-3652587394F5}"/>
                </a:ext>
              </a:extLst>
            </p:cNvPr>
            <p:cNvSpPr/>
            <p:nvPr/>
          </p:nvSpPr>
          <p:spPr>
            <a:xfrm>
              <a:off x="1989221" y="16674948"/>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3" name="TextBox 8">
            <a:extLst>
              <a:ext uri="{FF2B5EF4-FFF2-40B4-BE49-F238E27FC236}">
                <a16:creationId xmlns:a16="http://schemas.microsoft.com/office/drawing/2014/main" id="{632C64BA-265E-73C7-41F9-96C500FC4E16}"/>
              </a:ext>
            </a:extLst>
          </p:cNvPr>
          <p:cNvSpPr txBox="1"/>
          <p:nvPr/>
        </p:nvSpPr>
        <p:spPr>
          <a:xfrm>
            <a:off x="1676400" y="2781300"/>
            <a:ext cx="14020800" cy="2937343"/>
          </a:xfrm>
          <a:prstGeom prst="rect">
            <a:avLst/>
          </a:prstGeom>
        </p:spPr>
        <p:txBody>
          <a:bodyPr wrap="square" lIns="0" tIns="0" rIns="0" bIns="0" rtlCol="0" anchor="t">
            <a:spAutoFit/>
          </a:bodyPr>
          <a:lstStyle/>
          <a:p>
            <a:pPr marL="514350" indent="-514350">
              <a:lnSpc>
                <a:spcPts val="3312"/>
              </a:lnSpc>
              <a:buFont typeface="+mj-lt"/>
              <a:buAutoNum type="arabicPeriod"/>
            </a:pPr>
            <a:r>
              <a:rPr lang="en-US" sz="2625" b="1" dirty="0" err="1">
                <a:solidFill>
                  <a:srgbClr val="4C4C4D"/>
                </a:solidFill>
                <a:latin typeface="Crimson Pro Bold"/>
                <a:ea typeface="Crimson Pro Bold"/>
                <a:cs typeface="Crimson Pro Bold"/>
                <a:sym typeface="Crimson Pro Bold"/>
              </a:rPr>
              <a:t>Subhadhip</a:t>
            </a:r>
            <a:r>
              <a:rPr lang="en-US" sz="2625" b="1" dirty="0">
                <a:solidFill>
                  <a:srgbClr val="4C4C4D"/>
                </a:solidFill>
                <a:latin typeface="Crimson Pro Bold"/>
                <a:ea typeface="Crimson Pro Bold"/>
                <a:cs typeface="Crimson Pro Bold"/>
                <a:sym typeface="Crimson Pro Bold"/>
              </a:rPr>
              <a:t>             </a:t>
            </a:r>
            <a:r>
              <a:rPr lang="en-US" sz="2625" b="1" dirty="0">
                <a:solidFill>
                  <a:srgbClr val="4C4C4D"/>
                </a:solidFill>
                <a:latin typeface="Cascadia Mono Light" panose="020B0609020000020004" pitchFamily="49" charset="0"/>
                <a:ea typeface="Cascadia Mono Light" panose="020B0609020000020004" pitchFamily="49" charset="0"/>
                <a:cs typeface="Cascadia Mono Light" panose="020B0609020000020004" pitchFamily="49" charset="0"/>
                <a:sym typeface="Crimson Pro Bold"/>
              </a:rPr>
              <a:t>-</a:t>
            </a:r>
            <a:r>
              <a:rPr lang="en-US" sz="2625" b="1" dirty="0">
                <a:solidFill>
                  <a:srgbClr val="4C4C4D"/>
                </a:solidFill>
                <a:latin typeface="Crimson Pro Bold"/>
                <a:ea typeface="Crimson Pro Bold"/>
                <a:cs typeface="Crimson Pro Bold"/>
                <a:sym typeface="Crimson Pro Bold"/>
              </a:rPr>
              <a:t>       </a:t>
            </a:r>
            <a:r>
              <a:rPr lang="en-US" sz="2625" dirty="0">
                <a:solidFill>
                  <a:srgbClr val="4C4C4D"/>
                </a:solidFill>
                <a:latin typeface="Crimson Pro Bold"/>
                <a:ea typeface="Crimson Pro Bold"/>
                <a:cs typeface="Crimson Pro Bold"/>
                <a:sym typeface="Crimson Pro Bold"/>
              </a:rPr>
              <a:t>Frontend &amp; AI &amp; Some backend module ( 4 , 5 , 6) </a:t>
            </a:r>
          </a:p>
          <a:p>
            <a:pPr marL="514350" indent="-514350" algn="l">
              <a:lnSpc>
                <a:spcPts val="3312"/>
              </a:lnSpc>
              <a:buFont typeface="+mj-lt"/>
              <a:buAutoNum type="arabicPeriod"/>
            </a:pPr>
            <a:endParaRPr lang="en-US" sz="2625" b="1" dirty="0">
              <a:solidFill>
                <a:srgbClr val="4C4C4D"/>
              </a:solidFill>
              <a:latin typeface="Crimson Pro Bold"/>
              <a:ea typeface="Crimson Pro Bold"/>
              <a:cs typeface="Crimson Pro Bold"/>
              <a:sym typeface="Crimson Pro Bold"/>
            </a:endParaRPr>
          </a:p>
          <a:p>
            <a:pPr marL="514350" indent="-514350">
              <a:lnSpc>
                <a:spcPts val="3312"/>
              </a:lnSpc>
              <a:buFont typeface="+mj-lt"/>
              <a:buAutoNum type="arabicPeriod"/>
            </a:pPr>
            <a:r>
              <a:rPr lang="en-US" sz="2625" b="1" dirty="0">
                <a:solidFill>
                  <a:srgbClr val="4C4C4D"/>
                </a:solidFill>
                <a:latin typeface="Crimson Pro Bold"/>
                <a:ea typeface="Crimson Pro Bold"/>
                <a:cs typeface="Crimson Pro Bold"/>
                <a:sym typeface="Crimson Pro Bold"/>
              </a:rPr>
              <a:t>Inban                        </a:t>
            </a:r>
            <a:r>
              <a:rPr lang="en-US" sz="2625" b="1" dirty="0">
                <a:solidFill>
                  <a:srgbClr val="4C4C4D"/>
                </a:solidFill>
                <a:latin typeface="Cascadia Mono Light" panose="020B0609020000020004" pitchFamily="49" charset="0"/>
                <a:ea typeface="Cascadia Mono Light" panose="020B0609020000020004" pitchFamily="49" charset="0"/>
                <a:cs typeface="Cascadia Mono Light" panose="020B0609020000020004" pitchFamily="49" charset="0"/>
                <a:sym typeface="Crimson Pro Bold"/>
              </a:rPr>
              <a:t>-</a:t>
            </a:r>
            <a:r>
              <a:rPr lang="en-US" sz="2625" b="1" dirty="0">
                <a:solidFill>
                  <a:srgbClr val="4C4C4D"/>
                </a:solidFill>
                <a:latin typeface="Crimson Pro Bold"/>
                <a:ea typeface="Crimson Pro Bold"/>
                <a:cs typeface="Crimson Pro Bold"/>
                <a:sym typeface="Crimson Pro Bold"/>
              </a:rPr>
              <a:t>        Email-SMTP for Registration and </a:t>
            </a:r>
            <a:r>
              <a:rPr lang="en-US" sz="2625" b="1" dirty="0">
                <a:solidFill>
                  <a:srgbClr val="4C4C4D"/>
                </a:solidFill>
                <a:latin typeface="Crimson Pro Bold" panose="020B0604020202020204" charset="0"/>
                <a:ea typeface="Cascadia Mono Light" panose="020B0609020000020004" pitchFamily="49" charset="0"/>
                <a:cs typeface="Cascadia Mono Light" panose="020B0609020000020004" pitchFamily="49" charset="0"/>
                <a:sym typeface="Crimson Pro Bold"/>
              </a:rPr>
              <a:t>Reset Password</a:t>
            </a:r>
            <a:r>
              <a:rPr lang="en-US" sz="2625" b="1" dirty="0">
                <a:solidFill>
                  <a:srgbClr val="4C4C4D"/>
                </a:solidFill>
                <a:latin typeface="Crimson Pro Bold"/>
                <a:ea typeface="Crimson Pro Bold"/>
                <a:cs typeface="Crimson Pro Bold"/>
                <a:sym typeface="Crimson Pro Bold"/>
              </a:rPr>
              <a:t> &amp; Dashboard </a:t>
            </a:r>
          </a:p>
          <a:p>
            <a:pPr marL="514350" indent="-514350" algn="l">
              <a:lnSpc>
                <a:spcPts val="3312"/>
              </a:lnSpc>
              <a:buFont typeface="+mj-lt"/>
              <a:buAutoNum type="arabicPeriod"/>
            </a:pPr>
            <a:endParaRPr lang="en-US" sz="2625" b="1" dirty="0">
              <a:solidFill>
                <a:srgbClr val="4C4C4D"/>
              </a:solidFill>
              <a:latin typeface="Crimson Pro Bold"/>
              <a:ea typeface="Crimson Pro Bold"/>
              <a:cs typeface="Crimson Pro Bold"/>
              <a:sym typeface="Crimson Pro Bold"/>
            </a:endParaRPr>
          </a:p>
          <a:p>
            <a:pPr marL="514350" indent="-514350">
              <a:lnSpc>
                <a:spcPts val="3312"/>
              </a:lnSpc>
              <a:buFont typeface="+mj-lt"/>
              <a:buAutoNum type="arabicPeriod"/>
            </a:pPr>
            <a:r>
              <a:rPr lang="en-US" sz="2625" b="1" dirty="0" err="1">
                <a:solidFill>
                  <a:srgbClr val="4C4C4D"/>
                </a:solidFill>
                <a:latin typeface="Crimson Pro Bold"/>
                <a:ea typeface="Crimson Pro Bold"/>
                <a:cs typeface="Crimson Pro Bold"/>
                <a:sym typeface="Crimson Pro Bold"/>
              </a:rPr>
              <a:t>Hepsiba</a:t>
            </a:r>
            <a:r>
              <a:rPr lang="en-US" sz="2625" b="1" dirty="0">
                <a:solidFill>
                  <a:srgbClr val="4C4C4D"/>
                </a:solidFill>
                <a:latin typeface="Crimson Pro Bold"/>
                <a:ea typeface="Crimson Pro Bold"/>
                <a:cs typeface="Crimson Pro Bold"/>
                <a:sym typeface="Crimson Pro Bold"/>
              </a:rPr>
              <a:t>                   </a:t>
            </a:r>
            <a:r>
              <a:rPr lang="en-US" sz="2625" b="1" dirty="0">
                <a:solidFill>
                  <a:srgbClr val="4C4C4D"/>
                </a:solidFill>
                <a:latin typeface="Cascadia Mono Light" panose="020B0609020000020004" pitchFamily="49" charset="0"/>
                <a:ea typeface="Cascadia Mono Light" panose="020B0609020000020004" pitchFamily="49" charset="0"/>
                <a:cs typeface="Cascadia Mono Light" panose="020B0609020000020004" pitchFamily="49" charset="0"/>
                <a:sym typeface="Crimson Pro Bold"/>
              </a:rPr>
              <a:t>-  </a:t>
            </a:r>
            <a:r>
              <a:rPr lang="en-US" sz="2625" b="1" dirty="0">
                <a:solidFill>
                  <a:srgbClr val="4C4C4D"/>
                </a:solidFill>
                <a:latin typeface="Crimson Pro Bold"/>
                <a:ea typeface="Crimson Pro Bold"/>
                <a:cs typeface="Crimson Pro Bold"/>
                <a:sym typeface="Crimson Pro Bold"/>
              </a:rPr>
              <a:t> Backend module  (1 , 2 , 3) </a:t>
            </a:r>
          </a:p>
          <a:p>
            <a:pPr marL="514350" indent="-514350" algn="l">
              <a:lnSpc>
                <a:spcPts val="3312"/>
              </a:lnSpc>
              <a:buFont typeface="+mj-lt"/>
              <a:buAutoNum type="arabicPeriod"/>
            </a:pPr>
            <a:endParaRPr lang="en-US" sz="2625" b="1" dirty="0">
              <a:solidFill>
                <a:srgbClr val="4C4C4D"/>
              </a:solidFill>
              <a:latin typeface="Crimson Pro Bold"/>
              <a:ea typeface="Crimson Pro Bold"/>
              <a:cs typeface="Crimson Pro Bold"/>
              <a:sym typeface="Crimson Pro Bold"/>
            </a:endParaRPr>
          </a:p>
          <a:p>
            <a:pPr marL="514350" indent="-514350">
              <a:lnSpc>
                <a:spcPts val="3312"/>
              </a:lnSpc>
              <a:buFont typeface="+mj-lt"/>
              <a:buAutoNum type="arabicPeriod"/>
            </a:pPr>
            <a:r>
              <a:rPr lang="en-US" sz="2625" b="1" dirty="0" err="1">
                <a:solidFill>
                  <a:srgbClr val="4C4C4D"/>
                </a:solidFill>
                <a:latin typeface="Crimson Pro Bold"/>
                <a:ea typeface="Crimson Pro Bold"/>
                <a:cs typeface="Crimson Pro Bold"/>
                <a:sym typeface="Crimson Pro Bold"/>
              </a:rPr>
              <a:t>UdayKumar</a:t>
            </a:r>
            <a:r>
              <a:rPr lang="en-US" sz="2625" b="1" dirty="0">
                <a:solidFill>
                  <a:srgbClr val="4C4C4D"/>
                </a:solidFill>
                <a:latin typeface="Crimson Pro Bold"/>
                <a:ea typeface="Crimson Pro Bold"/>
                <a:cs typeface="Crimson Pro Bold"/>
                <a:sym typeface="Crimson Pro Bold"/>
              </a:rPr>
              <a:t>          </a:t>
            </a:r>
            <a:r>
              <a:rPr lang="en-US" sz="2625" b="1" dirty="0">
                <a:solidFill>
                  <a:srgbClr val="4C4C4D"/>
                </a:solidFill>
                <a:latin typeface="Cascadia Mono Light" panose="020B0609020000020004" pitchFamily="49" charset="0"/>
                <a:ea typeface="Cascadia Mono Light" panose="020B0609020000020004" pitchFamily="49" charset="0"/>
                <a:cs typeface="Cascadia Mono Light" panose="020B0609020000020004" pitchFamily="49" charset="0"/>
                <a:sym typeface="Crimson Pro Bold"/>
              </a:rPr>
              <a:t>-  </a:t>
            </a:r>
            <a:r>
              <a:rPr lang="en-US" sz="2625" b="1" dirty="0">
                <a:solidFill>
                  <a:srgbClr val="4C4C4D"/>
                </a:solidFill>
                <a:latin typeface="Crimson Pro Bold" panose="020B0604020202020204" charset="0"/>
                <a:ea typeface="Cascadia Mono Light" panose="020B0609020000020004" pitchFamily="49" charset="0"/>
                <a:cs typeface="Cascadia Mono Light" panose="020B0609020000020004" pitchFamily="49" charset="0"/>
                <a:sym typeface="Crimson Pro Bold"/>
              </a:rPr>
              <a:t>Login &amp; Payment Gateway </a:t>
            </a:r>
            <a:endParaRPr lang="en-US" sz="2625" b="1" dirty="0">
              <a:solidFill>
                <a:srgbClr val="4C4C4D"/>
              </a:solidFill>
              <a:latin typeface="Crimson Pro Bold" panose="020B0604020202020204" charset="0"/>
              <a:ea typeface="Crimson Pro Bold"/>
              <a:cs typeface="Crimson Pro Bold"/>
              <a:sym typeface="Crimson Pro Bold"/>
            </a:endParaRPr>
          </a:p>
        </p:txBody>
      </p:sp>
      <p:sp>
        <p:nvSpPr>
          <p:cNvPr id="2" name="TextBox 6">
            <a:extLst>
              <a:ext uri="{FF2B5EF4-FFF2-40B4-BE49-F238E27FC236}">
                <a16:creationId xmlns:a16="http://schemas.microsoft.com/office/drawing/2014/main" id="{981A2269-8BF6-9919-D305-896CB0C2FA82}"/>
              </a:ext>
            </a:extLst>
          </p:cNvPr>
          <p:cNvSpPr txBox="1"/>
          <p:nvPr/>
        </p:nvSpPr>
        <p:spPr>
          <a:xfrm>
            <a:off x="633663" y="1167837"/>
            <a:ext cx="12647562" cy="622863"/>
          </a:xfrm>
          <a:prstGeom prst="rect">
            <a:avLst/>
          </a:prstGeom>
        </p:spPr>
        <p:txBody>
          <a:bodyPr wrap="square" lIns="0" tIns="0" rIns="0" bIns="0" rtlCol="0" anchor="t">
            <a:spAutoFit/>
          </a:bodyPr>
          <a:lstStyle/>
          <a:p>
            <a:pPr algn="l">
              <a:lnSpc>
                <a:spcPts val="5187"/>
              </a:lnSpc>
            </a:pPr>
            <a:r>
              <a:rPr lang="en-US" sz="4124" b="1" dirty="0">
                <a:solidFill>
                  <a:srgbClr val="152D47"/>
                </a:solidFill>
                <a:latin typeface="Crimson Pro Bold"/>
                <a:ea typeface="Crimson Pro Bold"/>
                <a:cs typeface="Crimson Pro Bold"/>
                <a:sym typeface="Crimson Pro Bold"/>
              </a:rPr>
              <a:t>Team Members ( Role ) :</a:t>
            </a:r>
          </a:p>
        </p:txBody>
      </p:sp>
    </p:spTree>
    <p:extLst>
      <p:ext uri="{BB962C8B-B14F-4D97-AF65-F5344CB8AC3E}">
        <p14:creationId xmlns:p14="http://schemas.microsoft.com/office/powerpoint/2010/main" val="27572982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16049019" y="9686925"/>
            <a:ext cx="2153256" cy="514350"/>
            <a:chOff x="0" y="0"/>
            <a:chExt cx="2871008" cy="685800"/>
          </a:xfrm>
        </p:grpSpPr>
        <p:sp>
          <p:nvSpPr>
            <p:cNvPr id="7" name="Freeform 7" descr="preencoded.png">
              <a:hlinkClick r:id="rId3" tooltip="https://gamma.app/?utm_source=made-with-gamma"/>
            </p:cNvPr>
            <p:cNvSpPr/>
            <p:nvPr/>
          </p:nvSpPr>
          <p:spPr>
            <a:xfrm>
              <a:off x="0" y="0"/>
              <a:ext cx="2870962" cy="685800"/>
            </a:xfrm>
            <a:custGeom>
              <a:avLst/>
              <a:gdLst/>
              <a:ahLst/>
              <a:cxnLst/>
              <a:rect l="l" t="t" r="r" b="b"/>
              <a:pathLst>
                <a:path w="2870962" h="685800">
                  <a:moveTo>
                    <a:pt x="0" y="0"/>
                  </a:moveTo>
                  <a:lnTo>
                    <a:pt x="2870962" y="0"/>
                  </a:lnTo>
                  <a:lnTo>
                    <a:pt x="2870962" y="685800"/>
                  </a:lnTo>
                  <a:lnTo>
                    <a:pt x="0" y="685800"/>
                  </a:lnTo>
                  <a:lnTo>
                    <a:pt x="0" y="0"/>
                  </a:lnTo>
                  <a:close/>
                </a:path>
              </a:pathLst>
            </a:custGeom>
            <a:blipFill>
              <a:blip r:embed="rId4"/>
              <a:stretch>
                <a:fillRect r="-1"/>
              </a:stretch>
            </a:blipFill>
          </p:spPr>
        </p:sp>
      </p:grpSp>
      <p:grpSp>
        <p:nvGrpSpPr>
          <p:cNvPr id="8" name="Group 8"/>
          <p:cNvGrpSpPr>
            <a:grpSpLocks noChangeAspect="1"/>
          </p:cNvGrpSpPr>
          <p:nvPr/>
        </p:nvGrpSpPr>
        <p:grpSpPr>
          <a:xfrm>
            <a:off x="0" y="0"/>
            <a:ext cx="18288000" cy="10287000"/>
            <a:chOff x="0" y="0"/>
            <a:chExt cx="24384000" cy="13716000"/>
          </a:xfrm>
        </p:grpSpPr>
        <p:sp>
          <p:nvSpPr>
            <p:cNvPr id="9" name="Freeform 9"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5"/>
              <a:stretch>
                <a:fillRect/>
              </a:stretch>
            </a:blipFill>
          </p:spPr>
        </p:sp>
      </p:grpSp>
      <p:grpSp>
        <p:nvGrpSpPr>
          <p:cNvPr id="10" name="Group 10"/>
          <p:cNvGrpSpPr/>
          <p:nvPr/>
        </p:nvGrpSpPr>
        <p:grpSpPr>
          <a:xfrm>
            <a:off x="0" y="0"/>
            <a:ext cx="18288000" cy="10287000"/>
            <a:chOff x="0" y="0"/>
            <a:chExt cx="24384000" cy="13716000"/>
          </a:xfrm>
        </p:grpSpPr>
        <p:sp>
          <p:nvSpPr>
            <p:cNvPr id="11" name="Freeform 11"/>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72157"/>
              </a:srgbClr>
            </a:solidFill>
            <a:ln w="12700">
              <a:solidFill>
                <a:srgbClr val="000000"/>
              </a:solidFill>
            </a:ln>
          </p:spPr>
        </p:sp>
      </p:grpSp>
      <p:sp>
        <p:nvSpPr>
          <p:cNvPr id="12" name="TextBox 12"/>
          <p:cNvSpPr txBox="1"/>
          <p:nvPr/>
        </p:nvSpPr>
        <p:spPr>
          <a:xfrm>
            <a:off x="5599808" y="4652814"/>
            <a:ext cx="7088237" cy="933599"/>
          </a:xfrm>
          <a:prstGeom prst="rect">
            <a:avLst/>
          </a:prstGeom>
        </p:spPr>
        <p:txBody>
          <a:bodyPr lIns="0" tIns="0" rIns="0" bIns="0" rtlCol="0" anchor="t">
            <a:spAutoFit/>
          </a:bodyPr>
          <a:lstStyle/>
          <a:p>
            <a:pPr algn="ctr">
              <a:lnSpc>
                <a:spcPts val="6937"/>
              </a:lnSpc>
            </a:pPr>
            <a:r>
              <a:rPr lang="en-US" sz="5562" b="1">
                <a:solidFill>
                  <a:srgbClr val="152D47"/>
                </a:solidFill>
                <a:latin typeface="Crimson Pro Bold"/>
                <a:ea typeface="Crimson Pro Bold"/>
                <a:cs typeface="Crimson Pro Bold"/>
                <a:sym typeface="Crimson Pro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TotalTime>
  <Words>924</Words>
  <Application>Microsoft Office PowerPoint</Application>
  <PresentationFormat>Custom</PresentationFormat>
  <Paragraphs>158</Paragraphs>
  <Slides>12</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Calibri</vt:lpstr>
      <vt:lpstr>Heebo</vt:lpstr>
      <vt:lpstr>Heebo Bold</vt:lpstr>
      <vt:lpstr>Arial</vt:lpstr>
      <vt:lpstr>Crimson Pro Bold</vt:lpstr>
      <vt:lpstr>Crimson Pro</vt:lpstr>
      <vt:lpstr>Cascadia Mono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NeuroFleetX.pptx</dc:title>
  <dc:creator>Devireddy Hepsiba</dc:creator>
  <cp:lastModifiedBy>inban kavidasan</cp:lastModifiedBy>
  <cp:revision>3</cp:revision>
  <dcterms:created xsi:type="dcterms:W3CDTF">2006-08-16T00:00:00Z</dcterms:created>
  <dcterms:modified xsi:type="dcterms:W3CDTF">2025-11-26T12:58:36Z</dcterms:modified>
  <dc:identifier>DAG5fFGhF-0</dc:identifier>
</cp:coreProperties>
</file>