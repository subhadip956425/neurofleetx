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Crimson Pro" panose="020B0604020202020204" charset="0"/>
      <p:regular r:id="rId14"/>
    </p:embeddedFont>
    <p:embeddedFont>
      <p:font typeface="Crimson Pro Bold" panose="020B0604020202020204" charset="0"/>
      <p:regular r:id="rId15"/>
    </p:embeddedFont>
    <p:embeddedFont>
      <p:font typeface="Heebo" panose="020F0502020204030204" pitchFamily="2" charset="-79"/>
      <p:regular r:id="rId16"/>
      <p:bold r:id="rId17"/>
    </p:embeddedFont>
    <p:embeddedFont>
      <p:font typeface="Heebo Bold" panose="020B0604020202020204" charset="-79"/>
      <p:regular r:id="rId18"/>
      <p:bold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66" d="100"/>
          <a:sy n="66" d="100"/>
        </p:scale>
        <p:origin x="24" y="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25.11.2025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sv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 Id="rId9" Type="http://schemas.openxmlformats.org/officeDocument/2006/relationships/image" Target="../media/image17.sv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sv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svg"/><Relationship Id="rId4" Type="http://schemas.openxmlformats.org/officeDocument/2006/relationships/image" Target="../media/image26.png"/><Relationship Id="rId9" Type="http://schemas.openxmlformats.org/officeDocument/2006/relationships/image" Target="../media/image31.svg"/></Relationships>
</file>

<file path=ppt/slides/_rels/slide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s>
</file>

<file path=ppt/slides/_rels/slide1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37.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0F0F1"/>
            </a:solidFill>
            <a:ln w="12700">
              <a:solidFill>
                <a:srgbClr val="000000"/>
              </a:solidFill>
            </a:ln>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a:ln w="12700">
              <a:solidFill>
                <a:srgbClr val="000000"/>
              </a:solidFill>
            </a:ln>
          </p:spPr>
        </p:sp>
      </p:grpSp>
      <p:grpSp>
        <p:nvGrpSpPr>
          <p:cNvPr id="6" name="Group 6"/>
          <p:cNvGrpSpPr>
            <a:grpSpLocks noChangeAspect="1"/>
          </p:cNvGrpSpPr>
          <p:nvPr/>
        </p:nvGrpSpPr>
        <p:grpSpPr>
          <a:xfrm>
            <a:off x="16049019" y="9686925"/>
            <a:ext cx="2153256" cy="514350"/>
            <a:chOff x="0" y="0"/>
            <a:chExt cx="2871008" cy="685800"/>
          </a:xfrm>
        </p:grpSpPr>
        <p:sp>
          <p:nvSpPr>
            <p:cNvPr id="7" name="Freeform 7" descr="preencoded.png">
              <a:hlinkClick r:id="rId3" tooltip="https://gamma.app/?utm_source=made-with-gamma"/>
            </p:cNvPr>
            <p:cNvSpPr/>
            <p:nvPr/>
          </p:nvSpPr>
          <p:spPr>
            <a:xfrm>
              <a:off x="0" y="0"/>
              <a:ext cx="2870962" cy="685800"/>
            </a:xfrm>
            <a:custGeom>
              <a:avLst/>
              <a:gdLst/>
              <a:ahLst/>
              <a:cxnLst/>
              <a:rect l="l" t="t" r="r" b="b"/>
              <a:pathLst>
                <a:path w="2870962" h="685800">
                  <a:moveTo>
                    <a:pt x="0" y="0"/>
                  </a:moveTo>
                  <a:lnTo>
                    <a:pt x="2870962" y="0"/>
                  </a:lnTo>
                  <a:lnTo>
                    <a:pt x="2870962" y="685800"/>
                  </a:lnTo>
                  <a:lnTo>
                    <a:pt x="0" y="685800"/>
                  </a:lnTo>
                  <a:lnTo>
                    <a:pt x="0" y="0"/>
                  </a:lnTo>
                  <a:close/>
                </a:path>
              </a:pathLst>
            </a:custGeom>
            <a:blipFill>
              <a:blip r:embed="rId4"/>
              <a:stretch>
                <a:fillRect r="-1"/>
              </a:stretch>
            </a:blipFill>
          </p:spPr>
        </p:sp>
      </p:grpSp>
      <p:grpSp>
        <p:nvGrpSpPr>
          <p:cNvPr id="8" name="Group 8"/>
          <p:cNvGrpSpPr>
            <a:grpSpLocks noChangeAspect="1"/>
          </p:cNvGrpSpPr>
          <p:nvPr/>
        </p:nvGrpSpPr>
        <p:grpSpPr>
          <a:xfrm>
            <a:off x="11430000" y="0"/>
            <a:ext cx="6858000" cy="10287000"/>
            <a:chOff x="0" y="0"/>
            <a:chExt cx="9144000" cy="13716000"/>
          </a:xfrm>
        </p:grpSpPr>
        <p:sp>
          <p:nvSpPr>
            <p:cNvPr id="9" name="Freeform 9"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5"/>
              <a:stretch>
                <a:fillRect/>
              </a:stretch>
            </a:blipFill>
          </p:spPr>
        </p:sp>
      </p:grpSp>
      <p:sp>
        <p:nvSpPr>
          <p:cNvPr id="10" name="TextBox 10"/>
          <p:cNvSpPr txBox="1"/>
          <p:nvPr/>
        </p:nvSpPr>
        <p:spPr>
          <a:xfrm>
            <a:off x="992238" y="3481685"/>
            <a:ext cx="7088237" cy="933599"/>
          </a:xfrm>
          <a:prstGeom prst="rect">
            <a:avLst/>
          </a:prstGeom>
        </p:spPr>
        <p:txBody>
          <a:bodyPr lIns="0" tIns="0" rIns="0" bIns="0" rtlCol="0" anchor="t">
            <a:spAutoFit/>
          </a:bodyPr>
          <a:lstStyle/>
          <a:p>
            <a:pPr algn="l">
              <a:lnSpc>
                <a:spcPts val="6937"/>
              </a:lnSpc>
            </a:pPr>
            <a:r>
              <a:rPr lang="en-US" sz="5562" b="1">
                <a:solidFill>
                  <a:srgbClr val="152D47"/>
                </a:solidFill>
                <a:latin typeface="Crimson Pro Bold"/>
                <a:ea typeface="Crimson Pro Bold"/>
                <a:cs typeface="Crimson Pro Bold"/>
                <a:sym typeface="Crimson Pro Bold"/>
              </a:rPr>
              <a:t>NeuroFleetX</a:t>
            </a:r>
          </a:p>
        </p:txBody>
      </p:sp>
      <p:sp>
        <p:nvSpPr>
          <p:cNvPr id="11" name="TextBox 11"/>
          <p:cNvSpPr txBox="1"/>
          <p:nvPr/>
        </p:nvSpPr>
        <p:spPr>
          <a:xfrm>
            <a:off x="992238" y="4500116"/>
            <a:ext cx="8075562" cy="408830"/>
          </a:xfrm>
          <a:prstGeom prst="rect">
            <a:avLst/>
          </a:prstGeom>
        </p:spPr>
        <p:txBody>
          <a:bodyPr wrap="square" lIns="0" tIns="0" rIns="0" bIns="0" rtlCol="0" anchor="t">
            <a:spAutoFit/>
          </a:bodyPr>
          <a:lstStyle/>
          <a:p>
            <a:pPr algn="l">
              <a:lnSpc>
                <a:spcPts val="3437"/>
              </a:lnSpc>
            </a:pPr>
            <a:r>
              <a:rPr lang="en-US" sz="2750" b="1" dirty="0">
                <a:solidFill>
                  <a:srgbClr val="152D47"/>
                </a:solidFill>
                <a:latin typeface="Crimson Pro Bold"/>
                <a:ea typeface="Crimson Pro Bold"/>
                <a:cs typeface="Crimson Pro Bold"/>
                <a:sym typeface="Crimson Pro Bold"/>
              </a:rPr>
              <a:t>AI-Driven Urban Mobility Optimization System</a:t>
            </a:r>
          </a:p>
        </p:txBody>
      </p:sp>
      <p:sp>
        <p:nvSpPr>
          <p:cNvPr id="12" name="TextBox 12"/>
          <p:cNvSpPr txBox="1"/>
          <p:nvPr/>
        </p:nvSpPr>
        <p:spPr>
          <a:xfrm>
            <a:off x="992238" y="5311080"/>
            <a:ext cx="9445526" cy="1446610"/>
          </a:xfrm>
          <a:prstGeom prst="rect">
            <a:avLst/>
          </a:prstGeom>
        </p:spPr>
        <p:txBody>
          <a:bodyPr lIns="0" tIns="0" rIns="0" bIns="0" rtlCol="0" anchor="t">
            <a:spAutoFit/>
          </a:bodyPr>
          <a:lstStyle/>
          <a:p>
            <a:pPr algn="l">
              <a:lnSpc>
                <a:spcPts val="3562"/>
              </a:lnSpc>
            </a:pPr>
            <a:r>
              <a:rPr lang="en-US" sz="2187">
                <a:solidFill>
                  <a:srgbClr val="4C4C4D"/>
                </a:solidFill>
                <a:latin typeface="Heebo"/>
                <a:ea typeface="Heebo"/>
                <a:cs typeface="Heebo"/>
                <a:sym typeface="Heebo"/>
              </a:rPr>
              <a:t>Transforming urban transport through intelligent fleet management, predictive analytics, and real-time optimisation for sustainable, efficient mobility solutions.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0F0F1"/>
            </a:solidFill>
            <a:ln w="12700">
              <a:solidFill>
                <a:srgbClr val="000000"/>
              </a:solidFill>
            </a:ln>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a:ln w="12700">
              <a:solidFill>
                <a:srgbClr val="000000"/>
              </a:solidFill>
            </a:ln>
          </p:spPr>
        </p:sp>
      </p:grpSp>
      <p:sp>
        <p:nvSpPr>
          <p:cNvPr id="6" name="TextBox 6"/>
          <p:cNvSpPr txBox="1"/>
          <p:nvPr/>
        </p:nvSpPr>
        <p:spPr>
          <a:xfrm>
            <a:off x="992238" y="871537"/>
            <a:ext cx="7088237" cy="933599"/>
          </a:xfrm>
          <a:prstGeom prst="rect">
            <a:avLst/>
          </a:prstGeom>
        </p:spPr>
        <p:txBody>
          <a:bodyPr lIns="0" tIns="0" rIns="0" bIns="0" rtlCol="0" anchor="t">
            <a:spAutoFit/>
          </a:bodyPr>
          <a:lstStyle/>
          <a:p>
            <a:pPr algn="l">
              <a:lnSpc>
                <a:spcPts val="6937"/>
              </a:lnSpc>
            </a:pPr>
            <a:r>
              <a:rPr lang="en-US" sz="5562" b="1">
                <a:solidFill>
                  <a:srgbClr val="152D47"/>
                </a:solidFill>
                <a:latin typeface="Crimson Pro Bold"/>
                <a:ea typeface="Crimson Pro Bold"/>
                <a:cs typeface="Crimson Pro Bold"/>
                <a:sym typeface="Crimson Pro Bold"/>
              </a:rPr>
              <a:t>Problem Statement</a:t>
            </a:r>
          </a:p>
        </p:txBody>
      </p:sp>
      <p:sp>
        <p:nvSpPr>
          <p:cNvPr id="7" name="TextBox 7"/>
          <p:cNvSpPr txBox="1"/>
          <p:nvPr/>
        </p:nvSpPr>
        <p:spPr>
          <a:xfrm>
            <a:off x="992238" y="2485281"/>
            <a:ext cx="6106269" cy="492892"/>
          </a:xfrm>
          <a:prstGeom prst="rect">
            <a:avLst/>
          </a:prstGeom>
        </p:spPr>
        <p:txBody>
          <a:bodyPr wrap="square" lIns="0" tIns="0" rIns="0" bIns="0" rtlCol="0" anchor="t">
            <a:spAutoFit/>
          </a:bodyPr>
          <a:lstStyle/>
          <a:p>
            <a:pPr algn="l">
              <a:lnSpc>
                <a:spcPts val="4125"/>
              </a:lnSpc>
            </a:pPr>
            <a:r>
              <a:rPr lang="en-US" sz="3312" b="1" dirty="0">
                <a:solidFill>
                  <a:srgbClr val="152D47"/>
                </a:solidFill>
                <a:latin typeface="Crimson Pro Bold"/>
                <a:ea typeface="Crimson Pro Bold"/>
                <a:cs typeface="Crimson Pro Bold"/>
                <a:sym typeface="Crimson Pro Bold"/>
              </a:rPr>
              <a:t>Urban Mobility Challenges</a:t>
            </a:r>
          </a:p>
        </p:txBody>
      </p:sp>
      <p:sp>
        <p:nvSpPr>
          <p:cNvPr id="8" name="TextBox 8"/>
          <p:cNvSpPr txBox="1"/>
          <p:nvPr/>
        </p:nvSpPr>
        <p:spPr>
          <a:xfrm>
            <a:off x="992238" y="3243262"/>
            <a:ext cx="6106269" cy="1900237"/>
          </a:xfrm>
          <a:prstGeom prst="rect">
            <a:avLst/>
          </a:prstGeom>
        </p:spPr>
        <p:txBody>
          <a:bodyPr lIns="0" tIns="0" rIns="0" bIns="0" rtlCol="0" anchor="t">
            <a:spAutoFit/>
          </a:bodyPr>
          <a:lstStyle/>
          <a:p>
            <a:pPr algn="l">
              <a:lnSpc>
                <a:spcPts val="3562"/>
              </a:lnSpc>
            </a:pPr>
            <a:r>
              <a:rPr lang="en-US" sz="2187">
                <a:solidFill>
                  <a:srgbClr val="4C4C4D"/>
                </a:solidFill>
                <a:latin typeface="Heebo"/>
                <a:ea typeface="Heebo"/>
                <a:cs typeface="Heebo"/>
                <a:sym typeface="Heebo"/>
              </a:rPr>
              <a:t>Modern cities face unprecedented transport demands with increasing congestion, inefficient fleet utilisation, and environmental concerns requiring immediate attention.</a:t>
            </a:r>
          </a:p>
        </p:txBody>
      </p:sp>
      <p:sp>
        <p:nvSpPr>
          <p:cNvPr id="9" name="TextBox 9"/>
          <p:cNvSpPr txBox="1"/>
          <p:nvPr/>
        </p:nvSpPr>
        <p:spPr>
          <a:xfrm>
            <a:off x="992238" y="5312866"/>
            <a:ext cx="6106269" cy="2353866"/>
          </a:xfrm>
          <a:prstGeom prst="rect">
            <a:avLst/>
          </a:prstGeom>
        </p:spPr>
        <p:txBody>
          <a:bodyPr lIns="0" tIns="0" rIns="0" bIns="0" rtlCol="0" anchor="t">
            <a:spAutoFit/>
          </a:bodyPr>
          <a:lstStyle/>
          <a:p>
            <a:pPr algn="l">
              <a:lnSpc>
                <a:spcPts val="3562"/>
              </a:lnSpc>
            </a:pPr>
            <a:r>
              <a:rPr lang="en-US" sz="2187">
                <a:solidFill>
                  <a:srgbClr val="4C4C4D"/>
                </a:solidFill>
                <a:latin typeface="Heebo"/>
                <a:ea typeface="Heebo"/>
                <a:cs typeface="Heebo"/>
                <a:sym typeface="Heebo"/>
              </a:rPr>
              <a:t>Traditional fleet management systems lack predictive capabilities, resulting in reactive maintenance, suboptimal routing, and poor resource allocation that impacts operational efficiency.</a:t>
            </a:r>
          </a:p>
        </p:txBody>
      </p:sp>
      <p:grpSp>
        <p:nvGrpSpPr>
          <p:cNvPr id="10" name="Group 10"/>
          <p:cNvGrpSpPr/>
          <p:nvPr/>
        </p:nvGrpSpPr>
        <p:grpSpPr>
          <a:xfrm>
            <a:off x="7799785" y="2549277"/>
            <a:ext cx="4610844" cy="3334791"/>
            <a:chOff x="0" y="0"/>
            <a:chExt cx="6147792" cy="4446388"/>
          </a:xfrm>
        </p:grpSpPr>
        <p:sp>
          <p:nvSpPr>
            <p:cNvPr id="11" name="Freeform 11"/>
            <p:cNvSpPr/>
            <p:nvPr/>
          </p:nvSpPr>
          <p:spPr>
            <a:xfrm>
              <a:off x="0" y="0"/>
              <a:ext cx="6147689" cy="4446397"/>
            </a:xfrm>
            <a:custGeom>
              <a:avLst/>
              <a:gdLst/>
              <a:ahLst/>
              <a:cxnLst/>
              <a:rect l="l" t="t" r="r" b="b"/>
              <a:pathLst>
                <a:path w="6147689" h="4446397">
                  <a:moveTo>
                    <a:pt x="0" y="56642"/>
                  </a:moveTo>
                  <a:cubicBezTo>
                    <a:pt x="0" y="25400"/>
                    <a:pt x="25400" y="0"/>
                    <a:pt x="56642" y="0"/>
                  </a:cubicBezTo>
                  <a:lnTo>
                    <a:pt x="6091047" y="0"/>
                  </a:lnTo>
                  <a:cubicBezTo>
                    <a:pt x="6122416" y="0"/>
                    <a:pt x="6147689" y="25400"/>
                    <a:pt x="6147689" y="56642"/>
                  </a:cubicBezTo>
                  <a:lnTo>
                    <a:pt x="6147689" y="4389755"/>
                  </a:lnTo>
                  <a:cubicBezTo>
                    <a:pt x="6147689" y="4421124"/>
                    <a:pt x="6122289" y="4446397"/>
                    <a:pt x="6091047" y="4446397"/>
                  </a:cubicBezTo>
                  <a:lnTo>
                    <a:pt x="56642" y="4446397"/>
                  </a:lnTo>
                  <a:cubicBezTo>
                    <a:pt x="25273" y="4446397"/>
                    <a:pt x="0" y="4420997"/>
                    <a:pt x="0" y="4389755"/>
                  </a:cubicBezTo>
                  <a:close/>
                </a:path>
              </a:pathLst>
            </a:custGeom>
            <a:solidFill>
              <a:srgbClr val="F2EEEE"/>
            </a:solidFill>
            <a:ln w="12700">
              <a:solidFill>
                <a:srgbClr val="000000"/>
              </a:solidFill>
            </a:ln>
          </p:spPr>
        </p:sp>
      </p:grpSp>
      <p:grpSp>
        <p:nvGrpSpPr>
          <p:cNvPr id="12" name="Group 12"/>
          <p:cNvGrpSpPr/>
          <p:nvPr/>
        </p:nvGrpSpPr>
        <p:grpSpPr>
          <a:xfrm>
            <a:off x="8083302" y="2832795"/>
            <a:ext cx="850552" cy="850552"/>
            <a:chOff x="0" y="0"/>
            <a:chExt cx="1134070" cy="1134070"/>
          </a:xfrm>
        </p:grpSpPr>
        <p:sp>
          <p:nvSpPr>
            <p:cNvPr id="13" name="Freeform 13"/>
            <p:cNvSpPr/>
            <p:nvPr/>
          </p:nvSpPr>
          <p:spPr>
            <a:xfrm>
              <a:off x="0" y="0"/>
              <a:ext cx="1134110" cy="1134110"/>
            </a:xfrm>
            <a:custGeom>
              <a:avLst/>
              <a:gdLst/>
              <a:ahLst/>
              <a:cxnLst/>
              <a:rect l="l" t="t" r="r" b="b"/>
              <a:pathLst>
                <a:path w="1134110" h="1134110">
                  <a:moveTo>
                    <a:pt x="0" y="567055"/>
                  </a:moveTo>
                  <a:cubicBezTo>
                    <a:pt x="0" y="253873"/>
                    <a:pt x="253873" y="0"/>
                    <a:pt x="567055" y="0"/>
                  </a:cubicBezTo>
                  <a:cubicBezTo>
                    <a:pt x="880237" y="0"/>
                    <a:pt x="1134110" y="253873"/>
                    <a:pt x="1134110" y="567055"/>
                  </a:cubicBezTo>
                  <a:cubicBezTo>
                    <a:pt x="1134110" y="880237"/>
                    <a:pt x="880237" y="1134110"/>
                    <a:pt x="567055" y="1134110"/>
                  </a:cubicBezTo>
                  <a:cubicBezTo>
                    <a:pt x="253873" y="1134110"/>
                    <a:pt x="0" y="880237"/>
                    <a:pt x="0" y="567055"/>
                  </a:cubicBezTo>
                  <a:close/>
                </a:path>
              </a:pathLst>
            </a:custGeom>
            <a:solidFill>
              <a:srgbClr val="2150FE"/>
            </a:solidFill>
            <a:ln w="12700">
              <a:solidFill>
                <a:srgbClr val="000000"/>
              </a:solidFill>
            </a:ln>
          </p:spPr>
        </p:sp>
      </p:grpSp>
      <p:sp>
        <p:nvSpPr>
          <p:cNvPr id="14" name="Freeform 14" descr="preencoded.png"/>
          <p:cNvSpPr/>
          <p:nvPr/>
        </p:nvSpPr>
        <p:spPr>
          <a:xfrm>
            <a:off x="8317260" y="3066604"/>
            <a:ext cx="382638" cy="382638"/>
          </a:xfrm>
          <a:custGeom>
            <a:avLst/>
            <a:gdLst/>
            <a:ahLst/>
            <a:cxnLst/>
            <a:rect l="l" t="t" r="r" b="b"/>
            <a:pathLst>
              <a:path w="382638" h="382638">
                <a:moveTo>
                  <a:pt x="0" y="0"/>
                </a:moveTo>
                <a:lnTo>
                  <a:pt x="382638" y="0"/>
                </a:lnTo>
                <a:lnTo>
                  <a:pt x="382638" y="382637"/>
                </a:lnTo>
                <a:lnTo>
                  <a:pt x="0" y="382637"/>
                </a:lnTo>
                <a:lnTo>
                  <a:pt x="0" y="0"/>
                </a:lnTo>
                <a:close/>
              </a:path>
            </a:pathLst>
          </a:custGeom>
          <a:blipFill>
            <a:blip r:embed="rId3">
              <a:extLst>
                <a:ext uri="{96DAC541-7B7A-43D3-8B79-37D633B846F1}">
                  <asvg:svgBlip xmlns:asvg="http://schemas.microsoft.com/office/drawing/2016/SVG/main" r:embed="rId4"/>
                </a:ext>
              </a:extLst>
            </a:blip>
            <a:stretch>
              <a:fillRect t="-14634" b="-14634"/>
            </a:stretch>
          </a:blipFill>
        </p:spPr>
      </p:sp>
      <p:sp>
        <p:nvSpPr>
          <p:cNvPr id="15" name="TextBox 15"/>
          <p:cNvSpPr txBox="1"/>
          <p:nvPr/>
        </p:nvSpPr>
        <p:spPr>
          <a:xfrm>
            <a:off x="8083302" y="3938290"/>
            <a:ext cx="3544044" cy="471487"/>
          </a:xfrm>
          <a:prstGeom prst="rect">
            <a:avLst/>
          </a:prstGeom>
        </p:spPr>
        <p:txBody>
          <a:bodyPr lIns="0" tIns="0" rIns="0" bIns="0" rtlCol="0" anchor="t">
            <a:spAutoFit/>
          </a:bodyPr>
          <a:lstStyle/>
          <a:p>
            <a:pPr algn="l">
              <a:lnSpc>
                <a:spcPts val="3437"/>
              </a:lnSpc>
            </a:pPr>
            <a:r>
              <a:rPr lang="en-US" sz="2750" b="1">
                <a:solidFill>
                  <a:srgbClr val="4C4C4D"/>
                </a:solidFill>
                <a:latin typeface="Crimson Pro Bold"/>
                <a:ea typeface="Crimson Pro Bold"/>
                <a:cs typeface="Crimson Pro Bold"/>
                <a:sym typeface="Crimson Pro Bold"/>
              </a:rPr>
              <a:t>Traffic Inefficiency</a:t>
            </a:r>
          </a:p>
        </p:txBody>
      </p:sp>
      <p:sp>
        <p:nvSpPr>
          <p:cNvPr id="16" name="TextBox 16"/>
          <p:cNvSpPr txBox="1"/>
          <p:nvPr/>
        </p:nvSpPr>
        <p:spPr>
          <a:xfrm>
            <a:off x="8083302" y="4607570"/>
            <a:ext cx="4043809" cy="992981"/>
          </a:xfrm>
          <a:prstGeom prst="rect">
            <a:avLst/>
          </a:prstGeom>
        </p:spPr>
        <p:txBody>
          <a:bodyPr lIns="0" tIns="0" rIns="0" bIns="0" rtlCol="0" anchor="t">
            <a:spAutoFit/>
          </a:bodyPr>
          <a:lstStyle/>
          <a:p>
            <a:pPr algn="l">
              <a:lnSpc>
                <a:spcPts val="3562"/>
              </a:lnSpc>
            </a:pPr>
            <a:r>
              <a:rPr lang="en-US" sz="2187">
                <a:solidFill>
                  <a:srgbClr val="4C4C4D"/>
                </a:solidFill>
                <a:latin typeface="Heebo"/>
                <a:ea typeface="Heebo"/>
                <a:cs typeface="Heebo"/>
                <a:sym typeface="Heebo"/>
              </a:rPr>
              <a:t>Poor route planning increases journey times by 30-40%</a:t>
            </a:r>
          </a:p>
        </p:txBody>
      </p:sp>
      <p:grpSp>
        <p:nvGrpSpPr>
          <p:cNvPr id="17" name="Group 17"/>
          <p:cNvGrpSpPr/>
          <p:nvPr/>
        </p:nvGrpSpPr>
        <p:grpSpPr>
          <a:xfrm>
            <a:off x="12694146" y="2549277"/>
            <a:ext cx="4610992" cy="3334791"/>
            <a:chOff x="0" y="0"/>
            <a:chExt cx="6147990" cy="4446388"/>
          </a:xfrm>
        </p:grpSpPr>
        <p:sp>
          <p:nvSpPr>
            <p:cNvPr id="18" name="Freeform 18"/>
            <p:cNvSpPr/>
            <p:nvPr/>
          </p:nvSpPr>
          <p:spPr>
            <a:xfrm>
              <a:off x="0" y="0"/>
              <a:ext cx="6147943" cy="4446397"/>
            </a:xfrm>
            <a:custGeom>
              <a:avLst/>
              <a:gdLst/>
              <a:ahLst/>
              <a:cxnLst/>
              <a:rect l="l" t="t" r="r" b="b"/>
              <a:pathLst>
                <a:path w="6147943" h="4446397">
                  <a:moveTo>
                    <a:pt x="0" y="56642"/>
                  </a:moveTo>
                  <a:cubicBezTo>
                    <a:pt x="0" y="25400"/>
                    <a:pt x="25400" y="0"/>
                    <a:pt x="56642" y="0"/>
                  </a:cubicBezTo>
                  <a:lnTo>
                    <a:pt x="6091301" y="0"/>
                  </a:lnTo>
                  <a:cubicBezTo>
                    <a:pt x="6122670" y="0"/>
                    <a:pt x="6147943" y="25400"/>
                    <a:pt x="6147943" y="56642"/>
                  </a:cubicBezTo>
                  <a:lnTo>
                    <a:pt x="6147943" y="4389755"/>
                  </a:lnTo>
                  <a:cubicBezTo>
                    <a:pt x="6147943" y="4421124"/>
                    <a:pt x="6122543" y="4446397"/>
                    <a:pt x="6091301" y="4446397"/>
                  </a:cubicBezTo>
                  <a:lnTo>
                    <a:pt x="56642" y="4446397"/>
                  </a:lnTo>
                  <a:cubicBezTo>
                    <a:pt x="25273" y="4446397"/>
                    <a:pt x="0" y="4420997"/>
                    <a:pt x="0" y="4389755"/>
                  </a:cubicBezTo>
                  <a:close/>
                </a:path>
              </a:pathLst>
            </a:custGeom>
            <a:solidFill>
              <a:srgbClr val="F2EEEE"/>
            </a:solidFill>
            <a:ln w="12700">
              <a:solidFill>
                <a:srgbClr val="000000"/>
              </a:solidFill>
            </a:ln>
          </p:spPr>
        </p:sp>
      </p:grpSp>
      <p:grpSp>
        <p:nvGrpSpPr>
          <p:cNvPr id="19" name="Group 19"/>
          <p:cNvGrpSpPr/>
          <p:nvPr/>
        </p:nvGrpSpPr>
        <p:grpSpPr>
          <a:xfrm>
            <a:off x="12977664" y="2832795"/>
            <a:ext cx="850553" cy="850552"/>
            <a:chOff x="0" y="0"/>
            <a:chExt cx="1134070" cy="1134070"/>
          </a:xfrm>
        </p:grpSpPr>
        <p:sp>
          <p:nvSpPr>
            <p:cNvPr id="20" name="Freeform 20"/>
            <p:cNvSpPr/>
            <p:nvPr/>
          </p:nvSpPr>
          <p:spPr>
            <a:xfrm>
              <a:off x="0" y="0"/>
              <a:ext cx="1134110" cy="1134110"/>
            </a:xfrm>
            <a:custGeom>
              <a:avLst/>
              <a:gdLst/>
              <a:ahLst/>
              <a:cxnLst/>
              <a:rect l="l" t="t" r="r" b="b"/>
              <a:pathLst>
                <a:path w="1134110" h="1134110">
                  <a:moveTo>
                    <a:pt x="0" y="567055"/>
                  </a:moveTo>
                  <a:cubicBezTo>
                    <a:pt x="0" y="253873"/>
                    <a:pt x="253873" y="0"/>
                    <a:pt x="567055" y="0"/>
                  </a:cubicBezTo>
                  <a:cubicBezTo>
                    <a:pt x="880237" y="0"/>
                    <a:pt x="1134110" y="253873"/>
                    <a:pt x="1134110" y="567055"/>
                  </a:cubicBezTo>
                  <a:cubicBezTo>
                    <a:pt x="1134110" y="880237"/>
                    <a:pt x="880237" y="1134110"/>
                    <a:pt x="567055" y="1134110"/>
                  </a:cubicBezTo>
                  <a:cubicBezTo>
                    <a:pt x="253873" y="1134110"/>
                    <a:pt x="0" y="880237"/>
                    <a:pt x="0" y="567055"/>
                  </a:cubicBezTo>
                  <a:close/>
                </a:path>
              </a:pathLst>
            </a:custGeom>
            <a:solidFill>
              <a:srgbClr val="2150FE"/>
            </a:solidFill>
            <a:ln w="12700">
              <a:solidFill>
                <a:srgbClr val="000000"/>
              </a:solidFill>
            </a:ln>
          </p:spPr>
        </p:sp>
      </p:grpSp>
      <p:sp>
        <p:nvSpPr>
          <p:cNvPr id="21" name="Freeform 21" descr="preencoded.png"/>
          <p:cNvSpPr/>
          <p:nvPr/>
        </p:nvSpPr>
        <p:spPr>
          <a:xfrm>
            <a:off x="13211621" y="3066604"/>
            <a:ext cx="382638" cy="382638"/>
          </a:xfrm>
          <a:custGeom>
            <a:avLst/>
            <a:gdLst/>
            <a:ahLst/>
            <a:cxnLst/>
            <a:rect l="l" t="t" r="r" b="b"/>
            <a:pathLst>
              <a:path w="382638" h="382638">
                <a:moveTo>
                  <a:pt x="0" y="0"/>
                </a:moveTo>
                <a:lnTo>
                  <a:pt x="382638" y="0"/>
                </a:lnTo>
                <a:lnTo>
                  <a:pt x="382638" y="382637"/>
                </a:lnTo>
                <a:lnTo>
                  <a:pt x="0" y="382637"/>
                </a:lnTo>
                <a:lnTo>
                  <a:pt x="0" y="0"/>
                </a:lnTo>
                <a:close/>
              </a:path>
            </a:pathLst>
          </a:custGeom>
          <a:blipFill>
            <a:blip r:embed="rId5">
              <a:extLst>
                <a:ext uri="{96DAC541-7B7A-43D3-8B79-37D633B846F1}">
                  <asvg:svgBlip xmlns:asvg="http://schemas.microsoft.com/office/drawing/2016/SVG/main" r:embed="rId6"/>
                </a:ext>
              </a:extLst>
            </a:blip>
            <a:stretch>
              <a:fillRect l="-51219" r="-51219"/>
            </a:stretch>
          </a:blipFill>
        </p:spPr>
      </p:sp>
      <p:sp>
        <p:nvSpPr>
          <p:cNvPr id="22" name="TextBox 22"/>
          <p:cNvSpPr txBox="1"/>
          <p:nvPr/>
        </p:nvSpPr>
        <p:spPr>
          <a:xfrm>
            <a:off x="12977664" y="3938290"/>
            <a:ext cx="3544044" cy="471487"/>
          </a:xfrm>
          <a:prstGeom prst="rect">
            <a:avLst/>
          </a:prstGeom>
        </p:spPr>
        <p:txBody>
          <a:bodyPr lIns="0" tIns="0" rIns="0" bIns="0" rtlCol="0" anchor="t">
            <a:spAutoFit/>
          </a:bodyPr>
          <a:lstStyle/>
          <a:p>
            <a:pPr algn="l">
              <a:lnSpc>
                <a:spcPts val="3437"/>
              </a:lnSpc>
            </a:pPr>
            <a:r>
              <a:rPr lang="en-US" sz="2750" b="1">
                <a:solidFill>
                  <a:srgbClr val="4C4C4D"/>
                </a:solidFill>
                <a:latin typeface="Crimson Pro Bold"/>
                <a:ea typeface="Crimson Pro Bold"/>
                <a:cs typeface="Crimson Pro Bold"/>
                <a:sym typeface="Crimson Pro Bold"/>
              </a:rPr>
              <a:t>Reactive Maintenance</a:t>
            </a:r>
          </a:p>
        </p:txBody>
      </p:sp>
      <p:sp>
        <p:nvSpPr>
          <p:cNvPr id="23" name="TextBox 23"/>
          <p:cNvSpPr txBox="1"/>
          <p:nvPr/>
        </p:nvSpPr>
        <p:spPr>
          <a:xfrm>
            <a:off x="12977664" y="4607570"/>
            <a:ext cx="4043957" cy="992981"/>
          </a:xfrm>
          <a:prstGeom prst="rect">
            <a:avLst/>
          </a:prstGeom>
        </p:spPr>
        <p:txBody>
          <a:bodyPr lIns="0" tIns="0" rIns="0" bIns="0" rtlCol="0" anchor="t">
            <a:spAutoFit/>
          </a:bodyPr>
          <a:lstStyle/>
          <a:p>
            <a:pPr algn="l">
              <a:lnSpc>
                <a:spcPts val="3562"/>
              </a:lnSpc>
            </a:pPr>
            <a:r>
              <a:rPr lang="en-US" sz="2187">
                <a:solidFill>
                  <a:srgbClr val="4C4C4D"/>
                </a:solidFill>
                <a:latin typeface="Heebo"/>
                <a:ea typeface="Heebo"/>
                <a:cs typeface="Heebo"/>
                <a:sym typeface="Heebo"/>
              </a:rPr>
              <a:t>Unexpected breakdowns cause service disruptions</a:t>
            </a:r>
          </a:p>
        </p:txBody>
      </p:sp>
      <p:grpSp>
        <p:nvGrpSpPr>
          <p:cNvPr id="24" name="Group 24"/>
          <p:cNvGrpSpPr/>
          <p:nvPr/>
        </p:nvGrpSpPr>
        <p:grpSpPr>
          <a:xfrm>
            <a:off x="7799785" y="6167586"/>
            <a:ext cx="9505355" cy="2881164"/>
            <a:chOff x="0" y="0"/>
            <a:chExt cx="12673807" cy="3841552"/>
          </a:xfrm>
        </p:grpSpPr>
        <p:sp>
          <p:nvSpPr>
            <p:cNvPr id="25" name="Freeform 25"/>
            <p:cNvSpPr/>
            <p:nvPr/>
          </p:nvSpPr>
          <p:spPr>
            <a:xfrm>
              <a:off x="0" y="0"/>
              <a:ext cx="12673711" cy="3841496"/>
            </a:xfrm>
            <a:custGeom>
              <a:avLst/>
              <a:gdLst/>
              <a:ahLst/>
              <a:cxnLst/>
              <a:rect l="l" t="t" r="r" b="b"/>
              <a:pathLst>
                <a:path w="12673711" h="3841496">
                  <a:moveTo>
                    <a:pt x="0" y="56642"/>
                  </a:moveTo>
                  <a:cubicBezTo>
                    <a:pt x="0" y="25400"/>
                    <a:pt x="25400" y="0"/>
                    <a:pt x="56642" y="0"/>
                  </a:cubicBezTo>
                  <a:lnTo>
                    <a:pt x="12617069" y="0"/>
                  </a:lnTo>
                  <a:cubicBezTo>
                    <a:pt x="12648437" y="0"/>
                    <a:pt x="12673711" y="25400"/>
                    <a:pt x="12673711" y="56642"/>
                  </a:cubicBezTo>
                  <a:lnTo>
                    <a:pt x="12673711" y="3784854"/>
                  </a:lnTo>
                  <a:cubicBezTo>
                    <a:pt x="12673711" y="3816223"/>
                    <a:pt x="12648311" y="3841496"/>
                    <a:pt x="12617069" y="3841496"/>
                  </a:cubicBezTo>
                  <a:lnTo>
                    <a:pt x="56642" y="3841496"/>
                  </a:lnTo>
                  <a:cubicBezTo>
                    <a:pt x="25273" y="3841496"/>
                    <a:pt x="0" y="3816096"/>
                    <a:pt x="0" y="3784854"/>
                  </a:cubicBezTo>
                  <a:close/>
                </a:path>
              </a:pathLst>
            </a:custGeom>
            <a:solidFill>
              <a:srgbClr val="F2EEEE"/>
            </a:solidFill>
            <a:ln w="12700">
              <a:solidFill>
                <a:srgbClr val="000000"/>
              </a:solidFill>
            </a:ln>
          </p:spPr>
        </p:sp>
      </p:grpSp>
      <p:grpSp>
        <p:nvGrpSpPr>
          <p:cNvPr id="26" name="Group 26"/>
          <p:cNvGrpSpPr/>
          <p:nvPr/>
        </p:nvGrpSpPr>
        <p:grpSpPr>
          <a:xfrm>
            <a:off x="8083302" y="6451104"/>
            <a:ext cx="850552" cy="850552"/>
            <a:chOff x="0" y="0"/>
            <a:chExt cx="1134070" cy="1134070"/>
          </a:xfrm>
        </p:grpSpPr>
        <p:sp>
          <p:nvSpPr>
            <p:cNvPr id="27" name="Freeform 27"/>
            <p:cNvSpPr/>
            <p:nvPr/>
          </p:nvSpPr>
          <p:spPr>
            <a:xfrm>
              <a:off x="0" y="0"/>
              <a:ext cx="1134110" cy="1134110"/>
            </a:xfrm>
            <a:custGeom>
              <a:avLst/>
              <a:gdLst/>
              <a:ahLst/>
              <a:cxnLst/>
              <a:rect l="l" t="t" r="r" b="b"/>
              <a:pathLst>
                <a:path w="1134110" h="1134110">
                  <a:moveTo>
                    <a:pt x="0" y="567055"/>
                  </a:moveTo>
                  <a:cubicBezTo>
                    <a:pt x="0" y="253873"/>
                    <a:pt x="253873" y="0"/>
                    <a:pt x="567055" y="0"/>
                  </a:cubicBezTo>
                  <a:cubicBezTo>
                    <a:pt x="880237" y="0"/>
                    <a:pt x="1134110" y="253873"/>
                    <a:pt x="1134110" y="567055"/>
                  </a:cubicBezTo>
                  <a:cubicBezTo>
                    <a:pt x="1134110" y="880237"/>
                    <a:pt x="880237" y="1134110"/>
                    <a:pt x="567055" y="1134110"/>
                  </a:cubicBezTo>
                  <a:cubicBezTo>
                    <a:pt x="253873" y="1134110"/>
                    <a:pt x="0" y="880237"/>
                    <a:pt x="0" y="567055"/>
                  </a:cubicBezTo>
                  <a:close/>
                </a:path>
              </a:pathLst>
            </a:custGeom>
            <a:solidFill>
              <a:srgbClr val="2150FE"/>
            </a:solidFill>
            <a:ln w="12700">
              <a:solidFill>
                <a:srgbClr val="000000"/>
              </a:solidFill>
            </a:ln>
          </p:spPr>
        </p:sp>
      </p:grpSp>
      <p:sp>
        <p:nvSpPr>
          <p:cNvPr id="28" name="Freeform 28" descr="preencoded.png"/>
          <p:cNvSpPr/>
          <p:nvPr/>
        </p:nvSpPr>
        <p:spPr>
          <a:xfrm>
            <a:off x="8317260" y="6684912"/>
            <a:ext cx="382638" cy="382638"/>
          </a:xfrm>
          <a:custGeom>
            <a:avLst/>
            <a:gdLst/>
            <a:ahLst/>
            <a:cxnLst/>
            <a:rect l="l" t="t" r="r" b="b"/>
            <a:pathLst>
              <a:path w="382638" h="382638">
                <a:moveTo>
                  <a:pt x="0" y="0"/>
                </a:moveTo>
                <a:lnTo>
                  <a:pt x="382638" y="0"/>
                </a:lnTo>
                <a:lnTo>
                  <a:pt x="382638" y="382638"/>
                </a:lnTo>
                <a:lnTo>
                  <a:pt x="0" y="38263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9" name="TextBox 29"/>
          <p:cNvSpPr txBox="1"/>
          <p:nvPr/>
        </p:nvSpPr>
        <p:spPr>
          <a:xfrm>
            <a:off x="8083302" y="7556599"/>
            <a:ext cx="3544044" cy="471487"/>
          </a:xfrm>
          <a:prstGeom prst="rect">
            <a:avLst/>
          </a:prstGeom>
        </p:spPr>
        <p:txBody>
          <a:bodyPr lIns="0" tIns="0" rIns="0" bIns="0" rtlCol="0" anchor="t">
            <a:spAutoFit/>
          </a:bodyPr>
          <a:lstStyle/>
          <a:p>
            <a:pPr algn="l">
              <a:lnSpc>
                <a:spcPts val="3437"/>
              </a:lnSpc>
            </a:pPr>
            <a:r>
              <a:rPr lang="en-US" sz="2750" b="1">
                <a:solidFill>
                  <a:srgbClr val="4C4C4D"/>
                </a:solidFill>
                <a:latin typeface="Crimson Pro Bold"/>
                <a:ea typeface="Crimson Pro Bold"/>
                <a:cs typeface="Crimson Pro Bold"/>
                <a:sym typeface="Crimson Pro Bold"/>
              </a:rPr>
              <a:t>Asset Underutilisation</a:t>
            </a:r>
          </a:p>
        </p:txBody>
      </p:sp>
      <p:sp>
        <p:nvSpPr>
          <p:cNvPr id="30" name="TextBox 30"/>
          <p:cNvSpPr txBox="1"/>
          <p:nvPr/>
        </p:nvSpPr>
        <p:spPr>
          <a:xfrm>
            <a:off x="8083302" y="8225879"/>
            <a:ext cx="8938320" cy="539354"/>
          </a:xfrm>
          <a:prstGeom prst="rect">
            <a:avLst/>
          </a:prstGeom>
        </p:spPr>
        <p:txBody>
          <a:bodyPr lIns="0" tIns="0" rIns="0" bIns="0" rtlCol="0" anchor="t">
            <a:spAutoFit/>
          </a:bodyPr>
          <a:lstStyle/>
          <a:p>
            <a:pPr algn="l">
              <a:lnSpc>
                <a:spcPts val="3562"/>
              </a:lnSpc>
            </a:pPr>
            <a:r>
              <a:rPr lang="en-US" sz="2187">
                <a:solidFill>
                  <a:srgbClr val="4C4C4D"/>
                </a:solidFill>
                <a:latin typeface="Heebo"/>
                <a:ea typeface="Heebo"/>
                <a:cs typeface="Heebo"/>
                <a:sym typeface="Heebo"/>
              </a:rPr>
              <a:t>Vehicles remain idle whilst demand goes unmet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0F0F1"/>
            </a:solidFill>
            <a:ln w="12700">
              <a:solidFill>
                <a:srgbClr val="000000"/>
              </a:solidFill>
            </a:ln>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a:ln w="12700">
              <a:solidFill>
                <a:srgbClr val="000000"/>
              </a:solidFill>
            </a:ln>
          </p:spPr>
        </p:sp>
      </p:grpSp>
      <p:grpSp>
        <p:nvGrpSpPr>
          <p:cNvPr id="6" name="Group 6"/>
          <p:cNvGrpSpPr>
            <a:grpSpLocks noChangeAspect="1"/>
          </p:cNvGrpSpPr>
          <p:nvPr/>
        </p:nvGrpSpPr>
        <p:grpSpPr>
          <a:xfrm>
            <a:off x="16049019" y="9686925"/>
            <a:ext cx="2153256" cy="514350"/>
            <a:chOff x="0" y="0"/>
            <a:chExt cx="2871008" cy="685800"/>
          </a:xfrm>
        </p:grpSpPr>
        <p:sp>
          <p:nvSpPr>
            <p:cNvPr id="7" name="Freeform 7" descr="preencoded.png">
              <a:hlinkClick r:id="rId3" tooltip="https://gamma.app/?utm_source=made-with-gamma"/>
            </p:cNvPr>
            <p:cNvSpPr/>
            <p:nvPr/>
          </p:nvSpPr>
          <p:spPr>
            <a:xfrm>
              <a:off x="0" y="0"/>
              <a:ext cx="2870962" cy="685800"/>
            </a:xfrm>
            <a:custGeom>
              <a:avLst/>
              <a:gdLst/>
              <a:ahLst/>
              <a:cxnLst/>
              <a:rect l="l" t="t" r="r" b="b"/>
              <a:pathLst>
                <a:path w="2870962" h="685800">
                  <a:moveTo>
                    <a:pt x="0" y="0"/>
                  </a:moveTo>
                  <a:lnTo>
                    <a:pt x="2870962" y="0"/>
                  </a:lnTo>
                  <a:lnTo>
                    <a:pt x="2870962" y="685800"/>
                  </a:lnTo>
                  <a:lnTo>
                    <a:pt x="0" y="685800"/>
                  </a:lnTo>
                  <a:lnTo>
                    <a:pt x="0" y="0"/>
                  </a:lnTo>
                  <a:close/>
                </a:path>
              </a:pathLst>
            </a:custGeom>
            <a:blipFill>
              <a:blip r:embed="rId4"/>
              <a:stretch>
                <a:fillRect r="-1"/>
              </a:stretch>
            </a:blipFill>
          </p:spPr>
        </p:sp>
      </p:grpSp>
      <p:grpSp>
        <p:nvGrpSpPr>
          <p:cNvPr id="8" name="Group 8"/>
          <p:cNvGrpSpPr>
            <a:grpSpLocks noChangeAspect="1"/>
          </p:cNvGrpSpPr>
          <p:nvPr/>
        </p:nvGrpSpPr>
        <p:grpSpPr>
          <a:xfrm>
            <a:off x="11430000" y="0"/>
            <a:ext cx="6858000" cy="10287000"/>
            <a:chOff x="0" y="0"/>
            <a:chExt cx="9144000" cy="13716000"/>
          </a:xfrm>
        </p:grpSpPr>
        <p:sp>
          <p:nvSpPr>
            <p:cNvPr id="9" name="Freeform 9"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5"/>
              <a:stretch>
                <a:fillRect/>
              </a:stretch>
            </a:blipFill>
          </p:spPr>
        </p:sp>
      </p:grpSp>
      <p:sp>
        <p:nvSpPr>
          <p:cNvPr id="10" name="TextBox 10"/>
          <p:cNvSpPr txBox="1"/>
          <p:nvPr/>
        </p:nvSpPr>
        <p:spPr>
          <a:xfrm>
            <a:off x="992238" y="1670894"/>
            <a:ext cx="8532762" cy="829138"/>
          </a:xfrm>
          <a:prstGeom prst="rect">
            <a:avLst/>
          </a:prstGeom>
        </p:spPr>
        <p:txBody>
          <a:bodyPr wrap="square" lIns="0" tIns="0" rIns="0" bIns="0" rtlCol="0" anchor="t">
            <a:spAutoFit/>
          </a:bodyPr>
          <a:lstStyle/>
          <a:p>
            <a:pPr algn="l">
              <a:lnSpc>
                <a:spcPts val="6937"/>
              </a:lnSpc>
            </a:pPr>
            <a:r>
              <a:rPr lang="en-US" sz="5562" b="1" dirty="0">
                <a:solidFill>
                  <a:srgbClr val="152D47"/>
                </a:solidFill>
                <a:latin typeface="Crimson Pro Bold"/>
                <a:ea typeface="Crimson Pro Bold"/>
                <a:cs typeface="Crimson Pro Bold"/>
                <a:sym typeface="Crimson Pro Bold"/>
              </a:rPr>
              <a:t>The </a:t>
            </a:r>
            <a:r>
              <a:rPr lang="en-US" sz="5562" b="1" dirty="0" err="1">
                <a:solidFill>
                  <a:srgbClr val="152D47"/>
                </a:solidFill>
                <a:latin typeface="Crimson Pro Bold"/>
                <a:ea typeface="Crimson Pro Bold"/>
                <a:cs typeface="Crimson Pro Bold"/>
                <a:sym typeface="Crimson Pro Bold"/>
              </a:rPr>
              <a:t>NeuroFleetX</a:t>
            </a:r>
            <a:r>
              <a:rPr lang="en-US" sz="5562" b="1" dirty="0">
                <a:solidFill>
                  <a:srgbClr val="152D47"/>
                </a:solidFill>
                <a:latin typeface="Crimson Pro Bold"/>
                <a:ea typeface="Crimson Pro Bold"/>
                <a:cs typeface="Crimson Pro Bold"/>
                <a:sym typeface="Crimson Pro Bold"/>
              </a:rPr>
              <a:t> Solution</a:t>
            </a:r>
          </a:p>
        </p:txBody>
      </p:sp>
      <p:sp>
        <p:nvSpPr>
          <p:cNvPr id="11" name="TextBox 11"/>
          <p:cNvSpPr txBox="1"/>
          <p:nvPr/>
        </p:nvSpPr>
        <p:spPr>
          <a:xfrm>
            <a:off x="992238" y="2943969"/>
            <a:ext cx="9445526" cy="2353866"/>
          </a:xfrm>
          <a:prstGeom prst="rect">
            <a:avLst/>
          </a:prstGeom>
        </p:spPr>
        <p:txBody>
          <a:bodyPr lIns="0" tIns="0" rIns="0" bIns="0" rtlCol="0" anchor="t">
            <a:spAutoFit/>
          </a:bodyPr>
          <a:lstStyle/>
          <a:p>
            <a:pPr algn="l">
              <a:lnSpc>
                <a:spcPts val="3562"/>
              </a:lnSpc>
            </a:pPr>
            <a:r>
              <a:rPr lang="en-US" sz="2187" dirty="0" err="1">
                <a:solidFill>
                  <a:srgbClr val="4C4C4D"/>
                </a:solidFill>
                <a:latin typeface="Heebo"/>
                <a:ea typeface="Heebo"/>
                <a:cs typeface="Heebo"/>
                <a:sym typeface="Heebo"/>
              </a:rPr>
              <a:t>NeuroFleetX</a:t>
            </a:r>
            <a:r>
              <a:rPr lang="en-US" sz="2187" dirty="0">
                <a:solidFill>
                  <a:srgbClr val="4C4C4D"/>
                </a:solidFill>
                <a:latin typeface="Heebo"/>
                <a:ea typeface="Heebo"/>
                <a:cs typeface="Heebo"/>
                <a:sym typeface="Heebo"/>
              </a:rPr>
              <a:t> is a next-generation AI-driven platform that </a:t>
            </a:r>
            <a:r>
              <a:rPr lang="en-US" sz="2187" dirty="0" err="1">
                <a:solidFill>
                  <a:srgbClr val="4C4C4D"/>
                </a:solidFill>
                <a:latin typeface="Heebo"/>
                <a:ea typeface="Heebo"/>
                <a:cs typeface="Heebo"/>
                <a:sym typeface="Heebo"/>
              </a:rPr>
              <a:t>revolutionises</a:t>
            </a:r>
            <a:r>
              <a:rPr lang="en-US" sz="2187" dirty="0">
                <a:solidFill>
                  <a:srgbClr val="4C4C4D"/>
                </a:solidFill>
                <a:latin typeface="Heebo"/>
                <a:ea typeface="Heebo"/>
                <a:cs typeface="Heebo"/>
                <a:sym typeface="Heebo"/>
              </a:rPr>
              <a:t> urban mobility through intelligent automation. By leveraging artificial intelligence, IoT connectivity, and geospatial analytics, the system delivers real-time vehicle tracking, intelligent routing, predictive maintenance, and dynamic fleet allocation.</a:t>
            </a:r>
          </a:p>
        </p:txBody>
      </p:sp>
      <p:sp>
        <p:nvSpPr>
          <p:cNvPr id="12" name="TextBox 12"/>
          <p:cNvSpPr txBox="1"/>
          <p:nvPr/>
        </p:nvSpPr>
        <p:spPr>
          <a:xfrm>
            <a:off x="992238" y="5882283"/>
            <a:ext cx="2912269" cy="811709"/>
          </a:xfrm>
          <a:prstGeom prst="rect">
            <a:avLst/>
          </a:prstGeom>
        </p:spPr>
        <p:txBody>
          <a:bodyPr lIns="0" tIns="0" rIns="0" bIns="0" rtlCol="0" anchor="t">
            <a:spAutoFit/>
          </a:bodyPr>
          <a:lstStyle/>
          <a:p>
            <a:pPr algn="ctr">
              <a:lnSpc>
                <a:spcPts val="7312"/>
              </a:lnSpc>
            </a:pPr>
            <a:r>
              <a:rPr lang="en-US" sz="7312" b="1">
                <a:solidFill>
                  <a:srgbClr val="4C4C4D"/>
                </a:solidFill>
                <a:latin typeface="Crimson Pro Bold"/>
                <a:ea typeface="Crimson Pro Bold"/>
                <a:cs typeface="Crimson Pro Bold"/>
                <a:sym typeface="Crimson Pro Bold"/>
              </a:rPr>
              <a:t>99.8%</a:t>
            </a:r>
          </a:p>
        </p:txBody>
      </p:sp>
      <p:sp>
        <p:nvSpPr>
          <p:cNvPr id="13" name="TextBox 13"/>
          <p:cNvSpPr txBox="1"/>
          <p:nvPr/>
        </p:nvSpPr>
        <p:spPr>
          <a:xfrm>
            <a:off x="992238" y="7019627"/>
            <a:ext cx="2912269" cy="471487"/>
          </a:xfrm>
          <a:prstGeom prst="rect">
            <a:avLst/>
          </a:prstGeom>
        </p:spPr>
        <p:txBody>
          <a:bodyPr lIns="0" tIns="0" rIns="0" bIns="0" rtlCol="0" anchor="t">
            <a:spAutoFit/>
          </a:bodyPr>
          <a:lstStyle/>
          <a:p>
            <a:pPr algn="ctr">
              <a:lnSpc>
                <a:spcPts val="3437"/>
              </a:lnSpc>
            </a:pPr>
            <a:r>
              <a:rPr lang="en-US" sz="2750" b="1">
                <a:solidFill>
                  <a:srgbClr val="4C4C4D"/>
                </a:solidFill>
                <a:latin typeface="Crimson Pro Bold"/>
                <a:ea typeface="Crimson Pro Bold"/>
                <a:cs typeface="Crimson Pro Bold"/>
                <a:sym typeface="Crimson Pro Bold"/>
              </a:rPr>
              <a:t>System Uptime</a:t>
            </a:r>
          </a:p>
        </p:txBody>
      </p:sp>
      <p:sp>
        <p:nvSpPr>
          <p:cNvPr id="14" name="TextBox 14"/>
          <p:cNvSpPr txBox="1"/>
          <p:nvPr/>
        </p:nvSpPr>
        <p:spPr>
          <a:xfrm>
            <a:off x="992238" y="7575500"/>
            <a:ext cx="2912269" cy="992981"/>
          </a:xfrm>
          <a:prstGeom prst="rect">
            <a:avLst/>
          </a:prstGeom>
        </p:spPr>
        <p:txBody>
          <a:bodyPr lIns="0" tIns="0" rIns="0" bIns="0" rtlCol="0" anchor="t">
            <a:spAutoFit/>
          </a:bodyPr>
          <a:lstStyle/>
          <a:p>
            <a:pPr algn="ctr">
              <a:lnSpc>
                <a:spcPts val="3562"/>
              </a:lnSpc>
            </a:pPr>
            <a:r>
              <a:rPr lang="en-US" sz="2187">
                <a:solidFill>
                  <a:srgbClr val="4C4C4D"/>
                </a:solidFill>
                <a:latin typeface="Heebo"/>
                <a:ea typeface="Heebo"/>
                <a:cs typeface="Heebo"/>
                <a:sym typeface="Heebo"/>
              </a:rPr>
              <a:t>Reliable platform availability</a:t>
            </a:r>
          </a:p>
        </p:txBody>
      </p:sp>
      <p:sp>
        <p:nvSpPr>
          <p:cNvPr id="15" name="TextBox 15"/>
          <p:cNvSpPr txBox="1"/>
          <p:nvPr/>
        </p:nvSpPr>
        <p:spPr>
          <a:xfrm>
            <a:off x="4258866" y="5882283"/>
            <a:ext cx="2912269" cy="811709"/>
          </a:xfrm>
          <a:prstGeom prst="rect">
            <a:avLst/>
          </a:prstGeom>
        </p:spPr>
        <p:txBody>
          <a:bodyPr lIns="0" tIns="0" rIns="0" bIns="0" rtlCol="0" anchor="t">
            <a:spAutoFit/>
          </a:bodyPr>
          <a:lstStyle/>
          <a:p>
            <a:pPr algn="ctr">
              <a:lnSpc>
                <a:spcPts val="7312"/>
              </a:lnSpc>
            </a:pPr>
            <a:r>
              <a:rPr lang="en-US" sz="7312" b="1">
                <a:solidFill>
                  <a:srgbClr val="4C4C4D"/>
                </a:solidFill>
                <a:latin typeface="Crimson Pro Bold"/>
                <a:ea typeface="Crimson Pro Bold"/>
                <a:cs typeface="Crimson Pro Bold"/>
                <a:sym typeface="Crimson Pro Bold"/>
              </a:rPr>
              <a:t>40%</a:t>
            </a:r>
          </a:p>
        </p:txBody>
      </p:sp>
      <p:sp>
        <p:nvSpPr>
          <p:cNvPr id="16" name="TextBox 16"/>
          <p:cNvSpPr txBox="1"/>
          <p:nvPr/>
        </p:nvSpPr>
        <p:spPr>
          <a:xfrm>
            <a:off x="4258866" y="7019627"/>
            <a:ext cx="2912269" cy="471487"/>
          </a:xfrm>
          <a:prstGeom prst="rect">
            <a:avLst/>
          </a:prstGeom>
        </p:spPr>
        <p:txBody>
          <a:bodyPr lIns="0" tIns="0" rIns="0" bIns="0" rtlCol="0" anchor="t">
            <a:spAutoFit/>
          </a:bodyPr>
          <a:lstStyle/>
          <a:p>
            <a:pPr algn="ctr">
              <a:lnSpc>
                <a:spcPts val="3437"/>
              </a:lnSpc>
            </a:pPr>
            <a:r>
              <a:rPr lang="en-US" sz="2750" b="1">
                <a:solidFill>
                  <a:srgbClr val="4C4C4D"/>
                </a:solidFill>
                <a:latin typeface="Crimson Pro Bold"/>
                <a:ea typeface="Crimson Pro Bold"/>
                <a:cs typeface="Crimson Pro Bold"/>
                <a:sym typeface="Crimson Pro Bold"/>
              </a:rPr>
              <a:t>Cost Reduction</a:t>
            </a:r>
          </a:p>
        </p:txBody>
      </p:sp>
      <p:sp>
        <p:nvSpPr>
          <p:cNvPr id="17" name="TextBox 17"/>
          <p:cNvSpPr txBox="1"/>
          <p:nvPr/>
        </p:nvSpPr>
        <p:spPr>
          <a:xfrm>
            <a:off x="4258866" y="7575500"/>
            <a:ext cx="2912269" cy="992981"/>
          </a:xfrm>
          <a:prstGeom prst="rect">
            <a:avLst/>
          </a:prstGeom>
        </p:spPr>
        <p:txBody>
          <a:bodyPr lIns="0" tIns="0" rIns="0" bIns="0" rtlCol="0" anchor="t">
            <a:spAutoFit/>
          </a:bodyPr>
          <a:lstStyle/>
          <a:p>
            <a:pPr algn="ctr">
              <a:lnSpc>
                <a:spcPts val="3562"/>
              </a:lnSpc>
            </a:pPr>
            <a:r>
              <a:rPr lang="en-US" sz="2187">
                <a:solidFill>
                  <a:srgbClr val="4C4C4D"/>
                </a:solidFill>
                <a:latin typeface="Heebo"/>
                <a:ea typeface="Heebo"/>
                <a:cs typeface="Heebo"/>
                <a:sym typeface="Heebo"/>
              </a:rPr>
              <a:t>In operational expenses</a:t>
            </a:r>
          </a:p>
        </p:txBody>
      </p:sp>
      <p:sp>
        <p:nvSpPr>
          <p:cNvPr id="18" name="TextBox 18"/>
          <p:cNvSpPr txBox="1"/>
          <p:nvPr/>
        </p:nvSpPr>
        <p:spPr>
          <a:xfrm>
            <a:off x="7525494" y="5882283"/>
            <a:ext cx="2912269" cy="811709"/>
          </a:xfrm>
          <a:prstGeom prst="rect">
            <a:avLst/>
          </a:prstGeom>
        </p:spPr>
        <p:txBody>
          <a:bodyPr lIns="0" tIns="0" rIns="0" bIns="0" rtlCol="0" anchor="t">
            <a:spAutoFit/>
          </a:bodyPr>
          <a:lstStyle/>
          <a:p>
            <a:pPr algn="ctr">
              <a:lnSpc>
                <a:spcPts val="7312"/>
              </a:lnSpc>
            </a:pPr>
            <a:r>
              <a:rPr lang="en-US" sz="7312" b="1">
                <a:solidFill>
                  <a:srgbClr val="4C4C4D"/>
                </a:solidFill>
                <a:latin typeface="Crimson Pro Bold"/>
                <a:ea typeface="Crimson Pro Bold"/>
                <a:cs typeface="Crimson Pro Bold"/>
                <a:sym typeface="Crimson Pro Bold"/>
              </a:rPr>
              <a:t>25%</a:t>
            </a:r>
          </a:p>
        </p:txBody>
      </p:sp>
      <p:sp>
        <p:nvSpPr>
          <p:cNvPr id="19" name="TextBox 19"/>
          <p:cNvSpPr txBox="1"/>
          <p:nvPr/>
        </p:nvSpPr>
        <p:spPr>
          <a:xfrm>
            <a:off x="7525494" y="7019627"/>
            <a:ext cx="2912269" cy="471487"/>
          </a:xfrm>
          <a:prstGeom prst="rect">
            <a:avLst/>
          </a:prstGeom>
        </p:spPr>
        <p:txBody>
          <a:bodyPr lIns="0" tIns="0" rIns="0" bIns="0" rtlCol="0" anchor="t">
            <a:spAutoFit/>
          </a:bodyPr>
          <a:lstStyle/>
          <a:p>
            <a:pPr algn="ctr">
              <a:lnSpc>
                <a:spcPts val="3437"/>
              </a:lnSpc>
            </a:pPr>
            <a:r>
              <a:rPr lang="en-US" sz="2750" b="1">
                <a:solidFill>
                  <a:srgbClr val="4C4C4D"/>
                </a:solidFill>
                <a:latin typeface="Crimson Pro Bold"/>
                <a:ea typeface="Crimson Pro Bold"/>
                <a:cs typeface="Crimson Pro Bold"/>
                <a:sym typeface="Crimson Pro Bold"/>
              </a:rPr>
              <a:t>Efficiency Gain</a:t>
            </a:r>
          </a:p>
        </p:txBody>
      </p:sp>
      <p:sp>
        <p:nvSpPr>
          <p:cNvPr id="20" name="TextBox 20"/>
          <p:cNvSpPr txBox="1"/>
          <p:nvPr/>
        </p:nvSpPr>
        <p:spPr>
          <a:xfrm>
            <a:off x="7525494" y="7575500"/>
            <a:ext cx="2912269" cy="539354"/>
          </a:xfrm>
          <a:prstGeom prst="rect">
            <a:avLst/>
          </a:prstGeom>
        </p:spPr>
        <p:txBody>
          <a:bodyPr lIns="0" tIns="0" rIns="0" bIns="0" rtlCol="0" anchor="t">
            <a:spAutoFit/>
          </a:bodyPr>
          <a:lstStyle/>
          <a:p>
            <a:pPr algn="ctr">
              <a:lnSpc>
                <a:spcPts val="3562"/>
              </a:lnSpc>
            </a:pPr>
            <a:r>
              <a:rPr lang="en-US" sz="2187">
                <a:solidFill>
                  <a:srgbClr val="4C4C4D"/>
                </a:solidFill>
                <a:latin typeface="Heebo"/>
                <a:ea typeface="Heebo"/>
                <a:cs typeface="Heebo"/>
                <a:sym typeface="Heebo"/>
              </a:rPr>
              <a:t>In fleet utilisation rates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0F0F1"/>
            </a:solidFill>
            <a:ln w="12700">
              <a:solidFill>
                <a:srgbClr val="000000"/>
              </a:solidFill>
            </a:ln>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a:ln w="12700">
              <a:solidFill>
                <a:srgbClr val="000000"/>
              </a:solidFill>
            </a:ln>
          </p:spPr>
        </p:sp>
      </p:grpSp>
      <p:sp>
        <p:nvSpPr>
          <p:cNvPr id="6" name="TextBox 6"/>
          <p:cNvSpPr txBox="1"/>
          <p:nvPr/>
        </p:nvSpPr>
        <p:spPr>
          <a:xfrm>
            <a:off x="992238" y="819596"/>
            <a:ext cx="9751962" cy="586571"/>
          </a:xfrm>
          <a:prstGeom prst="rect">
            <a:avLst/>
          </a:prstGeom>
        </p:spPr>
        <p:txBody>
          <a:bodyPr wrap="square" lIns="0" tIns="0" rIns="0" bIns="0" rtlCol="0" anchor="t">
            <a:spAutoFit/>
          </a:bodyPr>
          <a:lstStyle/>
          <a:p>
            <a:pPr algn="l">
              <a:lnSpc>
                <a:spcPts val="4875"/>
              </a:lnSpc>
            </a:pPr>
            <a:r>
              <a:rPr lang="en-US" sz="3875" b="1" dirty="0">
                <a:solidFill>
                  <a:srgbClr val="152D47"/>
                </a:solidFill>
                <a:latin typeface="Crimson Pro Bold"/>
                <a:ea typeface="Crimson Pro Bold"/>
                <a:cs typeface="Crimson Pro Bold"/>
                <a:sym typeface="Crimson Pro Bold"/>
              </a:rPr>
              <a:t>Module 1: Authentication &amp; Role Management</a:t>
            </a:r>
          </a:p>
        </p:txBody>
      </p:sp>
      <p:sp>
        <p:nvSpPr>
          <p:cNvPr id="7" name="TextBox 7"/>
          <p:cNvSpPr txBox="1"/>
          <p:nvPr/>
        </p:nvSpPr>
        <p:spPr>
          <a:xfrm>
            <a:off x="992238" y="1945332"/>
            <a:ext cx="4798962" cy="347659"/>
          </a:xfrm>
          <a:prstGeom prst="rect">
            <a:avLst/>
          </a:prstGeom>
        </p:spPr>
        <p:txBody>
          <a:bodyPr wrap="square" lIns="0" tIns="0" rIns="0" bIns="0" rtlCol="0" anchor="t">
            <a:spAutoFit/>
          </a:bodyPr>
          <a:lstStyle/>
          <a:p>
            <a:pPr algn="l">
              <a:lnSpc>
                <a:spcPts val="2875"/>
              </a:lnSpc>
            </a:pPr>
            <a:r>
              <a:rPr lang="en-US" sz="2312" b="1" dirty="0">
                <a:solidFill>
                  <a:srgbClr val="152D47"/>
                </a:solidFill>
                <a:latin typeface="Crimson Pro Bold"/>
                <a:ea typeface="Crimson Pro Bold"/>
                <a:cs typeface="Crimson Pro Bold"/>
                <a:sym typeface="Crimson Pro Bold"/>
              </a:rPr>
              <a:t>Secure Multi-Role Access Control</a:t>
            </a:r>
          </a:p>
        </p:txBody>
      </p:sp>
      <p:sp>
        <p:nvSpPr>
          <p:cNvPr id="8" name="TextBox 8"/>
          <p:cNvSpPr txBox="1"/>
          <p:nvPr/>
        </p:nvSpPr>
        <p:spPr>
          <a:xfrm>
            <a:off x="992238" y="2477690"/>
            <a:ext cx="8749010" cy="1009948"/>
          </a:xfrm>
          <a:prstGeom prst="rect">
            <a:avLst/>
          </a:prstGeom>
        </p:spPr>
        <p:txBody>
          <a:bodyPr lIns="0" tIns="0" rIns="0" bIns="0" rtlCol="0" anchor="t">
            <a:spAutoFit/>
          </a:bodyPr>
          <a:lstStyle/>
          <a:p>
            <a:pPr algn="l">
              <a:lnSpc>
                <a:spcPts val="2499"/>
              </a:lnSpc>
            </a:pPr>
            <a:r>
              <a:rPr lang="en-US" sz="1562">
                <a:solidFill>
                  <a:srgbClr val="4C4C4D"/>
                </a:solidFill>
                <a:latin typeface="Heebo"/>
                <a:ea typeface="Heebo"/>
                <a:cs typeface="Heebo"/>
                <a:sym typeface="Heebo"/>
              </a:rPr>
              <a:t>Robust authentication system supporting four distinct user roles: Admin, Fleet Manager, Driver, and Customer. Each role receives tailored dashboard access with appropriate permissions and functionality.</a:t>
            </a:r>
          </a:p>
        </p:txBody>
      </p:sp>
      <p:sp>
        <p:nvSpPr>
          <p:cNvPr id="9" name="TextBox 9"/>
          <p:cNvSpPr txBox="1"/>
          <p:nvPr/>
        </p:nvSpPr>
        <p:spPr>
          <a:xfrm>
            <a:off x="992238" y="3653730"/>
            <a:ext cx="198387" cy="305098"/>
          </a:xfrm>
          <a:prstGeom prst="rect">
            <a:avLst/>
          </a:prstGeom>
        </p:spPr>
        <p:txBody>
          <a:bodyPr lIns="0" tIns="0" rIns="0" bIns="0" rtlCol="0" anchor="t">
            <a:spAutoFit/>
          </a:bodyPr>
          <a:lstStyle/>
          <a:p>
            <a:pPr algn="l">
              <a:lnSpc>
                <a:spcPts val="2499"/>
              </a:lnSpc>
            </a:pPr>
            <a:r>
              <a:rPr lang="en-US" sz="1562">
                <a:solidFill>
                  <a:srgbClr val="4C4C4D"/>
                </a:solidFill>
                <a:latin typeface="Crimson Pro"/>
                <a:ea typeface="Crimson Pro"/>
                <a:cs typeface="Crimson Pro"/>
                <a:sym typeface="Crimson Pro"/>
              </a:rPr>
              <a:t>01</a:t>
            </a:r>
          </a:p>
        </p:txBody>
      </p:sp>
      <p:grpSp>
        <p:nvGrpSpPr>
          <p:cNvPr id="10" name="Group 10"/>
          <p:cNvGrpSpPr/>
          <p:nvPr/>
        </p:nvGrpSpPr>
        <p:grpSpPr>
          <a:xfrm>
            <a:off x="992238" y="4019401"/>
            <a:ext cx="8749010" cy="28575"/>
            <a:chOff x="0" y="0"/>
            <a:chExt cx="11665347" cy="38100"/>
          </a:xfrm>
        </p:grpSpPr>
        <p:sp>
          <p:nvSpPr>
            <p:cNvPr id="11" name="Freeform 11"/>
            <p:cNvSpPr/>
            <p:nvPr/>
          </p:nvSpPr>
          <p:spPr>
            <a:xfrm>
              <a:off x="0" y="0"/>
              <a:ext cx="11665331" cy="38100"/>
            </a:xfrm>
            <a:custGeom>
              <a:avLst/>
              <a:gdLst/>
              <a:ahLst/>
              <a:cxnLst/>
              <a:rect l="l" t="t" r="r" b="b"/>
              <a:pathLst>
                <a:path w="11665331" h="38100">
                  <a:moveTo>
                    <a:pt x="0" y="0"/>
                  </a:moveTo>
                  <a:lnTo>
                    <a:pt x="11665331" y="0"/>
                  </a:lnTo>
                  <a:lnTo>
                    <a:pt x="11665331" y="38100"/>
                  </a:lnTo>
                  <a:lnTo>
                    <a:pt x="0" y="38100"/>
                  </a:lnTo>
                  <a:close/>
                </a:path>
              </a:pathLst>
            </a:custGeom>
            <a:solidFill>
              <a:srgbClr val="2150FE"/>
            </a:solidFill>
            <a:ln w="12700">
              <a:solidFill>
                <a:srgbClr val="000000"/>
              </a:solidFill>
            </a:ln>
          </p:spPr>
        </p:sp>
      </p:grpSp>
      <p:sp>
        <p:nvSpPr>
          <p:cNvPr id="12" name="TextBox 12"/>
          <p:cNvSpPr txBox="1"/>
          <p:nvPr/>
        </p:nvSpPr>
        <p:spPr>
          <a:xfrm>
            <a:off x="992238" y="4156621"/>
            <a:ext cx="2480816" cy="329059"/>
          </a:xfrm>
          <a:prstGeom prst="rect">
            <a:avLst/>
          </a:prstGeom>
        </p:spPr>
        <p:txBody>
          <a:bodyPr lIns="0" tIns="0" rIns="0" bIns="0" rtlCol="0" anchor="t">
            <a:spAutoFit/>
          </a:bodyPr>
          <a:lstStyle/>
          <a:p>
            <a:pPr algn="l">
              <a:lnSpc>
                <a:spcPts val="2437"/>
              </a:lnSpc>
            </a:pPr>
            <a:r>
              <a:rPr lang="en-US" sz="1937" b="1">
                <a:solidFill>
                  <a:srgbClr val="4C4C4D"/>
                </a:solidFill>
                <a:latin typeface="Crimson Pro Bold"/>
                <a:ea typeface="Crimson Pro Bold"/>
                <a:cs typeface="Crimson Pro Bold"/>
                <a:sym typeface="Crimson Pro Bold"/>
              </a:rPr>
              <a:t>Design Interfaces</a:t>
            </a:r>
          </a:p>
        </p:txBody>
      </p:sp>
      <p:sp>
        <p:nvSpPr>
          <p:cNvPr id="13" name="TextBox 13"/>
          <p:cNvSpPr txBox="1"/>
          <p:nvPr/>
        </p:nvSpPr>
        <p:spPr>
          <a:xfrm>
            <a:off x="992238" y="4626917"/>
            <a:ext cx="8749010" cy="374749"/>
          </a:xfrm>
          <a:prstGeom prst="rect">
            <a:avLst/>
          </a:prstGeom>
        </p:spPr>
        <p:txBody>
          <a:bodyPr lIns="0" tIns="0" rIns="0" bIns="0" rtlCol="0" anchor="t">
            <a:spAutoFit/>
          </a:bodyPr>
          <a:lstStyle/>
          <a:p>
            <a:pPr algn="l">
              <a:lnSpc>
                <a:spcPts val="2499"/>
              </a:lnSpc>
            </a:pPr>
            <a:r>
              <a:rPr lang="en-US" sz="1562">
                <a:solidFill>
                  <a:srgbClr val="4C4C4D"/>
                </a:solidFill>
                <a:latin typeface="Heebo"/>
                <a:ea typeface="Heebo"/>
                <a:cs typeface="Heebo"/>
                <a:sym typeface="Heebo"/>
              </a:rPr>
              <a:t>Create intuitive login and registration screens with role selection</a:t>
            </a:r>
          </a:p>
        </p:txBody>
      </p:sp>
      <p:sp>
        <p:nvSpPr>
          <p:cNvPr id="14" name="TextBox 14"/>
          <p:cNvSpPr txBox="1"/>
          <p:nvPr/>
        </p:nvSpPr>
        <p:spPr>
          <a:xfrm>
            <a:off x="992238" y="5291732"/>
            <a:ext cx="531762" cy="286938"/>
          </a:xfrm>
          <a:prstGeom prst="rect">
            <a:avLst/>
          </a:prstGeom>
        </p:spPr>
        <p:txBody>
          <a:bodyPr wrap="square" lIns="0" tIns="0" rIns="0" bIns="0" rtlCol="0" anchor="t">
            <a:spAutoFit/>
          </a:bodyPr>
          <a:lstStyle/>
          <a:p>
            <a:pPr algn="l">
              <a:lnSpc>
                <a:spcPts val="2499"/>
              </a:lnSpc>
            </a:pPr>
            <a:r>
              <a:rPr lang="en-US" sz="1562" dirty="0">
                <a:solidFill>
                  <a:srgbClr val="4C4C4D"/>
                </a:solidFill>
                <a:latin typeface="Crimson Pro"/>
                <a:ea typeface="Crimson Pro"/>
                <a:cs typeface="Crimson Pro"/>
                <a:sym typeface="Crimson Pro"/>
              </a:rPr>
              <a:t>02</a:t>
            </a:r>
          </a:p>
        </p:txBody>
      </p:sp>
      <p:grpSp>
        <p:nvGrpSpPr>
          <p:cNvPr id="15" name="Group 15"/>
          <p:cNvGrpSpPr/>
          <p:nvPr/>
        </p:nvGrpSpPr>
        <p:grpSpPr>
          <a:xfrm>
            <a:off x="992238" y="5657404"/>
            <a:ext cx="8749010" cy="28575"/>
            <a:chOff x="0" y="0"/>
            <a:chExt cx="11665347" cy="38100"/>
          </a:xfrm>
        </p:grpSpPr>
        <p:sp>
          <p:nvSpPr>
            <p:cNvPr id="16" name="Freeform 16"/>
            <p:cNvSpPr/>
            <p:nvPr/>
          </p:nvSpPr>
          <p:spPr>
            <a:xfrm>
              <a:off x="0" y="0"/>
              <a:ext cx="11665331" cy="38100"/>
            </a:xfrm>
            <a:custGeom>
              <a:avLst/>
              <a:gdLst/>
              <a:ahLst/>
              <a:cxnLst/>
              <a:rect l="l" t="t" r="r" b="b"/>
              <a:pathLst>
                <a:path w="11665331" h="38100">
                  <a:moveTo>
                    <a:pt x="0" y="0"/>
                  </a:moveTo>
                  <a:lnTo>
                    <a:pt x="11665331" y="0"/>
                  </a:lnTo>
                  <a:lnTo>
                    <a:pt x="11665331" y="38100"/>
                  </a:lnTo>
                  <a:lnTo>
                    <a:pt x="0" y="38100"/>
                  </a:lnTo>
                  <a:close/>
                </a:path>
              </a:pathLst>
            </a:custGeom>
            <a:solidFill>
              <a:srgbClr val="2150FE"/>
            </a:solidFill>
            <a:ln w="12700">
              <a:solidFill>
                <a:srgbClr val="000000"/>
              </a:solidFill>
            </a:ln>
          </p:spPr>
        </p:sp>
      </p:grpSp>
      <p:sp>
        <p:nvSpPr>
          <p:cNvPr id="17" name="TextBox 17"/>
          <p:cNvSpPr txBox="1"/>
          <p:nvPr/>
        </p:nvSpPr>
        <p:spPr>
          <a:xfrm>
            <a:off x="992238" y="5794622"/>
            <a:ext cx="2480816" cy="329059"/>
          </a:xfrm>
          <a:prstGeom prst="rect">
            <a:avLst/>
          </a:prstGeom>
        </p:spPr>
        <p:txBody>
          <a:bodyPr lIns="0" tIns="0" rIns="0" bIns="0" rtlCol="0" anchor="t">
            <a:spAutoFit/>
          </a:bodyPr>
          <a:lstStyle/>
          <a:p>
            <a:pPr algn="l">
              <a:lnSpc>
                <a:spcPts val="2437"/>
              </a:lnSpc>
            </a:pPr>
            <a:r>
              <a:rPr lang="en-US" sz="1937" b="1">
                <a:solidFill>
                  <a:srgbClr val="4C4C4D"/>
                </a:solidFill>
                <a:latin typeface="Crimson Pro Bold"/>
                <a:ea typeface="Crimson Pro Bold"/>
                <a:cs typeface="Crimson Pro Bold"/>
                <a:sym typeface="Crimson Pro Bold"/>
              </a:rPr>
              <a:t>Implement Security</a:t>
            </a:r>
          </a:p>
        </p:txBody>
      </p:sp>
      <p:sp>
        <p:nvSpPr>
          <p:cNvPr id="18" name="TextBox 18"/>
          <p:cNvSpPr txBox="1"/>
          <p:nvPr/>
        </p:nvSpPr>
        <p:spPr>
          <a:xfrm>
            <a:off x="992238" y="6264920"/>
            <a:ext cx="8749010" cy="374749"/>
          </a:xfrm>
          <a:prstGeom prst="rect">
            <a:avLst/>
          </a:prstGeom>
        </p:spPr>
        <p:txBody>
          <a:bodyPr lIns="0" tIns="0" rIns="0" bIns="0" rtlCol="0" anchor="t">
            <a:spAutoFit/>
          </a:bodyPr>
          <a:lstStyle/>
          <a:p>
            <a:pPr algn="l">
              <a:lnSpc>
                <a:spcPts val="2499"/>
              </a:lnSpc>
            </a:pPr>
            <a:r>
              <a:rPr lang="en-US" sz="1562">
                <a:solidFill>
                  <a:srgbClr val="4C4C4D"/>
                </a:solidFill>
                <a:latin typeface="Heebo"/>
                <a:ea typeface="Heebo"/>
                <a:cs typeface="Heebo"/>
                <a:sym typeface="Heebo"/>
              </a:rPr>
              <a:t>Deploy Spring Security with JWT-based authentication tokens</a:t>
            </a:r>
          </a:p>
        </p:txBody>
      </p:sp>
      <p:sp>
        <p:nvSpPr>
          <p:cNvPr id="19" name="TextBox 19"/>
          <p:cNvSpPr txBox="1"/>
          <p:nvPr/>
        </p:nvSpPr>
        <p:spPr>
          <a:xfrm>
            <a:off x="992238" y="6929735"/>
            <a:ext cx="531762" cy="286938"/>
          </a:xfrm>
          <a:prstGeom prst="rect">
            <a:avLst/>
          </a:prstGeom>
        </p:spPr>
        <p:txBody>
          <a:bodyPr wrap="square" lIns="0" tIns="0" rIns="0" bIns="0" rtlCol="0" anchor="t">
            <a:spAutoFit/>
          </a:bodyPr>
          <a:lstStyle/>
          <a:p>
            <a:pPr algn="l">
              <a:lnSpc>
                <a:spcPts val="2499"/>
              </a:lnSpc>
            </a:pPr>
            <a:r>
              <a:rPr lang="en-US" sz="1562" dirty="0">
                <a:solidFill>
                  <a:srgbClr val="4C4C4D"/>
                </a:solidFill>
                <a:latin typeface="Crimson Pro"/>
                <a:ea typeface="Crimson Pro"/>
                <a:cs typeface="Crimson Pro"/>
                <a:sym typeface="Crimson Pro"/>
              </a:rPr>
              <a:t>03</a:t>
            </a:r>
          </a:p>
        </p:txBody>
      </p:sp>
      <p:grpSp>
        <p:nvGrpSpPr>
          <p:cNvPr id="20" name="Group 20"/>
          <p:cNvGrpSpPr/>
          <p:nvPr/>
        </p:nvGrpSpPr>
        <p:grpSpPr>
          <a:xfrm>
            <a:off x="992238" y="7295406"/>
            <a:ext cx="8749010" cy="28575"/>
            <a:chOff x="0" y="0"/>
            <a:chExt cx="11665347" cy="38100"/>
          </a:xfrm>
        </p:grpSpPr>
        <p:sp>
          <p:nvSpPr>
            <p:cNvPr id="21" name="Freeform 21"/>
            <p:cNvSpPr/>
            <p:nvPr/>
          </p:nvSpPr>
          <p:spPr>
            <a:xfrm>
              <a:off x="0" y="0"/>
              <a:ext cx="11665331" cy="38100"/>
            </a:xfrm>
            <a:custGeom>
              <a:avLst/>
              <a:gdLst/>
              <a:ahLst/>
              <a:cxnLst/>
              <a:rect l="l" t="t" r="r" b="b"/>
              <a:pathLst>
                <a:path w="11665331" h="38100">
                  <a:moveTo>
                    <a:pt x="0" y="0"/>
                  </a:moveTo>
                  <a:lnTo>
                    <a:pt x="11665331" y="0"/>
                  </a:lnTo>
                  <a:lnTo>
                    <a:pt x="11665331" y="38100"/>
                  </a:lnTo>
                  <a:lnTo>
                    <a:pt x="0" y="38100"/>
                  </a:lnTo>
                  <a:close/>
                </a:path>
              </a:pathLst>
            </a:custGeom>
            <a:solidFill>
              <a:srgbClr val="2150FE"/>
            </a:solidFill>
            <a:ln w="12700">
              <a:solidFill>
                <a:srgbClr val="000000"/>
              </a:solidFill>
            </a:ln>
          </p:spPr>
        </p:sp>
      </p:grpSp>
      <p:sp>
        <p:nvSpPr>
          <p:cNvPr id="22" name="TextBox 22"/>
          <p:cNvSpPr txBox="1"/>
          <p:nvPr/>
        </p:nvSpPr>
        <p:spPr>
          <a:xfrm>
            <a:off x="992238" y="7432625"/>
            <a:ext cx="2480816" cy="329059"/>
          </a:xfrm>
          <a:prstGeom prst="rect">
            <a:avLst/>
          </a:prstGeom>
        </p:spPr>
        <p:txBody>
          <a:bodyPr lIns="0" tIns="0" rIns="0" bIns="0" rtlCol="0" anchor="t">
            <a:spAutoFit/>
          </a:bodyPr>
          <a:lstStyle/>
          <a:p>
            <a:pPr algn="l">
              <a:lnSpc>
                <a:spcPts val="2437"/>
              </a:lnSpc>
            </a:pPr>
            <a:r>
              <a:rPr lang="en-US" sz="1937" b="1">
                <a:solidFill>
                  <a:srgbClr val="4C4C4D"/>
                </a:solidFill>
                <a:latin typeface="Crimson Pro Bold"/>
                <a:ea typeface="Crimson Pro Bold"/>
                <a:cs typeface="Crimson Pro Bold"/>
                <a:sym typeface="Crimson Pro Bold"/>
              </a:rPr>
              <a:t>Build Dashboards</a:t>
            </a:r>
          </a:p>
        </p:txBody>
      </p:sp>
      <p:sp>
        <p:nvSpPr>
          <p:cNvPr id="23" name="TextBox 23"/>
          <p:cNvSpPr txBox="1"/>
          <p:nvPr/>
        </p:nvSpPr>
        <p:spPr>
          <a:xfrm>
            <a:off x="992238" y="7902922"/>
            <a:ext cx="8749010" cy="374749"/>
          </a:xfrm>
          <a:prstGeom prst="rect">
            <a:avLst/>
          </a:prstGeom>
        </p:spPr>
        <p:txBody>
          <a:bodyPr lIns="0" tIns="0" rIns="0" bIns="0" rtlCol="0" anchor="t">
            <a:spAutoFit/>
          </a:bodyPr>
          <a:lstStyle/>
          <a:p>
            <a:pPr algn="l">
              <a:lnSpc>
                <a:spcPts val="2499"/>
              </a:lnSpc>
            </a:pPr>
            <a:r>
              <a:rPr lang="en-US" sz="1562">
                <a:solidFill>
                  <a:srgbClr val="4C4C4D"/>
                </a:solidFill>
                <a:latin typeface="Heebo"/>
                <a:ea typeface="Heebo"/>
                <a:cs typeface="Heebo"/>
                <a:sym typeface="Heebo"/>
              </a:rPr>
              <a:t>Develop role-specific interfaces with relevant metrics and controls</a:t>
            </a:r>
          </a:p>
        </p:txBody>
      </p:sp>
      <p:grpSp>
        <p:nvGrpSpPr>
          <p:cNvPr id="24" name="Group 24"/>
          <p:cNvGrpSpPr>
            <a:grpSpLocks noChangeAspect="1"/>
          </p:cNvGrpSpPr>
          <p:nvPr/>
        </p:nvGrpSpPr>
        <p:grpSpPr>
          <a:xfrm>
            <a:off x="10234761" y="1989236"/>
            <a:ext cx="4949130" cy="4949130"/>
            <a:chOff x="0" y="0"/>
            <a:chExt cx="6598840" cy="6598840"/>
          </a:xfrm>
        </p:grpSpPr>
        <p:sp>
          <p:nvSpPr>
            <p:cNvPr id="25" name="Freeform 25" descr="preencoded.png"/>
            <p:cNvSpPr/>
            <p:nvPr/>
          </p:nvSpPr>
          <p:spPr>
            <a:xfrm>
              <a:off x="0" y="0"/>
              <a:ext cx="6598793" cy="6598793"/>
            </a:xfrm>
            <a:custGeom>
              <a:avLst/>
              <a:gdLst/>
              <a:ahLst/>
              <a:cxnLst/>
              <a:rect l="l" t="t" r="r" b="b"/>
              <a:pathLst>
                <a:path w="6598793" h="6598793">
                  <a:moveTo>
                    <a:pt x="0" y="0"/>
                  </a:moveTo>
                  <a:lnTo>
                    <a:pt x="6598793" y="0"/>
                  </a:lnTo>
                  <a:lnTo>
                    <a:pt x="6598793" y="6598793"/>
                  </a:lnTo>
                  <a:lnTo>
                    <a:pt x="0" y="6598793"/>
                  </a:lnTo>
                  <a:lnTo>
                    <a:pt x="0" y="0"/>
                  </a:lnTo>
                  <a:close/>
                </a:path>
              </a:pathLst>
            </a:custGeom>
            <a:blipFill>
              <a:blip r:embed="rId3"/>
              <a:stretch>
                <a:fillRect/>
              </a:stretch>
            </a:blipFill>
          </p:spPr>
        </p:sp>
      </p:grpSp>
      <p:grpSp>
        <p:nvGrpSpPr>
          <p:cNvPr id="26" name="Group 26"/>
          <p:cNvGrpSpPr/>
          <p:nvPr/>
        </p:nvGrpSpPr>
        <p:grpSpPr>
          <a:xfrm>
            <a:off x="10220474" y="7147323"/>
            <a:ext cx="7098952" cy="2082404"/>
            <a:chOff x="0" y="0"/>
            <a:chExt cx="9465270" cy="2776538"/>
          </a:xfrm>
        </p:grpSpPr>
        <p:sp>
          <p:nvSpPr>
            <p:cNvPr id="27" name="Freeform 27"/>
            <p:cNvSpPr/>
            <p:nvPr/>
          </p:nvSpPr>
          <p:spPr>
            <a:xfrm>
              <a:off x="19050" y="19050"/>
              <a:ext cx="9427210" cy="2738501"/>
            </a:xfrm>
            <a:custGeom>
              <a:avLst/>
              <a:gdLst/>
              <a:ahLst/>
              <a:cxnLst/>
              <a:rect l="l" t="t" r="r" b="b"/>
              <a:pathLst>
                <a:path w="9427210" h="2738501">
                  <a:moveTo>
                    <a:pt x="0" y="39751"/>
                  </a:moveTo>
                  <a:cubicBezTo>
                    <a:pt x="0" y="17780"/>
                    <a:pt x="17907" y="0"/>
                    <a:pt x="40132" y="0"/>
                  </a:cubicBezTo>
                  <a:lnTo>
                    <a:pt x="9387078" y="0"/>
                  </a:lnTo>
                  <a:cubicBezTo>
                    <a:pt x="9409176" y="0"/>
                    <a:pt x="9427210" y="17780"/>
                    <a:pt x="9427210" y="39751"/>
                  </a:cubicBezTo>
                  <a:lnTo>
                    <a:pt x="9427210" y="2698750"/>
                  </a:lnTo>
                  <a:cubicBezTo>
                    <a:pt x="9427210" y="2720721"/>
                    <a:pt x="9409303" y="2738501"/>
                    <a:pt x="9387078" y="2738501"/>
                  </a:cubicBezTo>
                  <a:lnTo>
                    <a:pt x="40132" y="2738501"/>
                  </a:lnTo>
                  <a:cubicBezTo>
                    <a:pt x="18034" y="2738501"/>
                    <a:pt x="0" y="2720721"/>
                    <a:pt x="0" y="2698750"/>
                  </a:cubicBezTo>
                  <a:close/>
                </a:path>
              </a:pathLst>
            </a:custGeom>
            <a:solidFill>
              <a:srgbClr val="FFFFFF"/>
            </a:solidFill>
            <a:ln w="12700">
              <a:solidFill>
                <a:srgbClr val="000000"/>
              </a:solidFill>
            </a:ln>
          </p:spPr>
        </p:sp>
        <p:sp>
          <p:nvSpPr>
            <p:cNvPr id="28" name="Freeform 28"/>
            <p:cNvSpPr/>
            <p:nvPr/>
          </p:nvSpPr>
          <p:spPr>
            <a:xfrm>
              <a:off x="0" y="0"/>
              <a:ext cx="9465310" cy="2776601"/>
            </a:xfrm>
            <a:custGeom>
              <a:avLst/>
              <a:gdLst/>
              <a:ahLst/>
              <a:cxnLst/>
              <a:rect l="l" t="t" r="r" b="b"/>
              <a:pathLst>
                <a:path w="9465310" h="2776601">
                  <a:moveTo>
                    <a:pt x="0" y="58801"/>
                  </a:moveTo>
                  <a:cubicBezTo>
                    <a:pt x="0" y="26162"/>
                    <a:pt x="26670" y="0"/>
                    <a:pt x="59182" y="0"/>
                  </a:cubicBezTo>
                  <a:lnTo>
                    <a:pt x="9406128" y="0"/>
                  </a:lnTo>
                  <a:lnTo>
                    <a:pt x="9406128" y="19050"/>
                  </a:lnTo>
                  <a:lnTo>
                    <a:pt x="9406128" y="0"/>
                  </a:lnTo>
                  <a:cubicBezTo>
                    <a:pt x="9438640" y="0"/>
                    <a:pt x="9465310" y="26162"/>
                    <a:pt x="9465310" y="58801"/>
                  </a:cubicBezTo>
                  <a:lnTo>
                    <a:pt x="9446260" y="58801"/>
                  </a:lnTo>
                  <a:lnTo>
                    <a:pt x="9465310" y="58801"/>
                  </a:lnTo>
                  <a:lnTo>
                    <a:pt x="9465310" y="2717800"/>
                  </a:lnTo>
                  <a:lnTo>
                    <a:pt x="9446260" y="2717800"/>
                  </a:lnTo>
                  <a:lnTo>
                    <a:pt x="9465310" y="2717800"/>
                  </a:lnTo>
                  <a:cubicBezTo>
                    <a:pt x="9465310" y="2750439"/>
                    <a:pt x="9438640" y="2776601"/>
                    <a:pt x="9406128" y="2776601"/>
                  </a:cubicBezTo>
                  <a:lnTo>
                    <a:pt x="9406128" y="2757551"/>
                  </a:lnTo>
                  <a:lnTo>
                    <a:pt x="9406128" y="2776601"/>
                  </a:lnTo>
                  <a:lnTo>
                    <a:pt x="59182" y="2776601"/>
                  </a:lnTo>
                  <a:lnTo>
                    <a:pt x="59182" y="2757551"/>
                  </a:lnTo>
                  <a:lnTo>
                    <a:pt x="59182" y="2776601"/>
                  </a:lnTo>
                  <a:cubicBezTo>
                    <a:pt x="26670" y="2776601"/>
                    <a:pt x="0" y="2750439"/>
                    <a:pt x="0" y="2717800"/>
                  </a:cubicBezTo>
                  <a:lnTo>
                    <a:pt x="0" y="58801"/>
                  </a:lnTo>
                  <a:lnTo>
                    <a:pt x="19050" y="58801"/>
                  </a:lnTo>
                  <a:lnTo>
                    <a:pt x="0" y="58801"/>
                  </a:lnTo>
                  <a:moveTo>
                    <a:pt x="38100" y="58801"/>
                  </a:moveTo>
                  <a:lnTo>
                    <a:pt x="38100" y="2717800"/>
                  </a:lnTo>
                  <a:lnTo>
                    <a:pt x="19050" y="2717800"/>
                  </a:lnTo>
                  <a:lnTo>
                    <a:pt x="38100" y="2717800"/>
                  </a:lnTo>
                  <a:cubicBezTo>
                    <a:pt x="38100" y="2728976"/>
                    <a:pt x="47371" y="2738501"/>
                    <a:pt x="59182" y="2738501"/>
                  </a:cubicBezTo>
                  <a:lnTo>
                    <a:pt x="9406128" y="2738501"/>
                  </a:lnTo>
                  <a:cubicBezTo>
                    <a:pt x="9417939" y="2738501"/>
                    <a:pt x="9427210" y="2729103"/>
                    <a:pt x="9427210" y="2717800"/>
                  </a:cubicBezTo>
                  <a:lnTo>
                    <a:pt x="9427210" y="58801"/>
                  </a:lnTo>
                  <a:cubicBezTo>
                    <a:pt x="9427210" y="47625"/>
                    <a:pt x="9417939" y="38100"/>
                    <a:pt x="9406128" y="38100"/>
                  </a:cubicBezTo>
                  <a:lnTo>
                    <a:pt x="59182" y="38100"/>
                  </a:lnTo>
                  <a:lnTo>
                    <a:pt x="59182" y="19050"/>
                  </a:lnTo>
                  <a:lnTo>
                    <a:pt x="59182" y="38100"/>
                  </a:lnTo>
                  <a:cubicBezTo>
                    <a:pt x="47371" y="38100"/>
                    <a:pt x="38100" y="47498"/>
                    <a:pt x="38100" y="58801"/>
                  </a:cubicBezTo>
                  <a:close/>
                </a:path>
              </a:pathLst>
            </a:custGeom>
            <a:solidFill>
              <a:srgbClr val="D8D4D4"/>
            </a:solidFill>
            <a:ln w="12700">
              <a:solidFill>
                <a:srgbClr val="000000"/>
              </a:solidFill>
            </a:ln>
          </p:spPr>
        </p:sp>
      </p:grpSp>
      <p:sp>
        <p:nvSpPr>
          <p:cNvPr id="29" name="TextBox 29"/>
          <p:cNvSpPr txBox="1"/>
          <p:nvPr/>
        </p:nvSpPr>
        <p:spPr>
          <a:xfrm>
            <a:off x="10461724" y="7369522"/>
            <a:ext cx="2480816" cy="329059"/>
          </a:xfrm>
          <a:prstGeom prst="rect">
            <a:avLst/>
          </a:prstGeom>
        </p:spPr>
        <p:txBody>
          <a:bodyPr lIns="0" tIns="0" rIns="0" bIns="0" rtlCol="0" anchor="t">
            <a:spAutoFit/>
          </a:bodyPr>
          <a:lstStyle/>
          <a:p>
            <a:pPr algn="l">
              <a:lnSpc>
                <a:spcPts val="2437"/>
              </a:lnSpc>
            </a:pPr>
            <a:r>
              <a:rPr lang="en-US" sz="1937" b="1">
                <a:solidFill>
                  <a:srgbClr val="4C4C4D"/>
                </a:solidFill>
                <a:latin typeface="Crimson Pro Bold"/>
                <a:ea typeface="Crimson Pro Bold"/>
                <a:cs typeface="Crimson Pro Bold"/>
                <a:sym typeface="Crimson Pro Bold"/>
              </a:rPr>
              <a:t>Expected Output</a:t>
            </a:r>
          </a:p>
        </p:txBody>
      </p:sp>
      <p:sp>
        <p:nvSpPr>
          <p:cNvPr id="30" name="TextBox 30"/>
          <p:cNvSpPr txBox="1"/>
          <p:nvPr/>
        </p:nvSpPr>
        <p:spPr>
          <a:xfrm>
            <a:off x="10461724" y="7839819"/>
            <a:ext cx="6616453" cy="374749"/>
          </a:xfrm>
          <a:prstGeom prst="rect">
            <a:avLst/>
          </a:prstGeom>
        </p:spPr>
        <p:txBody>
          <a:bodyPr lIns="0" tIns="0" rIns="0" bIns="0" rtlCol="0" anchor="t">
            <a:spAutoFit/>
          </a:bodyPr>
          <a:lstStyle/>
          <a:p>
            <a:pPr marL="235645" lvl="1" indent="-117822" algn="l">
              <a:lnSpc>
                <a:spcPts val="2499"/>
              </a:lnSpc>
              <a:buFont typeface="Arial"/>
              <a:buChar char="•"/>
            </a:pPr>
            <a:r>
              <a:rPr lang="en-US" sz="1562">
                <a:solidFill>
                  <a:srgbClr val="4C4C4D"/>
                </a:solidFill>
                <a:latin typeface="Heebo"/>
                <a:ea typeface="Heebo"/>
                <a:cs typeface="Heebo"/>
                <a:sym typeface="Heebo"/>
              </a:rPr>
              <a:t>Clean login screen with role selector dropdown</a:t>
            </a:r>
          </a:p>
        </p:txBody>
      </p:sp>
      <p:sp>
        <p:nvSpPr>
          <p:cNvPr id="31" name="TextBox 31"/>
          <p:cNvSpPr txBox="1"/>
          <p:nvPr/>
        </p:nvSpPr>
        <p:spPr>
          <a:xfrm>
            <a:off x="10461724" y="8226772"/>
            <a:ext cx="6616453" cy="374749"/>
          </a:xfrm>
          <a:prstGeom prst="rect">
            <a:avLst/>
          </a:prstGeom>
        </p:spPr>
        <p:txBody>
          <a:bodyPr lIns="0" tIns="0" rIns="0" bIns="0" rtlCol="0" anchor="t">
            <a:spAutoFit/>
          </a:bodyPr>
          <a:lstStyle/>
          <a:p>
            <a:pPr marL="235645" lvl="1" indent="-117822" algn="l">
              <a:lnSpc>
                <a:spcPts val="2499"/>
              </a:lnSpc>
              <a:buFont typeface="Arial"/>
              <a:buChar char="•"/>
            </a:pPr>
            <a:r>
              <a:rPr lang="en-US" sz="1562">
                <a:solidFill>
                  <a:srgbClr val="4C4C4D"/>
                </a:solidFill>
                <a:latin typeface="Heebo"/>
                <a:ea typeface="Heebo"/>
                <a:cs typeface="Heebo"/>
                <a:sym typeface="Heebo"/>
              </a:rPr>
              <a:t>Dashboard tiles displaying key metrics</a:t>
            </a:r>
          </a:p>
        </p:txBody>
      </p:sp>
      <p:sp>
        <p:nvSpPr>
          <p:cNvPr id="32" name="TextBox 32"/>
          <p:cNvSpPr txBox="1"/>
          <p:nvPr/>
        </p:nvSpPr>
        <p:spPr>
          <a:xfrm>
            <a:off x="10461724" y="8613725"/>
            <a:ext cx="6616453" cy="374749"/>
          </a:xfrm>
          <a:prstGeom prst="rect">
            <a:avLst/>
          </a:prstGeom>
        </p:spPr>
        <p:txBody>
          <a:bodyPr lIns="0" tIns="0" rIns="0" bIns="0" rtlCol="0" anchor="t">
            <a:spAutoFit/>
          </a:bodyPr>
          <a:lstStyle/>
          <a:p>
            <a:pPr marL="235645" lvl="1" indent="-117822" algn="l">
              <a:lnSpc>
                <a:spcPts val="2499"/>
              </a:lnSpc>
              <a:buFont typeface="Arial"/>
              <a:buChar char="•"/>
            </a:pPr>
            <a:r>
              <a:rPr lang="en-US" sz="1562">
                <a:solidFill>
                  <a:srgbClr val="4C4C4D"/>
                </a:solidFill>
                <a:latin typeface="Heebo"/>
                <a:ea typeface="Heebo"/>
                <a:cs typeface="Heebo"/>
                <a:sym typeface="Heebo"/>
              </a:rPr>
              <a:t>Secure session management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0F0F1"/>
            </a:solidFill>
            <a:ln w="12700">
              <a:solidFill>
                <a:srgbClr val="000000"/>
              </a:solidFill>
            </a:ln>
          </p:spPr>
        </p:sp>
      </p:grpSp>
      <p:grpSp>
        <p:nvGrpSpPr>
          <p:cNvPr id="4" name="Group 4"/>
          <p:cNvGrpSpPr/>
          <p:nvPr/>
        </p:nvGrpSpPr>
        <p:grpSpPr>
          <a:xfrm>
            <a:off x="0" y="-3810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a:ln w="12700">
              <a:solidFill>
                <a:srgbClr val="000000"/>
              </a:solidFill>
            </a:ln>
          </p:spPr>
        </p:sp>
      </p:grpSp>
      <p:grpSp>
        <p:nvGrpSpPr>
          <p:cNvPr id="6" name="Group 6"/>
          <p:cNvGrpSpPr>
            <a:grpSpLocks noChangeAspect="1"/>
          </p:cNvGrpSpPr>
          <p:nvPr/>
        </p:nvGrpSpPr>
        <p:grpSpPr>
          <a:xfrm>
            <a:off x="0" y="-29170"/>
            <a:ext cx="18288000" cy="2658070"/>
            <a:chOff x="0" y="0"/>
            <a:chExt cx="24384000" cy="3544093"/>
          </a:xfrm>
        </p:grpSpPr>
        <p:sp>
          <p:nvSpPr>
            <p:cNvPr id="7" name="Freeform 7" descr="preencoded.png"/>
            <p:cNvSpPr/>
            <p:nvPr/>
          </p:nvSpPr>
          <p:spPr>
            <a:xfrm>
              <a:off x="0" y="0"/>
              <a:ext cx="24384000" cy="3544062"/>
            </a:xfrm>
            <a:custGeom>
              <a:avLst/>
              <a:gdLst/>
              <a:ahLst/>
              <a:cxnLst/>
              <a:rect l="l" t="t" r="r" b="b"/>
              <a:pathLst>
                <a:path w="24384000" h="3544062">
                  <a:moveTo>
                    <a:pt x="0" y="0"/>
                  </a:moveTo>
                  <a:lnTo>
                    <a:pt x="24384000" y="0"/>
                  </a:lnTo>
                  <a:lnTo>
                    <a:pt x="24384000" y="3544062"/>
                  </a:lnTo>
                  <a:lnTo>
                    <a:pt x="0" y="3544062"/>
                  </a:lnTo>
                  <a:lnTo>
                    <a:pt x="0" y="0"/>
                  </a:lnTo>
                  <a:close/>
                </a:path>
              </a:pathLst>
            </a:custGeom>
            <a:blipFill>
              <a:blip r:embed="rId3"/>
              <a:stretch>
                <a:fillRect l="-11" r="-11"/>
              </a:stretch>
            </a:blipFill>
          </p:spPr>
        </p:sp>
      </p:grpSp>
      <p:sp>
        <p:nvSpPr>
          <p:cNvPr id="8" name="TextBox 8"/>
          <p:cNvSpPr txBox="1"/>
          <p:nvPr/>
        </p:nvSpPr>
        <p:spPr>
          <a:xfrm>
            <a:off x="992238" y="3450580"/>
            <a:ext cx="13333362" cy="622863"/>
          </a:xfrm>
          <a:prstGeom prst="rect">
            <a:avLst/>
          </a:prstGeom>
        </p:spPr>
        <p:txBody>
          <a:bodyPr wrap="square" lIns="0" tIns="0" rIns="0" bIns="0" rtlCol="0" anchor="t">
            <a:spAutoFit/>
          </a:bodyPr>
          <a:lstStyle/>
          <a:p>
            <a:pPr algn="l">
              <a:lnSpc>
                <a:spcPts val="5187"/>
              </a:lnSpc>
            </a:pPr>
            <a:r>
              <a:rPr lang="en-US" sz="4124" b="1" dirty="0">
                <a:solidFill>
                  <a:srgbClr val="152D47"/>
                </a:solidFill>
                <a:latin typeface="Crimson Pro Bold"/>
                <a:ea typeface="Crimson Pro Bold"/>
                <a:cs typeface="Crimson Pro Bold"/>
                <a:sym typeface="Crimson Pro Bold"/>
              </a:rPr>
              <a:t>Module 2: Fleet Inventory &amp; Vehicle Telemetry</a:t>
            </a:r>
          </a:p>
        </p:txBody>
      </p:sp>
      <p:sp>
        <p:nvSpPr>
          <p:cNvPr id="9" name="TextBox 9"/>
          <p:cNvSpPr txBox="1"/>
          <p:nvPr/>
        </p:nvSpPr>
        <p:spPr>
          <a:xfrm>
            <a:off x="992238" y="4405461"/>
            <a:ext cx="16303526" cy="747118"/>
          </a:xfrm>
          <a:prstGeom prst="rect">
            <a:avLst/>
          </a:prstGeom>
        </p:spPr>
        <p:txBody>
          <a:bodyPr lIns="0" tIns="0" rIns="0" bIns="0" rtlCol="0" anchor="t">
            <a:spAutoFit/>
          </a:bodyPr>
          <a:lstStyle/>
          <a:p>
            <a:pPr algn="l">
              <a:lnSpc>
                <a:spcPts val="2625"/>
              </a:lnSpc>
            </a:pPr>
            <a:r>
              <a:rPr lang="en-US" sz="1625">
                <a:solidFill>
                  <a:srgbClr val="4C4C4D"/>
                </a:solidFill>
                <a:latin typeface="Heebo"/>
                <a:ea typeface="Heebo"/>
                <a:cs typeface="Heebo"/>
                <a:sym typeface="Heebo"/>
              </a:rPr>
              <a:t>Comprehensive vehicle management system providing real-time status monitoring, location tracking, and telemetry data simulation. Track every vehicle's operational state, battery levels, fuel consumption, and maintenance requirements.</a:t>
            </a:r>
          </a:p>
        </p:txBody>
      </p:sp>
      <p:grpSp>
        <p:nvGrpSpPr>
          <p:cNvPr id="10" name="Group 10"/>
          <p:cNvGrpSpPr/>
          <p:nvPr/>
        </p:nvGrpSpPr>
        <p:grpSpPr>
          <a:xfrm>
            <a:off x="992238" y="5391745"/>
            <a:ext cx="5292775" cy="1905446"/>
            <a:chOff x="0" y="0"/>
            <a:chExt cx="7057033" cy="2540595"/>
          </a:xfrm>
        </p:grpSpPr>
        <p:sp>
          <p:nvSpPr>
            <p:cNvPr id="11" name="Freeform 11"/>
            <p:cNvSpPr/>
            <p:nvPr/>
          </p:nvSpPr>
          <p:spPr>
            <a:xfrm>
              <a:off x="0" y="0"/>
              <a:ext cx="7057009" cy="2540635"/>
            </a:xfrm>
            <a:custGeom>
              <a:avLst/>
              <a:gdLst/>
              <a:ahLst/>
              <a:cxnLst/>
              <a:rect l="l" t="t" r="r" b="b"/>
              <a:pathLst>
                <a:path w="7057009" h="2540635">
                  <a:moveTo>
                    <a:pt x="0" y="42545"/>
                  </a:moveTo>
                  <a:cubicBezTo>
                    <a:pt x="0" y="19050"/>
                    <a:pt x="19050" y="0"/>
                    <a:pt x="42545" y="0"/>
                  </a:cubicBezTo>
                  <a:lnTo>
                    <a:pt x="7014464" y="0"/>
                  </a:lnTo>
                  <a:cubicBezTo>
                    <a:pt x="7037959" y="0"/>
                    <a:pt x="7057009" y="19050"/>
                    <a:pt x="7057009" y="42545"/>
                  </a:cubicBezTo>
                  <a:lnTo>
                    <a:pt x="7057009" y="2498090"/>
                  </a:lnTo>
                  <a:cubicBezTo>
                    <a:pt x="7057009" y="2521585"/>
                    <a:pt x="7037959" y="2540635"/>
                    <a:pt x="7014464" y="2540635"/>
                  </a:cubicBezTo>
                  <a:lnTo>
                    <a:pt x="42545" y="2540635"/>
                  </a:lnTo>
                  <a:cubicBezTo>
                    <a:pt x="19050" y="2540635"/>
                    <a:pt x="0" y="2521585"/>
                    <a:pt x="0" y="2498090"/>
                  </a:cubicBezTo>
                  <a:close/>
                </a:path>
              </a:pathLst>
            </a:custGeom>
            <a:solidFill>
              <a:srgbClr val="F2EEEE"/>
            </a:solidFill>
            <a:ln w="12700">
              <a:solidFill>
                <a:srgbClr val="000000"/>
              </a:solidFill>
            </a:ln>
          </p:spPr>
        </p:sp>
      </p:grpSp>
      <p:sp>
        <p:nvSpPr>
          <p:cNvPr id="12" name="TextBox 12"/>
          <p:cNvSpPr txBox="1"/>
          <p:nvPr/>
        </p:nvSpPr>
        <p:spPr>
          <a:xfrm>
            <a:off x="1204764" y="5585222"/>
            <a:ext cx="2658070" cy="351234"/>
          </a:xfrm>
          <a:prstGeom prst="rect">
            <a:avLst/>
          </a:prstGeom>
        </p:spPr>
        <p:txBody>
          <a:bodyPr lIns="0" tIns="0" rIns="0" bIns="0" rtlCol="0" anchor="t">
            <a:spAutoFit/>
          </a:bodyPr>
          <a:lstStyle/>
          <a:p>
            <a:pPr algn="l">
              <a:lnSpc>
                <a:spcPts val="2562"/>
              </a:lnSpc>
            </a:pPr>
            <a:r>
              <a:rPr lang="en-US" sz="2062" b="1">
                <a:solidFill>
                  <a:srgbClr val="4C4C4D"/>
                </a:solidFill>
                <a:latin typeface="Crimson Pro Bold"/>
                <a:ea typeface="Crimson Pro Bold"/>
                <a:cs typeface="Crimson Pro Bold"/>
                <a:sym typeface="Crimson Pro Bold"/>
              </a:rPr>
              <a:t>CRUD Operations</a:t>
            </a:r>
          </a:p>
        </p:txBody>
      </p:sp>
      <p:sp>
        <p:nvSpPr>
          <p:cNvPr id="13" name="TextBox 13"/>
          <p:cNvSpPr txBox="1"/>
          <p:nvPr/>
        </p:nvSpPr>
        <p:spPr>
          <a:xfrm>
            <a:off x="1204764" y="5997327"/>
            <a:ext cx="4867721" cy="1087339"/>
          </a:xfrm>
          <a:prstGeom prst="rect">
            <a:avLst/>
          </a:prstGeom>
        </p:spPr>
        <p:txBody>
          <a:bodyPr lIns="0" tIns="0" rIns="0" bIns="0" rtlCol="0" anchor="t">
            <a:spAutoFit/>
          </a:bodyPr>
          <a:lstStyle/>
          <a:p>
            <a:pPr algn="l">
              <a:lnSpc>
                <a:spcPts val="2625"/>
              </a:lnSpc>
            </a:pPr>
            <a:r>
              <a:rPr lang="en-US" sz="1625">
                <a:solidFill>
                  <a:srgbClr val="4C4C4D"/>
                </a:solidFill>
                <a:latin typeface="Heebo"/>
                <a:ea typeface="Heebo"/>
                <a:cs typeface="Heebo"/>
                <a:sym typeface="Heebo"/>
              </a:rPr>
              <a:t>Complete vehicle management: add, update, remove, and configure fleet assets with detailed specifications and capabilities.</a:t>
            </a:r>
          </a:p>
        </p:txBody>
      </p:sp>
      <p:grpSp>
        <p:nvGrpSpPr>
          <p:cNvPr id="14" name="Group 14"/>
          <p:cNvGrpSpPr/>
          <p:nvPr/>
        </p:nvGrpSpPr>
        <p:grpSpPr>
          <a:xfrm>
            <a:off x="6497539" y="5391745"/>
            <a:ext cx="5292775" cy="1905446"/>
            <a:chOff x="0" y="0"/>
            <a:chExt cx="7057033" cy="2540595"/>
          </a:xfrm>
        </p:grpSpPr>
        <p:sp>
          <p:nvSpPr>
            <p:cNvPr id="15" name="Freeform 15"/>
            <p:cNvSpPr/>
            <p:nvPr/>
          </p:nvSpPr>
          <p:spPr>
            <a:xfrm>
              <a:off x="0" y="0"/>
              <a:ext cx="7057009" cy="2540635"/>
            </a:xfrm>
            <a:custGeom>
              <a:avLst/>
              <a:gdLst/>
              <a:ahLst/>
              <a:cxnLst/>
              <a:rect l="l" t="t" r="r" b="b"/>
              <a:pathLst>
                <a:path w="7057009" h="2540635">
                  <a:moveTo>
                    <a:pt x="0" y="42545"/>
                  </a:moveTo>
                  <a:cubicBezTo>
                    <a:pt x="0" y="19050"/>
                    <a:pt x="19050" y="0"/>
                    <a:pt x="42545" y="0"/>
                  </a:cubicBezTo>
                  <a:lnTo>
                    <a:pt x="7014464" y="0"/>
                  </a:lnTo>
                  <a:cubicBezTo>
                    <a:pt x="7037959" y="0"/>
                    <a:pt x="7057009" y="19050"/>
                    <a:pt x="7057009" y="42545"/>
                  </a:cubicBezTo>
                  <a:lnTo>
                    <a:pt x="7057009" y="2498090"/>
                  </a:lnTo>
                  <a:cubicBezTo>
                    <a:pt x="7057009" y="2521585"/>
                    <a:pt x="7037959" y="2540635"/>
                    <a:pt x="7014464" y="2540635"/>
                  </a:cubicBezTo>
                  <a:lnTo>
                    <a:pt x="42545" y="2540635"/>
                  </a:lnTo>
                  <a:cubicBezTo>
                    <a:pt x="19050" y="2540635"/>
                    <a:pt x="0" y="2521585"/>
                    <a:pt x="0" y="2498090"/>
                  </a:cubicBezTo>
                  <a:close/>
                </a:path>
              </a:pathLst>
            </a:custGeom>
            <a:solidFill>
              <a:srgbClr val="F2EEEE"/>
            </a:solidFill>
            <a:ln w="12700">
              <a:solidFill>
                <a:srgbClr val="000000"/>
              </a:solidFill>
            </a:ln>
          </p:spPr>
        </p:sp>
      </p:grpSp>
      <p:sp>
        <p:nvSpPr>
          <p:cNvPr id="16" name="TextBox 16"/>
          <p:cNvSpPr txBox="1"/>
          <p:nvPr/>
        </p:nvSpPr>
        <p:spPr>
          <a:xfrm>
            <a:off x="6710065" y="5585222"/>
            <a:ext cx="2658070" cy="351234"/>
          </a:xfrm>
          <a:prstGeom prst="rect">
            <a:avLst/>
          </a:prstGeom>
        </p:spPr>
        <p:txBody>
          <a:bodyPr lIns="0" tIns="0" rIns="0" bIns="0" rtlCol="0" anchor="t">
            <a:spAutoFit/>
          </a:bodyPr>
          <a:lstStyle/>
          <a:p>
            <a:pPr algn="l">
              <a:lnSpc>
                <a:spcPts val="2562"/>
              </a:lnSpc>
            </a:pPr>
            <a:r>
              <a:rPr lang="en-US" sz="2062" b="1">
                <a:solidFill>
                  <a:srgbClr val="4C4C4D"/>
                </a:solidFill>
                <a:latin typeface="Crimson Pro Bold"/>
                <a:ea typeface="Crimson Pro Bold"/>
                <a:cs typeface="Crimson Pro Bold"/>
                <a:sym typeface="Crimson Pro Bold"/>
              </a:rPr>
              <a:t>Real-Time Status</a:t>
            </a:r>
          </a:p>
        </p:txBody>
      </p:sp>
      <p:sp>
        <p:nvSpPr>
          <p:cNvPr id="17" name="TextBox 17"/>
          <p:cNvSpPr txBox="1"/>
          <p:nvPr/>
        </p:nvSpPr>
        <p:spPr>
          <a:xfrm>
            <a:off x="6710065" y="5997327"/>
            <a:ext cx="4867721" cy="1087339"/>
          </a:xfrm>
          <a:prstGeom prst="rect">
            <a:avLst/>
          </a:prstGeom>
        </p:spPr>
        <p:txBody>
          <a:bodyPr lIns="0" tIns="0" rIns="0" bIns="0" rtlCol="0" anchor="t">
            <a:spAutoFit/>
          </a:bodyPr>
          <a:lstStyle/>
          <a:p>
            <a:pPr algn="l">
              <a:lnSpc>
                <a:spcPts val="2625"/>
              </a:lnSpc>
            </a:pPr>
            <a:r>
              <a:rPr lang="en-US" sz="1625">
                <a:solidFill>
                  <a:srgbClr val="4C4C4D"/>
                </a:solidFill>
                <a:latin typeface="Heebo"/>
                <a:ea typeface="Heebo"/>
                <a:cs typeface="Heebo"/>
                <a:sym typeface="Heebo"/>
              </a:rPr>
              <a:t>Monitor vehicle availability: idle, in use, or requiring maintenance with instant status updates and automated alerts.</a:t>
            </a:r>
          </a:p>
        </p:txBody>
      </p:sp>
      <p:grpSp>
        <p:nvGrpSpPr>
          <p:cNvPr id="18" name="Group 18"/>
          <p:cNvGrpSpPr/>
          <p:nvPr/>
        </p:nvGrpSpPr>
        <p:grpSpPr>
          <a:xfrm>
            <a:off x="12002840" y="5391745"/>
            <a:ext cx="5292775" cy="1905446"/>
            <a:chOff x="0" y="0"/>
            <a:chExt cx="7057033" cy="2540595"/>
          </a:xfrm>
        </p:grpSpPr>
        <p:sp>
          <p:nvSpPr>
            <p:cNvPr id="19" name="Freeform 19"/>
            <p:cNvSpPr/>
            <p:nvPr/>
          </p:nvSpPr>
          <p:spPr>
            <a:xfrm>
              <a:off x="0" y="0"/>
              <a:ext cx="7057009" cy="2540635"/>
            </a:xfrm>
            <a:custGeom>
              <a:avLst/>
              <a:gdLst/>
              <a:ahLst/>
              <a:cxnLst/>
              <a:rect l="l" t="t" r="r" b="b"/>
              <a:pathLst>
                <a:path w="7057009" h="2540635">
                  <a:moveTo>
                    <a:pt x="0" y="42545"/>
                  </a:moveTo>
                  <a:cubicBezTo>
                    <a:pt x="0" y="19050"/>
                    <a:pt x="19050" y="0"/>
                    <a:pt x="42545" y="0"/>
                  </a:cubicBezTo>
                  <a:lnTo>
                    <a:pt x="7014464" y="0"/>
                  </a:lnTo>
                  <a:cubicBezTo>
                    <a:pt x="7037959" y="0"/>
                    <a:pt x="7057009" y="19050"/>
                    <a:pt x="7057009" y="42545"/>
                  </a:cubicBezTo>
                  <a:lnTo>
                    <a:pt x="7057009" y="2498090"/>
                  </a:lnTo>
                  <a:cubicBezTo>
                    <a:pt x="7057009" y="2521585"/>
                    <a:pt x="7037959" y="2540635"/>
                    <a:pt x="7014464" y="2540635"/>
                  </a:cubicBezTo>
                  <a:lnTo>
                    <a:pt x="42545" y="2540635"/>
                  </a:lnTo>
                  <a:cubicBezTo>
                    <a:pt x="19050" y="2540635"/>
                    <a:pt x="0" y="2521585"/>
                    <a:pt x="0" y="2498090"/>
                  </a:cubicBezTo>
                  <a:close/>
                </a:path>
              </a:pathLst>
            </a:custGeom>
            <a:solidFill>
              <a:srgbClr val="F2EEEE"/>
            </a:solidFill>
            <a:ln w="12700">
              <a:solidFill>
                <a:srgbClr val="000000"/>
              </a:solidFill>
            </a:ln>
          </p:spPr>
        </p:sp>
      </p:grpSp>
      <p:sp>
        <p:nvSpPr>
          <p:cNvPr id="20" name="TextBox 20"/>
          <p:cNvSpPr txBox="1"/>
          <p:nvPr/>
        </p:nvSpPr>
        <p:spPr>
          <a:xfrm>
            <a:off x="12215366" y="5585222"/>
            <a:ext cx="2658070" cy="351234"/>
          </a:xfrm>
          <a:prstGeom prst="rect">
            <a:avLst/>
          </a:prstGeom>
        </p:spPr>
        <p:txBody>
          <a:bodyPr lIns="0" tIns="0" rIns="0" bIns="0" rtlCol="0" anchor="t">
            <a:spAutoFit/>
          </a:bodyPr>
          <a:lstStyle/>
          <a:p>
            <a:pPr algn="l">
              <a:lnSpc>
                <a:spcPts val="2562"/>
              </a:lnSpc>
            </a:pPr>
            <a:r>
              <a:rPr lang="en-US" sz="2062" b="1">
                <a:solidFill>
                  <a:srgbClr val="4C4C4D"/>
                </a:solidFill>
                <a:latin typeface="Crimson Pro Bold"/>
                <a:ea typeface="Crimson Pro Bold"/>
                <a:cs typeface="Crimson Pro Bold"/>
                <a:sym typeface="Crimson Pro Bold"/>
              </a:rPr>
              <a:t>Telemetry Simulation</a:t>
            </a:r>
          </a:p>
        </p:txBody>
      </p:sp>
      <p:sp>
        <p:nvSpPr>
          <p:cNvPr id="21" name="TextBox 21"/>
          <p:cNvSpPr txBox="1"/>
          <p:nvPr/>
        </p:nvSpPr>
        <p:spPr>
          <a:xfrm>
            <a:off x="12215366" y="5997327"/>
            <a:ext cx="4867721" cy="1087339"/>
          </a:xfrm>
          <a:prstGeom prst="rect">
            <a:avLst/>
          </a:prstGeom>
        </p:spPr>
        <p:txBody>
          <a:bodyPr lIns="0" tIns="0" rIns="0" bIns="0" rtlCol="0" anchor="t">
            <a:spAutoFit/>
          </a:bodyPr>
          <a:lstStyle/>
          <a:p>
            <a:pPr algn="l">
              <a:lnSpc>
                <a:spcPts val="2625"/>
              </a:lnSpc>
            </a:pPr>
            <a:r>
              <a:rPr lang="en-US" sz="1625">
                <a:solidFill>
                  <a:srgbClr val="4C4C4D"/>
                </a:solidFill>
                <a:latin typeface="Heebo"/>
                <a:ea typeface="Heebo"/>
                <a:cs typeface="Heebo"/>
                <a:sym typeface="Heebo"/>
              </a:rPr>
              <a:t>Track speed, battery charge, fuel levels, GPS location, and engine diagnostics through IoT sensor integration.</a:t>
            </a:r>
          </a:p>
        </p:txBody>
      </p:sp>
      <p:grpSp>
        <p:nvGrpSpPr>
          <p:cNvPr id="22" name="Group 22"/>
          <p:cNvGrpSpPr/>
          <p:nvPr/>
        </p:nvGrpSpPr>
        <p:grpSpPr>
          <a:xfrm>
            <a:off x="977950" y="7522071"/>
            <a:ext cx="5321350" cy="1948606"/>
            <a:chOff x="0" y="0"/>
            <a:chExt cx="7095133" cy="2598142"/>
          </a:xfrm>
        </p:grpSpPr>
        <p:sp>
          <p:nvSpPr>
            <p:cNvPr id="23" name="Freeform 23"/>
            <p:cNvSpPr/>
            <p:nvPr/>
          </p:nvSpPr>
          <p:spPr>
            <a:xfrm>
              <a:off x="19050" y="19050"/>
              <a:ext cx="7057009" cy="2560066"/>
            </a:xfrm>
            <a:custGeom>
              <a:avLst/>
              <a:gdLst/>
              <a:ahLst/>
              <a:cxnLst/>
              <a:rect l="l" t="t" r="r" b="b"/>
              <a:pathLst>
                <a:path w="7057009" h="2560066">
                  <a:moveTo>
                    <a:pt x="0" y="42545"/>
                  </a:moveTo>
                  <a:cubicBezTo>
                    <a:pt x="0" y="19050"/>
                    <a:pt x="19177" y="0"/>
                    <a:pt x="42926" y="0"/>
                  </a:cubicBezTo>
                  <a:lnTo>
                    <a:pt x="7014083" y="0"/>
                  </a:lnTo>
                  <a:cubicBezTo>
                    <a:pt x="7037832" y="0"/>
                    <a:pt x="7057009" y="19050"/>
                    <a:pt x="7057009" y="42545"/>
                  </a:cubicBezTo>
                  <a:lnTo>
                    <a:pt x="7057009" y="2517521"/>
                  </a:lnTo>
                  <a:cubicBezTo>
                    <a:pt x="7057009" y="2541016"/>
                    <a:pt x="7037832" y="2560066"/>
                    <a:pt x="7014083" y="2560066"/>
                  </a:cubicBezTo>
                  <a:lnTo>
                    <a:pt x="42926" y="2560066"/>
                  </a:lnTo>
                  <a:cubicBezTo>
                    <a:pt x="19177" y="2560066"/>
                    <a:pt x="0" y="2541016"/>
                    <a:pt x="0" y="2517521"/>
                  </a:cubicBezTo>
                  <a:close/>
                </a:path>
              </a:pathLst>
            </a:custGeom>
            <a:solidFill>
              <a:srgbClr val="FFFFFF"/>
            </a:solidFill>
            <a:ln w="12700">
              <a:solidFill>
                <a:srgbClr val="000000"/>
              </a:solidFill>
            </a:ln>
          </p:spPr>
        </p:sp>
        <p:sp>
          <p:nvSpPr>
            <p:cNvPr id="24" name="Freeform 24"/>
            <p:cNvSpPr/>
            <p:nvPr/>
          </p:nvSpPr>
          <p:spPr>
            <a:xfrm>
              <a:off x="0" y="0"/>
              <a:ext cx="7095109" cy="2598166"/>
            </a:xfrm>
            <a:custGeom>
              <a:avLst/>
              <a:gdLst/>
              <a:ahLst/>
              <a:cxnLst/>
              <a:rect l="l" t="t" r="r" b="b"/>
              <a:pathLst>
                <a:path w="7095109" h="2598166">
                  <a:moveTo>
                    <a:pt x="0" y="61595"/>
                  </a:moveTo>
                  <a:cubicBezTo>
                    <a:pt x="0" y="27432"/>
                    <a:pt x="27940" y="0"/>
                    <a:pt x="61976" y="0"/>
                  </a:cubicBezTo>
                  <a:lnTo>
                    <a:pt x="7033133" y="0"/>
                  </a:lnTo>
                  <a:lnTo>
                    <a:pt x="7033133" y="19050"/>
                  </a:lnTo>
                  <a:lnTo>
                    <a:pt x="7033133" y="0"/>
                  </a:lnTo>
                  <a:cubicBezTo>
                    <a:pt x="7067169" y="0"/>
                    <a:pt x="7095109" y="27432"/>
                    <a:pt x="7095109" y="61595"/>
                  </a:cubicBezTo>
                  <a:lnTo>
                    <a:pt x="7076059" y="61595"/>
                  </a:lnTo>
                  <a:lnTo>
                    <a:pt x="7095109" y="61595"/>
                  </a:lnTo>
                  <a:lnTo>
                    <a:pt x="7095109" y="2536571"/>
                  </a:lnTo>
                  <a:lnTo>
                    <a:pt x="7076059" y="2536571"/>
                  </a:lnTo>
                  <a:lnTo>
                    <a:pt x="7095109" y="2536571"/>
                  </a:lnTo>
                  <a:cubicBezTo>
                    <a:pt x="7095109" y="2570734"/>
                    <a:pt x="7067169" y="2598166"/>
                    <a:pt x="7033133" y="2598166"/>
                  </a:cubicBezTo>
                  <a:lnTo>
                    <a:pt x="7033133" y="2579116"/>
                  </a:lnTo>
                  <a:lnTo>
                    <a:pt x="7033133" y="2598166"/>
                  </a:lnTo>
                  <a:lnTo>
                    <a:pt x="61976" y="2598166"/>
                  </a:lnTo>
                  <a:lnTo>
                    <a:pt x="61976" y="2579116"/>
                  </a:lnTo>
                  <a:lnTo>
                    <a:pt x="61976" y="2598166"/>
                  </a:lnTo>
                  <a:cubicBezTo>
                    <a:pt x="27940" y="2598166"/>
                    <a:pt x="0" y="2570734"/>
                    <a:pt x="0" y="2536571"/>
                  </a:cubicBezTo>
                  <a:lnTo>
                    <a:pt x="0" y="61595"/>
                  </a:lnTo>
                  <a:lnTo>
                    <a:pt x="19050" y="61595"/>
                  </a:lnTo>
                  <a:lnTo>
                    <a:pt x="0" y="61595"/>
                  </a:lnTo>
                  <a:moveTo>
                    <a:pt x="38100" y="61595"/>
                  </a:moveTo>
                  <a:lnTo>
                    <a:pt x="38100" y="2536571"/>
                  </a:lnTo>
                  <a:lnTo>
                    <a:pt x="19050" y="2536571"/>
                  </a:lnTo>
                  <a:lnTo>
                    <a:pt x="38100" y="2536571"/>
                  </a:lnTo>
                  <a:cubicBezTo>
                    <a:pt x="38100" y="2549398"/>
                    <a:pt x="48641" y="2560066"/>
                    <a:pt x="61976" y="2560066"/>
                  </a:cubicBezTo>
                  <a:lnTo>
                    <a:pt x="7033133" y="2560066"/>
                  </a:lnTo>
                  <a:cubicBezTo>
                    <a:pt x="7046468" y="2560066"/>
                    <a:pt x="7057009" y="2549398"/>
                    <a:pt x="7057009" y="2536571"/>
                  </a:cubicBezTo>
                  <a:lnTo>
                    <a:pt x="7057009" y="61595"/>
                  </a:lnTo>
                  <a:cubicBezTo>
                    <a:pt x="7057009" y="48768"/>
                    <a:pt x="7046468" y="38100"/>
                    <a:pt x="7033133" y="38100"/>
                  </a:cubicBezTo>
                  <a:lnTo>
                    <a:pt x="61976" y="38100"/>
                  </a:lnTo>
                  <a:lnTo>
                    <a:pt x="61976" y="19050"/>
                  </a:lnTo>
                  <a:lnTo>
                    <a:pt x="61976" y="38100"/>
                  </a:lnTo>
                  <a:cubicBezTo>
                    <a:pt x="48641" y="38100"/>
                    <a:pt x="38100" y="48768"/>
                    <a:pt x="38100" y="61595"/>
                  </a:cubicBezTo>
                  <a:close/>
                </a:path>
              </a:pathLst>
            </a:custGeom>
            <a:solidFill>
              <a:srgbClr val="D8D4D4"/>
            </a:solidFill>
            <a:ln w="12700">
              <a:solidFill>
                <a:srgbClr val="000000"/>
              </a:solidFill>
            </a:ln>
          </p:spPr>
        </p:sp>
      </p:grpSp>
      <p:grpSp>
        <p:nvGrpSpPr>
          <p:cNvPr id="25" name="Group 25"/>
          <p:cNvGrpSpPr/>
          <p:nvPr/>
        </p:nvGrpSpPr>
        <p:grpSpPr>
          <a:xfrm>
            <a:off x="1020812" y="7564934"/>
            <a:ext cx="5235625" cy="637877"/>
            <a:chOff x="0" y="0"/>
            <a:chExt cx="6980833" cy="850503"/>
          </a:xfrm>
        </p:grpSpPr>
        <p:sp>
          <p:nvSpPr>
            <p:cNvPr id="26" name="Freeform 26"/>
            <p:cNvSpPr/>
            <p:nvPr/>
          </p:nvSpPr>
          <p:spPr>
            <a:xfrm>
              <a:off x="0" y="0"/>
              <a:ext cx="6980809" cy="850519"/>
            </a:xfrm>
            <a:custGeom>
              <a:avLst/>
              <a:gdLst/>
              <a:ahLst/>
              <a:cxnLst/>
              <a:rect l="l" t="t" r="r" b="b"/>
              <a:pathLst>
                <a:path w="6980809" h="850519">
                  <a:moveTo>
                    <a:pt x="0" y="0"/>
                  </a:moveTo>
                  <a:lnTo>
                    <a:pt x="6980809" y="0"/>
                  </a:lnTo>
                  <a:lnTo>
                    <a:pt x="6980809" y="850519"/>
                  </a:lnTo>
                  <a:lnTo>
                    <a:pt x="0" y="850519"/>
                  </a:lnTo>
                  <a:close/>
                </a:path>
              </a:pathLst>
            </a:custGeom>
            <a:solidFill>
              <a:srgbClr val="F2EEEE"/>
            </a:solidFill>
            <a:ln w="12700">
              <a:solidFill>
                <a:srgbClr val="000000"/>
              </a:solidFill>
            </a:ln>
          </p:spPr>
        </p:sp>
      </p:grpSp>
      <p:sp>
        <p:nvSpPr>
          <p:cNvPr id="27" name="Freeform 27" descr="preencoded.png"/>
          <p:cNvSpPr/>
          <p:nvPr/>
        </p:nvSpPr>
        <p:spPr>
          <a:xfrm>
            <a:off x="3479155" y="7724329"/>
            <a:ext cx="318939" cy="318939"/>
          </a:xfrm>
          <a:custGeom>
            <a:avLst/>
            <a:gdLst/>
            <a:ahLst/>
            <a:cxnLst/>
            <a:rect l="l" t="t" r="r" b="b"/>
            <a:pathLst>
              <a:path w="318939" h="318939">
                <a:moveTo>
                  <a:pt x="0" y="0"/>
                </a:moveTo>
                <a:lnTo>
                  <a:pt x="318939" y="0"/>
                </a:lnTo>
                <a:lnTo>
                  <a:pt x="318939" y="318939"/>
                </a:lnTo>
                <a:lnTo>
                  <a:pt x="0" y="318939"/>
                </a:lnTo>
                <a:lnTo>
                  <a:pt x="0" y="0"/>
                </a:lnTo>
                <a:close/>
              </a:path>
            </a:pathLst>
          </a:custGeom>
          <a:blipFill>
            <a:blip r:embed="rId4">
              <a:extLst>
                <a:ext uri="{96DAC541-7B7A-43D3-8B79-37D633B846F1}">
                  <asvg:svgBlip xmlns:asvg="http://schemas.microsoft.com/office/drawing/2016/SVG/main" r:embed="rId5"/>
                </a:ext>
              </a:extLst>
            </a:blip>
            <a:stretch>
              <a:fillRect t="-2941" b="-2941"/>
            </a:stretch>
          </a:blipFill>
        </p:spPr>
      </p:sp>
      <p:sp>
        <p:nvSpPr>
          <p:cNvPr id="28" name="TextBox 28"/>
          <p:cNvSpPr txBox="1"/>
          <p:nvPr/>
        </p:nvSpPr>
        <p:spPr>
          <a:xfrm>
            <a:off x="1233339" y="8396288"/>
            <a:ext cx="2658070" cy="351234"/>
          </a:xfrm>
          <a:prstGeom prst="rect">
            <a:avLst/>
          </a:prstGeom>
        </p:spPr>
        <p:txBody>
          <a:bodyPr lIns="0" tIns="0" rIns="0" bIns="0" rtlCol="0" anchor="t">
            <a:spAutoFit/>
          </a:bodyPr>
          <a:lstStyle/>
          <a:p>
            <a:pPr algn="l">
              <a:lnSpc>
                <a:spcPts val="2562"/>
              </a:lnSpc>
            </a:pPr>
            <a:r>
              <a:rPr lang="en-US" sz="2062" b="1">
                <a:solidFill>
                  <a:srgbClr val="4C4C4D"/>
                </a:solidFill>
                <a:latin typeface="Crimson Pro Bold"/>
                <a:ea typeface="Crimson Pro Bold"/>
                <a:cs typeface="Crimson Pro Bold"/>
                <a:sym typeface="Crimson Pro Bold"/>
              </a:rPr>
              <a:t>Location Tracking</a:t>
            </a:r>
          </a:p>
        </p:txBody>
      </p:sp>
      <p:sp>
        <p:nvSpPr>
          <p:cNvPr id="29" name="TextBox 29"/>
          <p:cNvSpPr txBox="1"/>
          <p:nvPr/>
        </p:nvSpPr>
        <p:spPr>
          <a:xfrm>
            <a:off x="1233339" y="8808392"/>
            <a:ext cx="4810571" cy="406896"/>
          </a:xfrm>
          <a:prstGeom prst="rect">
            <a:avLst/>
          </a:prstGeom>
        </p:spPr>
        <p:txBody>
          <a:bodyPr lIns="0" tIns="0" rIns="0" bIns="0" rtlCol="0" anchor="t">
            <a:spAutoFit/>
          </a:bodyPr>
          <a:lstStyle/>
          <a:p>
            <a:pPr algn="l">
              <a:lnSpc>
                <a:spcPts val="2625"/>
              </a:lnSpc>
            </a:pPr>
            <a:r>
              <a:rPr lang="en-US" sz="1625">
                <a:solidFill>
                  <a:srgbClr val="4C4C4D"/>
                </a:solidFill>
                <a:latin typeface="Heebo"/>
                <a:ea typeface="Heebo"/>
                <a:cs typeface="Heebo"/>
                <a:sym typeface="Heebo"/>
              </a:rPr>
              <a:t>GPS coordinates with accuracy indicators</a:t>
            </a:r>
          </a:p>
        </p:txBody>
      </p:sp>
      <p:grpSp>
        <p:nvGrpSpPr>
          <p:cNvPr id="30" name="Group 30"/>
          <p:cNvGrpSpPr/>
          <p:nvPr/>
        </p:nvGrpSpPr>
        <p:grpSpPr>
          <a:xfrm>
            <a:off x="6483251" y="7522071"/>
            <a:ext cx="5321350" cy="1948606"/>
            <a:chOff x="0" y="0"/>
            <a:chExt cx="7095133" cy="2598142"/>
          </a:xfrm>
        </p:grpSpPr>
        <p:sp>
          <p:nvSpPr>
            <p:cNvPr id="31" name="Freeform 31"/>
            <p:cNvSpPr/>
            <p:nvPr/>
          </p:nvSpPr>
          <p:spPr>
            <a:xfrm>
              <a:off x="19050" y="19050"/>
              <a:ext cx="7057009" cy="2560066"/>
            </a:xfrm>
            <a:custGeom>
              <a:avLst/>
              <a:gdLst/>
              <a:ahLst/>
              <a:cxnLst/>
              <a:rect l="l" t="t" r="r" b="b"/>
              <a:pathLst>
                <a:path w="7057009" h="2560066">
                  <a:moveTo>
                    <a:pt x="0" y="42545"/>
                  </a:moveTo>
                  <a:cubicBezTo>
                    <a:pt x="0" y="19050"/>
                    <a:pt x="19177" y="0"/>
                    <a:pt x="42926" y="0"/>
                  </a:cubicBezTo>
                  <a:lnTo>
                    <a:pt x="7014083" y="0"/>
                  </a:lnTo>
                  <a:cubicBezTo>
                    <a:pt x="7037832" y="0"/>
                    <a:pt x="7057009" y="19050"/>
                    <a:pt x="7057009" y="42545"/>
                  </a:cubicBezTo>
                  <a:lnTo>
                    <a:pt x="7057009" y="2517521"/>
                  </a:lnTo>
                  <a:cubicBezTo>
                    <a:pt x="7057009" y="2541016"/>
                    <a:pt x="7037832" y="2560066"/>
                    <a:pt x="7014083" y="2560066"/>
                  </a:cubicBezTo>
                  <a:lnTo>
                    <a:pt x="42926" y="2560066"/>
                  </a:lnTo>
                  <a:cubicBezTo>
                    <a:pt x="19177" y="2560066"/>
                    <a:pt x="0" y="2541016"/>
                    <a:pt x="0" y="2517521"/>
                  </a:cubicBezTo>
                  <a:close/>
                </a:path>
              </a:pathLst>
            </a:custGeom>
            <a:solidFill>
              <a:srgbClr val="FFFFFF"/>
            </a:solidFill>
            <a:ln w="12700">
              <a:solidFill>
                <a:srgbClr val="000000"/>
              </a:solidFill>
            </a:ln>
          </p:spPr>
        </p:sp>
        <p:sp>
          <p:nvSpPr>
            <p:cNvPr id="32" name="Freeform 32"/>
            <p:cNvSpPr/>
            <p:nvPr/>
          </p:nvSpPr>
          <p:spPr>
            <a:xfrm>
              <a:off x="0" y="0"/>
              <a:ext cx="7095109" cy="2598166"/>
            </a:xfrm>
            <a:custGeom>
              <a:avLst/>
              <a:gdLst/>
              <a:ahLst/>
              <a:cxnLst/>
              <a:rect l="l" t="t" r="r" b="b"/>
              <a:pathLst>
                <a:path w="7095109" h="2598166">
                  <a:moveTo>
                    <a:pt x="0" y="61595"/>
                  </a:moveTo>
                  <a:cubicBezTo>
                    <a:pt x="0" y="27432"/>
                    <a:pt x="27940" y="0"/>
                    <a:pt x="61976" y="0"/>
                  </a:cubicBezTo>
                  <a:lnTo>
                    <a:pt x="7033133" y="0"/>
                  </a:lnTo>
                  <a:lnTo>
                    <a:pt x="7033133" y="19050"/>
                  </a:lnTo>
                  <a:lnTo>
                    <a:pt x="7033133" y="0"/>
                  </a:lnTo>
                  <a:cubicBezTo>
                    <a:pt x="7067169" y="0"/>
                    <a:pt x="7095109" y="27432"/>
                    <a:pt x="7095109" y="61595"/>
                  </a:cubicBezTo>
                  <a:lnTo>
                    <a:pt x="7076059" y="61595"/>
                  </a:lnTo>
                  <a:lnTo>
                    <a:pt x="7095109" y="61595"/>
                  </a:lnTo>
                  <a:lnTo>
                    <a:pt x="7095109" y="2536571"/>
                  </a:lnTo>
                  <a:lnTo>
                    <a:pt x="7076059" y="2536571"/>
                  </a:lnTo>
                  <a:lnTo>
                    <a:pt x="7095109" y="2536571"/>
                  </a:lnTo>
                  <a:cubicBezTo>
                    <a:pt x="7095109" y="2570734"/>
                    <a:pt x="7067169" y="2598166"/>
                    <a:pt x="7033133" y="2598166"/>
                  </a:cubicBezTo>
                  <a:lnTo>
                    <a:pt x="7033133" y="2579116"/>
                  </a:lnTo>
                  <a:lnTo>
                    <a:pt x="7033133" y="2598166"/>
                  </a:lnTo>
                  <a:lnTo>
                    <a:pt x="61976" y="2598166"/>
                  </a:lnTo>
                  <a:lnTo>
                    <a:pt x="61976" y="2579116"/>
                  </a:lnTo>
                  <a:lnTo>
                    <a:pt x="61976" y="2598166"/>
                  </a:lnTo>
                  <a:cubicBezTo>
                    <a:pt x="27940" y="2598166"/>
                    <a:pt x="0" y="2570734"/>
                    <a:pt x="0" y="2536571"/>
                  </a:cubicBezTo>
                  <a:lnTo>
                    <a:pt x="0" y="61595"/>
                  </a:lnTo>
                  <a:lnTo>
                    <a:pt x="19050" y="61595"/>
                  </a:lnTo>
                  <a:lnTo>
                    <a:pt x="0" y="61595"/>
                  </a:lnTo>
                  <a:moveTo>
                    <a:pt x="38100" y="61595"/>
                  </a:moveTo>
                  <a:lnTo>
                    <a:pt x="38100" y="2536571"/>
                  </a:lnTo>
                  <a:lnTo>
                    <a:pt x="19050" y="2536571"/>
                  </a:lnTo>
                  <a:lnTo>
                    <a:pt x="38100" y="2536571"/>
                  </a:lnTo>
                  <a:cubicBezTo>
                    <a:pt x="38100" y="2549398"/>
                    <a:pt x="48641" y="2560066"/>
                    <a:pt x="61976" y="2560066"/>
                  </a:cubicBezTo>
                  <a:lnTo>
                    <a:pt x="7033133" y="2560066"/>
                  </a:lnTo>
                  <a:cubicBezTo>
                    <a:pt x="7046468" y="2560066"/>
                    <a:pt x="7057009" y="2549398"/>
                    <a:pt x="7057009" y="2536571"/>
                  </a:cubicBezTo>
                  <a:lnTo>
                    <a:pt x="7057009" y="61595"/>
                  </a:lnTo>
                  <a:cubicBezTo>
                    <a:pt x="7057009" y="48768"/>
                    <a:pt x="7046468" y="38100"/>
                    <a:pt x="7033133" y="38100"/>
                  </a:cubicBezTo>
                  <a:lnTo>
                    <a:pt x="61976" y="38100"/>
                  </a:lnTo>
                  <a:lnTo>
                    <a:pt x="61976" y="19050"/>
                  </a:lnTo>
                  <a:lnTo>
                    <a:pt x="61976" y="38100"/>
                  </a:lnTo>
                  <a:cubicBezTo>
                    <a:pt x="48641" y="38100"/>
                    <a:pt x="38100" y="48768"/>
                    <a:pt x="38100" y="61595"/>
                  </a:cubicBezTo>
                  <a:close/>
                </a:path>
              </a:pathLst>
            </a:custGeom>
            <a:solidFill>
              <a:srgbClr val="D8D4D4"/>
            </a:solidFill>
            <a:ln w="12700">
              <a:solidFill>
                <a:srgbClr val="000000"/>
              </a:solidFill>
            </a:ln>
          </p:spPr>
        </p:sp>
      </p:grpSp>
      <p:grpSp>
        <p:nvGrpSpPr>
          <p:cNvPr id="33" name="Group 33"/>
          <p:cNvGrpSpPr/>
          <p:nvPr/>
        </p:nvGrpSpPr>
        <p:grpSpPr>
          <a:xfrm>
            <a:off x="6526114" y="7564934"/>
            <a:ext cx="5235625" cy="637877"/>
            <a:chOff x="0" y="0"/>
            <a:chExt cx="6980833" cy="850503"/>
          </a:xfrm>
        </p:grpSpPr>
        <p:sp>
          <p:nvSpPr>
            <p:cNvPr id="34" name="Freeform 34"/>
            <p:cNvSpPr/>
            <p:nvPr/>
          </p:nvSpPr>
          <p:spPr>
            <a:xfrm>
              <a:off x="0" y="0"/>
              <a:ext cx="6980809" cy="850519"/>
            </a:xfrm>
            <a:custGeom>
              <a:avLst/>
              <a:gdLst/>
              <a:ahLst/>
              <a:cxnLst/>
              <a:rect l="l" t="t" r="r" b="b"/>
              <a:pathLst>
                <a:path w="6980809" h="850519">
                  <a:moveTo>
                    <a:pt x="0" y="0"/>
                  </a:moveTo>
                  <a:lnTo>
                    <a:pt x="6980809" y="0"/>
                  </a:lnTo>
                  <a:lnTo>
                    <a:pt x="6980809" y="850519"/>
                  </a:lnTo>
                  <a:lnTo>
                    <a:pt x="0" y="850519"/>
                  </a:lnTo>
                  <a:close/>
                </a:path>
              </a:pathLst>
            </a:custGeom>
            <a:solidFill>
              <a:srgbClr val="F2EEEE"/>
            </a:solidFill>
            <a:ln w="12700">
              <a:solidFill>
                <a:srgbClr val="000000"/>
              </a:solidFill>
            </a:ln>
          </p:spPr>
        </p:sp>
      </p:grpSp>
      <p:sp>
        <p:nvSpPr>
          <p:cNvPr id="35" name="Freeform 35" descr="preencoded.png"/>
          <p:cNvSpPr/>
          <p:nvPr/>
        </p:nvSpPr>
        <p:spPr>
          <a:xfrm>
            <a:off x="8984456" y="7724329"/>
            <a:ext cx="318939" cy="318939"/>
          </a:xfrm>
          <a:custGeom>
            <a:avLst/>
            <a:gdLst/>
            <a:ahLst/>
            <a:cxnLst/>
            <a:rect l="l" t="t" r="r" b="b"/>
            <a:pathLst>
              <a:path w="318939" h="318939">
                <a:moveTo>
                  <a:pt x="0" y="0"/>
                </a:moveTo>
                <a:lnTo>
                  <a:pt x="318939" y="0"/>
                </a:lnTo>
                <a:lnTo>
                  <a:pt x="318939" y="318939"/>
                </a:lnTo>
                <a:lnTo>
                  <a:pt x="0" y="318939"/>
                </a:lnTo>
                <a:lnTo>
                  <a:pt x="0" y="0"/>
                </a:lnTo>
                <a:close/>
              </a:path>
            </a:pathLst>
          </a:custGeom>
          <a:blipFill>
            <a:blip r:embed="rId6">
              <a:extLst>
                <a:ext uri="{96DAC541-7B7A-43D3-8B79-37D633B846F1}">
                  <asvg:svgBlip xmlns:asvg="http://schemas.microsoft.com/office/drawing/2016/SVG/main" r:embed="rId7"/>
                </a:ext>
              </a:extLst>
            </a:blip>
            <a:stretch>
              <a:fillRect l="-1470" r="-1470"/>
            </a:stretch>
          </a:blipFill>
        </p:spPr>
      </p:sp>
      <p:sp>
        <p:nvSpPr>
          <p:cNvPr id="36" name="TextBox 36"/>
          <p:cNvSpPr txBox="1"/>
          <p:nvPr/>
        </p:nvSpPr>
        <p:spPr>
          <a:xfrm>
            <a:off x="6738640" y="8396288"/>
            <a:ext cx="2658070" cy="351234"/>
          </a:xfrm>
          <a:prstGeom prst="rect">
            <a:avLst/>
          </a:prstGeom>
        </p:spPr>
        <p:txBody>
          <a:bodyPr lIns="0" tIns="0" rIns="0" bIns="0" rtlCol="0" anchor="t">
            <a:spAutoFit/>
          </a:bodyPr>
          <a:lstStyle/>
          <a:p>
            <a:pPr algn="l">
              <a:lnSpc>
                <a:spcPts val="2562"/>
              </a:lnSpc>
            </a:pPr>
            <a:r>
              <a:rPr lang="en-US" sz="2062" b="1">
                <a:solidFill>
                  <a:srgbClr val="4C4C4D"/>
                </a:solidFill>
                <a:latin typeface="Crimson Pro Bold"/>
                <a:ea typeface="Crimson Pro Bold"/>
                <a:cs typeface="Crimson Pro Bold"/>
                <a:sym typeface="Crimson Pro Bold"/>
              </a:rPr>
              <a:t>Status Chips</a:t>
            </a:r>
          </a:p>
        </p:txBody>
      </p:sp>
      <p:sp>
        <p:nvSpPr>
          <p:cNvPr id="37" name="TextBox 37"/>
          <p:cNvSpPr txBox="1"/>
          <p:nvPr/>
        </p:nvSpPr>
        <p:spPr>
          <a:xfrm>
            <a:off x="6738640" y="8808392"/>
            <a:ext cx="4810571" cy="406896"/>
          </a:xfrm>
          <a:prstGeom prst="rect">
            <a:avLst/>
          </a:prstGeom>
        </p:spPr>
        <p:txBody>
          <a:bodyPr lIns="0" tIns="0" rIns="0" bIns="0" rtlCol="0" anchor="t">
            <a:spAutoFit/>
          </a:bodyPr>
          <a:lstStyle/>
          <a:p>
            <a:pPr algn="l">
              <a:lnSpc>
                <a:spcPts val="2625"/>
              </a:lnSpc>
            </a:pPr>
            <a:r>
              <a:rPr lang="en-US" sz="1625">
                <a:solidFill>
                  <a:srgbClr val="4C4C4D"/>
                </a:solidFill>
                <a:latin typeface="Heebo"/>
                <a:ea typeface="Heebo"/>
                <a:cs typeface="Heebo"/>
                <a:sym typeface="Heebo"/>
              </a:rPr>
              <a:t>Available, In Use, or Needs Service states</a:t>
            </a:r>
          </a:p>
        </p:txBody>
      </p:sp>
      <p:grpSp>
        <p:nvGrpSpPr>
          <p:cNvPr id="38" name="Group 38"/>
          <p:cNvGrpSpPr/>
          <p:nvPr/>
        </p:nvGrpSpPr>
        <p:grpSpPr>
          <a:xfrm>
            <a:off x="11988552" y="7522071"/>
            <a:ext cx="5321350" cy="1948606"/>
            <a:chOff x="0" y="0"/>
            <a:chExt cx="7095133" cy="2598142"/>
          </a:xfrm>
        </p:grpSpPr>
        <p:sp>
          <p:nvSpPr>
            <p:cNvPr id="39" name="Freeform 39"/>
            <p:cNvSpPr/>
            <p:nvPr/>
          </p:nvSpPr>
          <p:spPr>
            <a:xfrm>
              <a:off x="19050" y="19050"/>
              <a:ext cx="7057009" cy="2560066"/>
            </a:xfrm>
            <a:custGeom>
              <a:avLst/>
              <a:gdLst/>
              <a:ahLst/>
              <a:cxnLst/>
              <a:rect l="l" t="t" r="r" b="b"/>
              <a:pathLst>
                <a:path w="7057009" h="2560066">
                  <a:moveTo>
                    <a:pt x="0" y="42545"/>
                  </a:moveTo>
                  <a:cubicBezTo>
                    <a:pt x="0" y="19050"/>
                    <a:pt x="19177" y="0"/>
                    <a:pt x="42926" y="0"/>
                  </a:cubicBezTo>
                  <a:lnTo>
                    <a:pt x="7014083" y="0"/>
                  </a:lnTo>
                  <a:cubicBezTo>
                    <a:pt x="7037832" y="0"/>
                    <a:pt x="7057009" y="19050"/>
                    <a:pt x="7057009" y="42545"/>
                  </a:cubicBezTo>
                  <a:lnTo>
                    <a:pt x="7057009" y="2517521"/>
                  </a:lnTo>
                  <a:cubicBezTo>
                    <a:pt x="7057009" y="2541016"/>
                    <a:pt x="7037832" y="2560066"/>
                    <a:pt x="7014083" y="2560066"/>
                  </a:cubicBezTo>
                  <a:lnTo>
                    <a:pt x="42926" y="2560066"/>
                  </a:lnTo>
                  <a:cubicBezTo>
                    <a:pt x="19177" y="2560066"/>
                    <a:pt x="0" y="2541016"/>
                    <a:pt x="0" y="2517521"/>
                  </a:cubicBezTo>
                  <a:close/>
                </a:path>
              </a:pathLst>
            </a:custGeom>
            <a:solidFill>
              <a:srgbClr val="FFFFFF"/>
            </a:solidFill>
            <a:ln w="12700">
              <a:solidFill>
                <a:srgbClr val="000000"/>
              </a:solidFill>
            </a:ln>
          </p:spPr>
        </p:sp>
        <p:sp>
          <p:nvSpPr>
            <p:cNvPr id="40" name="Freeform 40"/>
            <p:cNvSpPr/>
            <p:nvPr/>
          </p:nvSpPr>
          <p:spPr>
            <a:xfrm>
              <a:off x="0" y="0"/>
              <a:ext cx="7095109" cy="2598166"/>
            </a:xfrm>
            <a:custGeom>
              <a:avLst/>
              <a:gdLst/>
              <a:ahLst/>
              <a:cxnLst/>
              <a:rect l="l" t="t" r="r" b="b"/>
              <a:pathLst>
                <a:path w="7095109" h="2598166">
                  <a:moveTo>
                    <a:pt x="0" y="61595"/>
                  </a:moveTo>
                  <a:cubicBezTo>
                    <a:pt x="0" y="27432"/>
                    <a:pt x="27940" y="0"/>
                    <a:pt x="61976" y="0"/>
                  </a:cubicBezTo>
                  <a:lnTo>
                    <a:pt x="7033133" y="0"/>
                  </a:lnTo>
                  <a:lnTo>
                    <a:pt x="7033133" y="19050"/>
                  </a:lnTo>
                  <a:lnTo>
                    <a:pt x="7033133" y="0"/>
                  </a:lnTo>
                  <a:cubicBezTo>
                    <a:pt x="7067169" y="0"/>
                    <a:pt x="7095109" y="27432"/>
                    <a:pt x="7095109" y="61595"/>
                  </a:cubicBezTo>
                  <a:lnTo>
                    <a:pt x="7076059" y="61595"/>
                  </a:lnTo>
                  <a:lnTo>
                    <a:pt x="7095109" y="61595"/>
                  </a:lnTo>
                  <a:lnTo>
                    <a:pt x="7095109" y="2536571"/>
                  </a:lnTo>
                  <a:lnTo>
                    <a:pt x="7076059" y="2536571"/>
                  </a:lnTo>
                  <a:lnTo>
                    <a:pt x="7095109" y="2536571"/>
                  </a:lnTo>
                  <a:cubicBezTo>
                    <a:pt x="7095109" y="2570734"/>
                    <a:pt x="7067169" y="2598166"/>
                    <a:pt x="7033133" y="2598166"/>
                  </a:cubicBezTo>
                  <a:lnTo>
                    <a:pt x="7033133" y="2579116"/>
                  </a:lnTo>
                  <a:lnTo>
                    <a:pt x="7033133" y="2598166"/>
                  </a:lnTo>
                  <a:lnTo>
                    <a:pt x="61976" y="2598166"/>
                  </a:lnTo>
                  <a:lnTo>
                    <a:pt x="61976" y="2579116"/>
                  </a:lnTo>
                  <a:lnTo>
                    <a:pt x="61976" y="2598166"/>
                  </a:lnTo>
                  <a:cubicBezTo>
                    <a:pt x="27940" y="2598166"/>
                    <a:pt x="0" y="2570734"/>
                    <a:pt x="0" y="2536571"/>
                  </a:cubicBezTo>
                  <a:lnTo>
                    <a:pt x="0" y="61595"/>
                  </a:lnTo>
                  <a:lnTo>
                    <a:pt x="19050" y="61595"/>
                  </a:lnTo>
                  <a:lnTo>
                    <a:pt x="0" y="61595"/>
                  </a:lnTo>
                  <a:moveTo>
                    <a:pt x="38100" y="61595"/>
                  </a:moveTo>
                  <a:lnTo>
                    <a:pt x="38100" y="2536571"/>
                  </a:lnTo>
                  <a:lnTo>
                    <a:pt x="19050" y="2536571"/>
                  </a:lnTo>
                  <a:lnTo>
                    <a:pt x="38100" y="2536571"/>
                  </a:lnTo>
                  <a:cubicBezTo>
                    <a:pt x="38100" y="2549398"/>
                    <a:pt x="48641" y="2560066"/>
                    <a:pt x="61976" y="2560066"/>
                  </a:cubicBezTo>
                  <a:lnTo>
                    <a:pt x="7033133" y="2560066"/>
                  </a:lnTo>
                  <a:cubicBezTo>
                    <a:pt x="7046468" y="2560066"/>
                    <a:pt x="7057009" y="2549398"/>
                    <a:pt x="7057009" y="2536571"/>
                  </a:cubicBezTo>
                  <a:lnTo>
                    <a:pt x="7057009" y="61595"/>
                  </a:lnTo>
                  <a:cubicBezTo>
                    <a:pt x="7057009" y="48768"/>
                    <a:pt x="7046468" y="38100"/>
                    <a:pt x="7033133" y="38100"/>
                  </a:cubicBezTo>
                  <a:lnTo>
                    <a:pt x="61976" y="38100"/>
                  </a:lnTo>
                  <a:lnTo>
                    <a:pt x="61976" y="19050"/>
                  </a:lnTo>
                  <a:lnTo>
                    <a:pt x="61976" y="38100"/>
                  </a:lnTo>
                  <a:cubicBezTo>
                    <a:pt x="48641" y="38100"/>
                    <a:pt x="38100" y="48768"/>
                    <a:pt x="38100" y="61595"/>
                  </a:cubicBezTo>
                  <a:close/>
                </a:path>
              </a:pathLst>
            </a:custGeom>
            <a:solidFill>
              <a:srgbClr val="D8D4D4"/>
            </a:solidFill>
            <a:ln w="12700">
              <a:solidFill>
                <a:srgbClr val="000000"/>
              </a:solidFill>
            </a:ln>
          </p:spPr>
        </p:sp>
      </p:grpSp>
      <p:grpSp>
        <p:nvGrpSpPr>
          <p:cNvPr id="41" name="Group 41"/>
          <p:cNvGrpSpPr/>
          <p:nvPr/>
        </p:nvGrpSpPr>
        <p:grpSpPr>
          <a:xfrm>
            <a:off x="12031415" y="7564934"/>
            <a:ext cx="5235625" cy="637877"/>
            <a:chOff x="0" y="0"/>
            <a:chExt cx="6980833" cy="850503"/>
          </a:xfrm>
        </p:grpSpPr>
        <p:sp>
          <p:nvSpPr>
            <p:cNvPr id="42" name="Freeform 42"/>
            <p:cNvSpPr/>
            <p:nvPr/>
          </p:nvSpPr>
          <p:spPr>
            <a:xfrm>
              <a:off x="0" y="0"/>
              <a:ext cx="6980809" cy="850519"/>
            </a:xfrm>
            <a:custGeom>
              <a:avLst/>
              <a:gdLst/>
              <a:ahLst/>
              <a:cxnLst/>
              <a:rect l="l" t="t" r="r" b="b"/>
              <a:pathLst>
                <a:path w="6980809" h="850519">
                  <a:moveTo>
                    <a:pt x="0" y="0"/>
                  </a:moveTo>
                  <a:lnTo>
                    <a:pt x="6980809" y="0"/>
                  </a:lnTo>
                  <a:lnTo>
                    <a:pt x="6980809" y="850519"/>
                  </a:lnTo>
                  <a:lnTo>
                    <a:pt x="0" y="850519"/>
                  </a:lnTo>
                  <a:close/>
                </a:path>
              </a:pathLst>
            </a:custGeom>
            <a:solidFill>
              <a:srgbClr val="F2EEEE"/>
            </a:solidFill>
            <a:ln w="12700">
              <a:solidFill>
                <a:srgbClr val="000000"/>
              </a:solidFill>
            </a:ln>
          </p:spPr>
        </p:sp>
      </p:grpSp>
      <p:sp>
        <p:nvSpPr>
          <p:cNvPr id="43" name="Freeform 43" descr="preencoded.png"/>
          <p:cNvSpPr/>
          <p:nvPr/>
        </p:nvSpPr>
        <p:spPr>
          <a:xfrm>
            <a:off x="14489757" y="7724329"/>
            <a:ext cx="318939" cy="318939"/>
          </a:xfrm>
          <a:custGeom>
            <a:avLst/>
            <a:gdLst/>
            <a:ahLst/>
            <a:cxnLst/>
            <a:rect l="l" t="t" r="r" b="b"/>
            <a:pathLst>
              <a:path w="318939" h="318939">
                <a:moveTo>
                  <a:pt x="0" y="0"/>
                </a:moveTo>
                <a:lnTo>
                  <a:pt x="318939" y="0"/>
                </a:lnTo>
                <a:lnTo>
                  <a:pt x="318939" y="318939"/>
                </a:lnTo>
                <a:lnTo>
                  <a:pt x="0" y="318939"/>
                </a:lnTo>
                <a:lnTo>
                  <a:pt x="0" y="0"/>
                </a:lnTo>
                <a:close/>
              </a:path>
            </a:pathLst>
          </a:custGeom>
          <a:blipFill>
            <a:blip r:embed="rId8">
              <a:extLst>
                <a:ext uri="{96DAC541-7B7A-43D3-8B79-37D633B846F1}">
                  <asvg:svgBlip xmlns:asvg="http://schemas.microsoft.com/office/drawing/2016/SVG/main" r:embed="rId9"/>
                </a:ext>
              </a:extLst>
            </a:blip>
            <a:stretch>
              <a:fillRect l="-29411" r="-29411"/>
            </a:stretch>
          </a:blipFill>
        </p:spPr>
      </p:sp>
      <p:sp>
        <p:nvSpPr>
          <p:cNvPr id="44" name="TextBox 44"/>
          <p:cNvSpPr txBox="1"/>
          <p:nvPr/>
        </p:nvSpPr>
        <p:spPr>
          <a:xfrm>
            <a:off x="12243941" y="8396288"/>
            <a:ext cx="2658070" cy="351234"/>
          </a:xfrm>
          <a:prstGeom prst="rect">
            <a:avLst/>
          </a:prstGeom>
        </p:spPr>
        <p:txBody>
          <a:bodyPr lIns="0" tIns="0" rIns="0" bIns="0" rtlCol="0" anchor="t">
            <a:spAutoFit/>
          </a:bodyPr>
          <a:lstStyle/>
          <a:p>
            <a:pPr algn="l">
              <a:lnSpc>
                <a:spcPts val="2562"/>
              </a:lnSpc>
            </a:pPr>
            <a:r>
              <a:rPr lang="en-US" sz="2062" b="1">
                <a:solidFill>
                  <a:srgbClr val="4C4C4D"/>
                </a:solidFill>
                <a:latin typeface="Crimson Pro Bold"/>
                <a:ea typeface="Crimson Pro Bold"/>
                <a:cs typeface="Crimson Pro Bold"/>
                <a:sym typeface="Crimson Pro Bold"/>
              </a:rPr>
              <a:t>Battery/Fuel Icons</a:t>
            </a:r>
          </a:p>
        </p:txBody>
      </p:sp>
      <p:sp>
        <p:nvSpPr>
          <p:cNvPr id="45" name="TextBox 45"/>
          <p:cNvSpPr txBox="1"/>
          <p:nvPr/>
        </p:nvSpPr>
        <p:spPr>
          <a:xfrm>
            <a:off x="12243941" y="8808392"/>
            <a:ext cx="4810571" cy="406896"/>
          </a:xfrm>
          <a:prstGeom prst="rect">
            <a:avLst/>
          </a:prstGeom>
        </p:spPr>
        <p:txBody>
          <a:bodyPr lIns="0" tIns="0" rIns="0" bIns="0" rtlCol="0" anchor="t">
            <a:spAutoFit/>
          </a:bodyPr>
          <a:lstStyle/>
          <a:p>
            <a:pPr algn="l">
              <a:lnSpc>
                <a:spcPts val="2625"/>
              </a:lnSpc>
            </a:pPr>
            <a:r>
              <a:rPr lang="en-US" sz="1625">
                <a:solidFill>
                  <a:srgbClr val="4C4C4D"/>
                </a:solidFill>
                <a:latin typeface="Heebo"/>
                <a:ea typeface="Heebo"/>
                <a:cs typeface="Heebo"/>
                <a:sym typeface="Heebo"/>
              </a:rPr>
              <a:t>Visual percentage bars and alerts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0F0F1"/>
            </a:solidFill>
            <a:ln w="12700">
              <a:solidFill>
                <a:srgbClr val="000000"/>
              </a:solidFill>
            </a:ln>
          </p:spPr>
        </p:sp>
      </p:grpSp>
      <p:grpSp>
        <p:nvGrpSpPr>
          <p:cNvPr id="4" name="Group 4"/>
          <p:cNvGrpSpPr/>
          <p:nvPr/>
        </p:nvGrpSpPr>
        <p:grpSpPr>
          <a:xfrm>
            <a:off x="0" y="3810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a:ln w="12700">
              <a:solidFill>
                <a:srgbClr val="000000"/>
              </a:solidFill>
            </a:ln>
          </p:spPr>
        </p:sp>
      </p:grpSp>
      <p:grpSp>
        <p:nvGrpSpPr>
          <p:cNvPr id="6" name="Group 6"/>
          <p:cNvGrpSpPr>
            <a:grpSpLocks noChangeAspect="1"/>
          </p:cNvGrpSpPr>
          <p:nvPr/>
        </p:nvGrpSpPr>
        <p:grpSpPr>
          <a:xfrm>
            <a:off x="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3"/>
              <a:stretch>
                <a:fillRect/>
              </a:stretch>
            </a:blipFill>
          </p:spPr>
        </p:sp>
      </p:grpSp>
      <p:sp>
        <p:nvSpPr>
          <p:cNvPr id="8" name="TextBox 8"/>
          <p:cNvSpPr txBox="1"/>
          <p:nvPr/>
        </p:nvSpPr>
        <p:spPr>
          <a:xfrm>
            <a:off x="7850236" y="1255514"/>
            <a:ext cx="10285363" cy="670633"/>
          </a:xfrm>
          <a:prstGeom prst="rect">
            <a:avLst/>
          </a:prstGeom>
        </p:spPr>
        <p:txBody>
          <a:bodyPr wrap="square" lIns="0" tIns="0" rIns="0" bIns="0" rtlCol="0" anchor="t">
            <a:spAutoFit/>
          </a:bodyPr>
          <a:lstStyle/>
          <a:p>
            <a:pPr algn="l">
              <a:lnSpc>
                <a:spcPts val="5562"/>
              </a:lnSpc>
            </a:pPr>
            <a:r>
              <a:rPr lang="en-US" sz="4437" b="1" dirty="0">
                <a:solidFill>
                  <a:srgbClr val="152D47"/>
                </a:solidFill>
                <a:latin typeface="Crimson Pro Bold"/>
                <a:ea typeface="Crimson Pro Bold"/>
                <a:cs typeface="Crimson Pro Bold"/>
                <a:sym typeface="Crimson Pro Bold"/>
              </a:rPr>
              <a:t>Module 3: AI Route &amp; Load </a:t>
            </a:r>
            <a:r>
              <a:rPr lang="en-US" sz="4437" b="1" dirty="0" err="1">
                <a:solidFill>
                  <a:srgbClr val="152D47"/>
                </a:solidFill>
                <a:latin typeface="Crimson Pro Bold"/>
                <a:ea typeface="Crimson Pro Bold"/>
                <a:cs typeface="Crimson Pro Bold"/>
                <a:sym typeface="Crimson Pro Bold"/>
              </a:rPr>
              <a:t>Optimisation</a:t>
            </a:r>
            <a:endParaRPr lang="en-US" sz="4437" b="1" dirty="0">
              <a:solidFill>
                <a:srgbClr val="152D47"/>
              </a:solidFill>
              <a:latin typeface="Crimson Pro Bold"/>
              <a:ea typeface="Crimson Pro Bold"/>
              <a:cs typeface="Crimson Pro Bold"/>
              <a:sym typeface="Crimson Pro Bold"/>
            </a:endParaRPr>
          </a:p>
        </p:txBody>
      </p:sp>
      <p:sp>
        <p:nvSpPr>
          <p:cNvPr id="9" name="TextBox 9"/>
          <p:cNvSpPr txBox="1"/>
          <p:nvPr/>
        </p:nvSpPr>
        <p:spPr>
          <a:xfrm>
            <a:off x="7850236" y="2522352"/>
            <a:ext cx="6703963" cy="395493"/>
          </a:xfrm>
          <a:prstGeom prst="rect">
            <a:avLst/>
          </a:prstGeom>
        </p:spPr>
        <p:txBody>
          <a:bodyPr wrap="square" lIns="0" tIns="0" rIns="0" bIns="0" rtlCol="0" anchor="t">
            <a:spAutoFit/>
          </a:bodyPr>
          <a:lstStyle/>
          <a:p>
            <a:pPr algn="l">
              <a:lnSpc>
                <a:spcPts val="3312"/>
              </a:lnSpc>
            </a:pPr>
            <a:r>
              <a:rPr lang="en-US" sz="2625" b="1" dirty="0">
                <a:solidFill>
                  <a:srgbClr val="152D47"/>
                </a:solidFill>
                <a:latin typeface="Crimson Pro Bold"/>
                <a:ea typeface="Crimson Pro Bold"/>
                <a:cs typeface="Crimson Pro Bold"/>
                <a:sym typeface="Crimson Pro Bold"/>
              </a:rPr>
              <a:t>Intelligent Journey Planning</a:t>
            </a:r>
          </a:p>
        </p:txBody>
      </p:sp>
      <p:sp>
        <p:nvSpPr>
          <p:cNvPr id="10" name="TextBox 10"/>
          <p:cNvSpPr txBox="1"/>
          <p:nvPr/>
        </p:nvSpPr>
        <p:spPr>
          <a:xfrm>
            <a:off x="7850237" y="3500437"/>
            <a:ext cx="9445526" cy="1155204"/>
          </a:xfrm>
          <a:prstGeom prst="rect">
            <a:avLst/>
          </a:prstGeom>
        </p:spPr>
        <p:txBody>
          <a:bodyPr lIns="0" tIns="0" rIns="0" bIns="0" rtlCol="0" anchor="t">
            <a:spAutoFit/>
          </a:bodyPr>
          <a:lstStyle/>
          <a:p>
            <a:pPr algn="l">
              <a:lnSpc>
                <a:spcPts val="2812"/>
              </a:lnSpc>
            </a:pPr>
            <a:r>
              <a:rPr lang="en-US" sz="1750">
                <a:solidFill>
                  <a:srgbClr val="4C4C4D"/>
                </a:solidFill>
                <a:latin typeface="Heebo"/>
                <a:ea typeface="Heebo"/>
                <a:cs typeface="Heebo"/>
                <a:sym typeface="Heebo"/>
              </a:rPr>
              <a:t>Advanced AI-powered routing engine that dynamically suggests optimal paths considering real-time traffic conditions, energy consumption, and journey time. The system balances multiple variables to recommend the most efficient route.</a:t>
            </a:r>
          </a:p>
        </p:txBody>
      </p:sp>
      <p:grpSp>
        <p:nvGrpSpPr>
          <p:cNvPr id="11" name="Group 11"/>
          <p:cNvGrpSpPr>
            <a:grpSpLocks noChangeAspect="1"/>
          </p:cNvGrpSpPr>
          <p:nvPr/>
        </p:nvGrpSpPr>
        <p:grpSpPr>
          <a:xfrm>
            <a:off x="7850237" y="4910732"/>
            <a:ext cx="1134070" cy="1360885"/>
            <a:chOff x="0" y="0"/>
            <a:chExt cx="1512093" cy="1814513"/>
          </a:xfrm>
        </p:grpSpPr>
        <p:sp>
          <p:nvSpPr>
            <p:cNvPr id="12" name="Freeform 12" descr="preencoded.png"/>
            <p:cNvSpPr/>
            <p:nvPr/>
          </p:nvSpPr>
          <p:spPr>
            <a:xfrm>
              <a:off x="0" y="0"/>
              <a:ext cx="1512062" cy="1814576"/>
            </a:xfrm>
            <a:custGeom>
              <a:avLst/>
              <a:gdLst/>
              <a:ahLst/>
              <a:cxnLst/>
              <a:rect l="l" t="t" r="r" b="b"/>
              <a:pathLst>
                <a:path w="1512062" h="1814576">
                  <a:moveTo>
                    <a:pt x="0" y="0"/>
                  </a:moveTo>
                  <a:lnTo>
                    <a:pt x="1512062" y="0"/>
                  </a:lnTo>
                  <a:lnTo>
                    <a:pt x="1512062" y="1814576"/>
                  </a:lnTo>
                  <a:lnTo>
                    <a:pt x="0" y="1814576"/>
                  </a:lnTo>
                  <a:lnTo>
                    <a:pt x="0" y="0"/>
                  </a:lnTo>
                  <a:close/>
                </a:path>
              </a:pathLst>
            </a:custGeom>
            <a:blipFill>
              <a:blip r:embed="rId4"/>
              <a:stretch>
                <a:fillRect t="-69" r="-2" b="-66"/>
              </a:stretch>
            </a:blipFill>
          </p:spPr>
        </p:sp>
      </p:grpSp>
      <p:sp>
        <p:nvSpPr>
          <p:cNvPr id="13" name="TextBox 13"/>
          <p:cNvSpPr txBox="1"/>
          <p:nvPr/>
        </p:nvSpPr>
        <p:spPr>
          <a:xfrm>
            <a:off x="9211121" y="5108973"/>
            <a:ext cx="2835325" cy="382935"/>
          </a:xfrm>
          <a:prstGeom prst="rect">
            <a:avLst/>
          </a:prstGeom>
        </p:spPr>
        <p:txBody>
          <a:bodyPr lIns="0" tIns="0" rIns="0" bIns="0" rtlCol="0" anchor="t">
            <a:spAutoFit/>
          </a:bodyPr>
          <a:lstStyle/>
          <a:p>
            <a:pPr algn="l">
              <a:lnSpc>
                <a:spcPts val="2750"/>
              </a:lnSpc>
            </a:pPr>
            <a:r>
              <a:rPr lang="en-US" sz="2187" b="1">
                <a:solidFill>
                  <a:srgbClr val="4C4C4D"/>
                </a:solidFill>
                <a:latin typeface="Crimson Pro Bold"/>
                <a:ea typeface="Crimson Pro Bold"/>
                <a:cs typeface="Crimson Pro Bold"/>
                <a:sym typeface="Crimson Pro Bold"/>
              </a:rPr>
              <a:t>Map Integration</a:t>
            </a:r>
          </a:p>
        </p:txBody>
      </p:sp>
      <p:sp>
        <p:nvSpPr>
          <p:cNvPr id="14" name="TextBox 14"/>
          <p:cNvSpPr txBox="1"/>
          <p:nvPr/>
        </p:nvSpPr>
        <p:spPr>
          <a:xfrm>
            <a:off x="9211121" y="5561260"/>
            <a:ext cx="8084641" cy="429517"/>
          </a:xfrm>
          <a:prstGeom prst="rect">
            <a:avLst/>
          </a:prstGeom>
        </p:spPr>
        <p:txBody>
          <a:bodyPr lIns="0" tIns="0" rIns="0" bIns="0" rtlCol="0" anchor="t">
            <a:spAutoFit/>
          </a:bodyPr>
          <a:lstStyle/>
          <a:p>
            <a:pPr algn="l">
              <a:lnSpc>
                <a:spcPts val="2812"/>
              </a:lnSpc>
            </a:pPr>
            <a:r>
              <a:rPr lang="en-US" sz="1750">
                <a:solidFill>
                  <a:srgbClr val="4C4C4D"/>
                </a:solidFill>
                <a:latin typeface="Heebo"/>
                <a:ea typeface="Heebo"/>
                <a:cs typeface="Heebo"/>
                <a:sym typeface="Heebo"/>
              </a:rPr>
              <a:t>Google Maps API or OpenStreetMap connectivity for accurate geospatial data</a:t>
            </a:r>
          </a:p>
        </p:txBody>
      </p:sp>
      <p:grpSp>
        <p:nvGrpSpPr>
          <p:cNvPr id="15" name="Group 15"/>
          <p:cNvGrpSpPr>
            <a:grpSpLocks noChangeAspect="1"/>
          </p:cNvGrpSpPr>
          <p:nvPr/>
        </p:nvGrpSpPr>
        <p:grpSpPr>
          <a:xfrm>
            <a:off x="7850237" y="6271618"/>
            <a:ext cx="1134070" cy="1360885"/>
            <a:chOff x="0" y="0"/>
            <a:chExt cx="1512093" cy="1814513"/>
          </a:xfrm>
        </p:grpSpPr>
        <p:sp>
          <p:nvSpPr>
            <p:cNvPr id="16" name="Freeform 16" descr="preencoded.png"/>
            <p:cNvSpPr/>
            <p:nvPr/>
          </p:nvSpPr>
          <p:spPr>
            <a:xfrm>
              <a:off x="0" y="0"/>
              <a:ext cx="1512062" cy="1814576"/>
            </a:xfrm>
            <a:custGeom>
              <a:avLst/>
              <a:gdLst/>
              <a:ahLst/>
              <a:cxnLst/>
              <a:rect l="l" t="t" r="r" b="b"/>
              <a:pathLst>
                <a:path w="1512062" h="1814576">
                  <a:moveTo>
                    <a:pt x="0" y="0"/>
                  </a:moveTo>
                  <a:lnTo>
                    <a:pt x="1512062" y="0"/>
                  </a:lnTo>
                  <a:lnTo>
                    <a:pt x="1512062" y="1814576"/>
                  </a:lnTo>
                  <a:lnTo>
                    <a:pt x="0" y="1814576"/>
                  </a:lnTo>
                  <a:lnTo>
                    <a:pt x="0" y="0"/>
                  </a:lnTo>
                  <a:close/>
                </a:path>
              </a:pathLst>
            </a:custGeom>
            <a:blipFill>
              <a:blip r:embed="rId5"/>
              <a:stretch>
                <a:fillRect t="-69" r="-2" b="-66"/>
              </a:stretch>
            </a:blipFill>
          </p:spPr>
        </p:sp>
      </p:grpSp>
      <p:sp>
        <p:nvSpPr>
          <p:cNvPr id="17" name="TextBox 17"/>
          <p:cNvSpPr txBox="1"/>
          <p:nvPr/>
        </p:nvSpPr>
        <p:spPr>
          <a:xfrm>
            <a:off x="9211121" y="6469856"/>
            <a:ext cx="2835325" cy="382935"/>
          </a:xfrm>
          <a:prstGeom prst="rect">
            <a:avLst/>
          </a:prstGeom>
        </p:spPr>
        <p:txBody>
          <a:bodyPr lIns="0" tIns="0" rIns="0" bIns="0" rtlCol="0" anchor="t">
            <a:spAutoFit/>
          </a:bodyPr>
          <a:lstStyle/>
          <a:p>
            <a:pPr algn="l">
              <a:lnSpc>
                <a:spcPts val="2750"/>
              </a:lnSpc>
            </a:pPr>
            <a:r>
              <a:rPr lang="en-US" sz="2187" b="1">
                <a:solidFill>
                  <a:srgbClr val="4C4C4D"/>
                </a:solidFill>
                <a:latin typeface="Crimson Pro Bold"/>
                <a:ea typeface="Crimson Pro Bold"/>
                <a:cs typeface="Crimson Pro Bold"/>
                <a:sym typeface="Crimson Pro Bold"/>
              </a:rPr>
              <a:t>AI Algorithm</a:t>
            </a:r>
          </a:p>
        </p:txBody>
      </p:sp>
      <p:sp>
        <p:nvSpPr>
          <p:cNvPr id="18" name="TextBox 18"/>
          <p:cNvSpPr txBox="1"/>
          <p:nvPr/>
        </p:nvSpPr>
        <p:spPr>
          <a:xfrm>
            <a:off x="9211121" y="6922145"/>
            <a:ext cx="8084641" cy="429517"/>
          </a:xfrm>
          <a:prstGeom prst="rect">
            <a:avLst/>
          </a:prstGeom>
        </p:spPr>
        <p:txBody>
          <a:bodyPr lIns="0" tIns="0" rIns="0" bIns="0" rtlCol="0" anchor="t">
            <a:spAutoFit/>
          </a:bodyPr>
          <a:lstStyle/>
          <a:p>
            <a:pPr algn="l">
              <a:lnSpc>
                <a:spcPts val="2812"/>
              </a:lnSpc>
            </a:pPr>
            <a:r>
              <a:rPr lang="en-US" sz="1750">
                <a:solidFill>
                  <a:srgbClr val="4C4C4D"/>
                </a:solidFill>
                <a:latin typeface="Heebo"/>
                <a:ea typeface="Heebo"/>
                <a:cs typeface="Heebo"/>
                <a:sym typeface="Heebo"/>
              </a:rPr>
              <a:t>Machine learning-based ETA prediction with traffic pattern analysis</a:t>
            </a:r>
          </a:p>
        </p:txBody>
      </p:sp>
      <p:grpSp>
        <p:nvGrpSpPr>
          <p:cNvPr id="19" name="Group 19"/>
          <p:cNvGrpSpPr>
            <a:grpSpLocks noChangeAspect="1"/>
          </p:cNvGrpSpPr>
          <p:nvPr/>
        </p:nvGrpSpPr>
        <p:grpSpPr>
          <a:xfrm>
            <a:off x="7850237" y="7632501"/>
            <a:ext cx="1134070" cy="1360885"/>
            <a:chOff x="0" y="0"/>
            <a:chExt cx="1512093" cy="1814513"/>
          </a:xfrm>
        </p:grpSpPr>
        <p:sp>
          <p:nvSpPr>
            <p:cNvPr id="20" name="Freeform 20" descr="preencoded.png"/>
            <p:cNvSpPr/>
            <p:nvPr/>
          </p:nvSpPr>
          <p:spPr>
            <a:xfrm>
              <a:off x="0" y="0"/>
              <a:ext cx="1512062" cy="1814576"/>
            </a:xfrm>
            <a:custGeom>
              <a:avLst/>
              <a:gdLst/>
              <a:ahLst/>
              <a:cxnLst/>
              <a:rect l="l" t="t" r="r" b="b"/>
              <a:pathLst>
                <a:path w="1512062" h="1814576">
                  <a:moveTo>
                    <a:pt x="0" y="0"/>
                  </a:moveTo>
                  <a:lnTo>
                    <a:pt x="1512062" y="0"/>
                  </a:lnTo>
                  <a:lnTo>
                    <a:pt x="1512062" y="1814576"/>
                  </a:lnTo>
                  <a:lnTo>
                    <a:pt x="0" y="1814576"/>
                  </a:lnTo>
                  <a:lnTo>
                    <a:pt x="0" y="0"/>
                  </a:lnTo>
                  <a:close/>
                </a:path>
              </a:pathLst>
            </a:custGeom>
            <a:blipFill>
              <a:blip r:embed="rId6"/>
              <a:stretch>
                <a:fillRect t="-69" r="-2" b="-66"/>
              </a:stretch>
            </a:blipFill>
          </p:spPr>
        </p:sp>
      </p:grpSp>
      <p:sp>
        <p:nvSpPr>
          <p:cNvPr id="21" name="TextBox 21"/>
          <p:cNvSpPr txBox="1"/>
          <p:nvPr/>
        </p:nvSpPr>
        <p:spPr>
          <a:xfrm>
            <a:off x="9211121" y="7830741"/>
            <a:ext cx="2835325" cy="382935"/>
          </a:xfrm>
          <a:prstGeom prst="rect">
            <a:avLst/>
          </a:prstGeom>
        </p:spPr>
        <p:txBody>
          <a:bodyPr lIns="0" tIns="0" rIns="0" bIns="0" rtlCol="0" anchor="t">
            <a:spAutoFit/>
          </a:bodyPr>
          <a:lstStyle/>
          <a:p>
            <a:pPr algn="l">
              <a:lnSpc>
                <a:spcPts val="2750"/>
              </a:lnSpc>
            </a:pPr>
            <a:r>
              <a:rPr lang="en-US" sz="2187" b="1">
                <a:solidFill>
                  <a:srgbClr val="4C4C4D"/>
                </a:solidFill>
                <a:latin typeface="Crimson Pro Bold"/>
                <a:ea typeface="Crimson Pro Bold"/>
                <a:cs typeface="Crimson Pro Bold"/>
                <a:sym typeface="Crimson Pro Bold"/>
              </a:rPr>
              <a:t>Route Visualisation</a:t>
            </a:r>
          </a:p>
        </p:txBody>
      </p:sp>
      <p:sp>
        <p:nvSpPr>
          <p:cNvPr id="22" name="TextBox 22"/>
          <p:cNvSpPr txBox="1"/>
          <p:nvPr/>
        </p:nvSpPr>
        <p:spPr>
          <a:xfrm>
            <a:off x="9211121" y="8283029"/>
            <a:ext cx="8084641" cy="429517"/>
          </a:xfrm>
          <a:prstGeom prst="rect">
            <a:avLst/>
          </a:prstGeom>
        </p:spPr>
        <p:txBody>
          <a:bodyPr lIns="0" tIns="0" rIns="0" bIns="0" rtlCol="0" anchor="t">
            <a:spAutoFit/>
          </a:bodyPr>
          <a:lstStyle/>
          <a:p>
            <a:pPr algn="l">
              <a:lnSpc>
                <a:spcPts val="2812"/>
              </a:lnSpc>
            </a:pPr>
            <a:r>
              <a:rPr lang="en-US" sz="1750">
                <a:solidFill>
                  <a:srgbClr val="4C4C4D"/>
                </a:solidFill>
                <a:latin typeface="Heebo"/>
                <a:ea typeface="Heebo"/>
                <a:cs typeface="Heebo"/>
                <a:sym typeface="Heebo"/>
              </a:rPr>
              <a:t>Interactive polyline routes with colour-coded traffic zones and waypoints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0F0F1"/>
            </a:solidFill>
            <a:ln w="12700">
              <a:solidFill>
                <a:srgbClr val="000000"/>
              </a:solidFill>
            </a:ln>
          </p:spPr>
        </p:sp>
      </p:grpSp>
      <p:grpSp>
        <p:nvGrpSpPr>
          <p:cNvPr id="4" name="Group 4"/>
          <p:cNvGrpSpPr/>
          <p:nvPr/>
        </p:nvGrpSpPr>
        <p:grpSpPr>
          <a:xfrm>
            <a:off x="0" y="3810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a:ln w="12700">
              <a:solidFill>
                <a:srgbClr val="000000"/>
              </a:solidFill>
            </a:ln>
          </p:spPr>
        </p:sp>
      </p:grpSp>
      <p:sp>
        <p:nvSpPr>
          <p:cNvPr id="6" name="TextBox 6"/>
          <p:cNvSpPr txBox="1"/>
          <p:nvPr/>
        </p:nvSpPr>
        <p:spPr>
          <a:xfrm>
            <a:off x="992238" y="770781"/>
            <a:ext cx="12647562" cy="622863"/>
          </a:xfrm>
          <a:prstGeom prst="rect">
            <a:avLst/>
          </a:prstGeom>
        </p:spPr>
        <p:txBody>
          <a:bodyPr wrap="square" lIns="0" tIns="0" rIns="0" bIns="0" rtlCol="0" anchor="t">
            <a:spAutoFit/>
          </a:bodyPr>
          <a:lstStyle/>
          <a:p>
            <a:pPr algn="l">
              <a:lnSpc>
                <a:spcPts val="5187"/>
              </a:lnSpc>
            </a:pPr>
            <a:r>
              <a:rPr lang="en-US" sz="4124" b="1" dirty="0">
                <a:solidFill>
                  <a:srgbClr val="152D47"/>
                </a:solidFill>
                <a:latin typeface="Crimson Pro Bold"/>
                <a:ea typeface="Crimson Pro Bold"/>
                <a:cs typeface="Crimson Pro Bold"/>
                <a:sym typeface="Crimson Pro Bold"/>
              </a:rPr>
              <a:t>Module 4: Predictive Maintenance &amp; Health Analytics</a:t>
            </a:r>
          </a:p>
        </p:txBody>
      </p:sp>
      <p:sp>
        <p:nvSpPr>
          <p:cNvPr id="7" name="TextBox 7"/>
          <p:cNvSpPr txBox="1"/>
          <p:nvPr/>
        </p:nvSpPr>
        <p:spPr>
          <a:xfrm>
            <a:off x="2312938" y="3337918"/>
            <a:ext cx="2615505" cy="474464"/>
          </a:xfrm>
          <a:prstGeom prst="rect">
            <a:avLst/>
          </a:prstGeom>
        </p:spPr>
        <p:txBody>
          <a:bodyPr lIns="0" tIns="0" rIns="0" bIns="0" rtlCol="0" anchor="t">
            <a:spAutoFit/>
          </a:bodyPr>
          <a:lstStyle/>
          <a:p>
            <a:pPr algn="ctr">
              <a:lnSpc>
                <a:spcPts val="4124"/>
              </a:lnSpc>
            </a:pPr>
            <a:r>
              <a:rPr lang="en-US" sz="4124" b="1">
                <a:solidFill>
                  <a:srgbClr val="4C4C4D"/>
                </a:solidFill>
                <a:latin typeface="Crimson Pro Bold"/>
                <a:ea typeface="Crimson Pro Bold"/>
                <a:cs typeface="Crimson Pro Bold"/>
                <a:sym typeface="Crimson Pro Bold"/>
              </a:rPr>
              <a:t>85%</a:t>
            </a:r>
          </a:p>
        </p:txBody>
      </p:sp>
      <p:grpSp>
        <p:nvGrpSpPr>
          <p:cNvPr id="8" name="Group 8"/>
          <p:cNvGrpSpPr>
            <a:grpSpLocks noChangeAspect="1"/>
          </p:cNvGrpSpPr>
          <p:nvPr/>
        </p:nvGrpSpPr>
        <p:grpSpPr>
          <a:xfrm>
            <a:off x="2025997" y="1951732"/>
            <a:ext cx="3189685" cy="3189685"/>
            <a:chOff x="0" y="0"/>
            <a:chExt cx="4252913" cy="4252913"/>
          </a:xfrm>
        </p:grpSpPr>
        <p:sp>
          <p:nvSpPr>
            <p:cNvPr id="9" name="Freeform 9" descr="preencoded.png"/>
            <p:cNvSpPr/>
            <p:nvPr/>
          </p:nvSpPr>
          <p:spPr>
            <a:xfrm>
              <a:off x="0" y="0"/>
              <a:ext cx="4252976" cy="4252976"/>
            </a:xfrm>
            <a:custGeom>
              <a:avLst/>
              <a:gdLst/>
              <a:ahLst/>
              <a:cxnLst/>
              <a:rect l="l" t="t" r="r" b="b"/>
              <a:pathLst>
                <a:path w="4252976" h="4252976">
                  <a:moveTo>
                    <a:pt x="0" y="0"/>
                  </a:moveTo>
                  <a:lnTo>
                    <a:pt x="4252976" y="0"/>
                  </a:lnTo>
                  <a:lnTo>
                    <a:pt x="4252976" y="4252976"/>
                  </a:lnTo>
                  <a:lnTo>
                    <a:pt x="0" y="4252976"/>
                  </a:lnTo>
                  <a:lnTo>
                    <a:pt x="0" y="0"/>
                  </a:lnTo>
                  <a:close/>
                </a:path>
              </a:pathLst>
            </a:custGeom>
            <a:blipFill>
              <a:blip r:embed="rId3"/>
              <a:stretch>
                <a:fillRect r="1" b="1"/>
              </a:stretch>
            </a:blipFill>
          </p:spPr>
        </p:sp>
      </p:grpSp>
      <p:sp>
        <p:nvSpPr>
          <p:cNvPr id="10" name="TextBox 10"/>
          <p:cNvSpPr txBox="1"/>
          <p:nvPr/>
        </p:nvSpPr>
        <p:spPr>
          <a:xfrm>
            <a:off x="992238" y="5340400"/>
            <a:ext cx="5257205" cy="747117"/>
          </a:xfrm>
          <a:prstGeom prst="rect">
            <a:avLst/>
          </a:prstGeom>
        </p:spPr>
        <p:txBody>
          <a:bodyPr lIns="0" tIns="0" rIns="0" bIns="0" rtlCol="0" anchor="t">
            <a:spAutoFit/>
          </a:bodyPr>
          <a:lstStyle/>
          <a:p>
            <a:pPr algn="ctr">
              <a:lnSpc>
                <a:spcPts val="2625"/>
              </a:lnSpc>
            </a:pPr>
            <a:r>
              <a:rPr lang="en-US" sz="1625">
                <a:solidFill>
                  <a:srgbClr val="4C4C4D"/>
                </a:solidFill>
                <a:latin typeface="Heebo"/>
                <a:ea typeface="Heebo"/>
                <a:cs typeface="Heebo"/>
                <a:sym typeface="Heebo"/>
              </a:rPr>
              <a:t>Reduction in unexpected breakdowns through predictive alerts</a:t>
            </a:r>
          </a:p>
        </p:txBody>
      </p:sp>
      <p:sp>
        <p:nvSpPr>
          <p:cNvPr id="11" name="TextBox 11"/>
          <p:cNvSpPr txBox="1"/>
          <p:nvPr/>
        </p:nvSpPr>
        <p:spPr>
          <a:xfrm>
            <a:off x="7835950" y="3337918"/>
            <a:ext cx="2615505" cy="474464"/>
          </a:xfrm>
          <a:prstGeom prst="rect">
            <a:avLst/>
          </a:prstGeom>
        </p:spPr>
        <p:txBody>
          <a:bodyPr lIns="0" tIns="0" rIns="0" bIns="0" rtlCol="0" anchor="t">
            <a:spAutoFit/>
          </a:bodyPr>
          <a:lstStyle/>
          <a:p>
            <a:pPr algn="ctr">
              <a:lnSpc>
                <a:spcPts val="4124"/>
              </a:lnSpc>
            </a:pPr>
            <a:r>
              <a:rPr lang="en-US" sz="4124" b="1">
                <a:solidFill>
                  <a:srgbClr val="4C4C4D"/>
                </a:solidFill>
                <a:latin typeface="Crimson Pro Bold"/>
                <a:ea typeface="Crimson Pro Bold"/>
                <a:cs typeface="Crimson Pro Bold"/>
                <a:sym typeface="Crimson Pro Bold"/>
              </a:rPr>
              <a:t>60%</a:t>
            </a:r>
          </a:p>
        </p:txBody>
      </p:sp>
      <p:grpSp>
        <p:nvGrpSpPr>
          <p:cNvPr id="12" name="Group 12"/>
          <p:cNvGrpSpPr>
            <a:grpSpLocks noChangeAspect="1"/>
          </p:cNvGrpSpPr>
          <p:nvPr/>
        </p:nvGrpSpPr>
        <p:grpSpPr>
          <a:xfrm>
            <a:off x="7549009" y="1951732"/>
            <a:ext cx="3189685" cy="3189685"/>
            <a:chOff x="0" y="0"/>
            <a:chExt cx="4252913" cy="4252913"/>
          </a:xfrm>
        </p:grpSpPr>
        <p:sp>
          <p:nvSpPr>
            <p:cNvPr id="13" name="Freeform 13" descr="preencoded.png"/>
            <p:cNvSpPr/>
            <p:nvPr/>
          </p:nvSpPr>
          <p:spPr>
            <a:xfrm>
              <a:off x="0" y="0"/>
              <a:ext cx="4252976" cy="4252976"/>
            </a:xfrm>
            <a:custGeom>
              <a:avLst/>
              <a:gdLst/>
              <a:ahLst/>
              <a:cxnLst/>
              <a:rect l="l" t="t" r="r" b="b"/>
              <a:pathLst>
                <a:path w="4252976" h="4252976">
                  <a:moveTo>
                    <a:pt x="0" y="0"/>
                  </a:moveTo>
                  <a:lnTo>
                    <a:pt x="4252976" y="0"/>
                  </a:lnTo>
                  <a:lnTo>
                    <a:pt x="4252976" y="4252976"/>
                  </a:lnTo>
                  <a:lnTo>
                    <a:pt x="0" y="4252976"/>
                  </a:lnTo>
                  <a:lnTo>
                    <a:pt x="0" y="0"/>
                  </a:lnTo>
                  <a:close/>
                </a:path>
              </a:pathLst>
            </a:custGeom>
            <a:blipFill>
              <a:blip r:embed="rId4"/>
              <a:stretch>
                <a:fillRect r="1" b="1"/>
              </a:stretch>
            </a:blipFill>
          </p:spPr>
        </p:sp>
      </p:grpSp>
      <p:sp>
        <p:nvSpPr>
          <p:cNvPr id="14" name="TextBox 14"/>
          <p:cNvSpPr txBox="1"/>
          <p:nvPr/>
        </p:nvSpPr>
        <p:spPr>
          <a:xfrm>
            <a:off x="6515249" y="5340400"/>
            <a:ext cx="5257354" cy="747117"/>
          </a:xfrm>
          <a:prstGeom prst="rect">
            <a:avLst/>
          </a:prstGeom>
        </p:spPr>
        <p:txBody>
          <a:bodyPr lIns="0" tIns="0" rIns="0" bIns="0" rtlCol="0" anchor="t">
            <a:spAutoFit/>
          </a:bodyPr>
          <a:lstStyle/>
          <a:p>
            <a:pPr algn="ctr">
              <a:lnSpc>
                <a:spcPts val="2625"/>
              </a:lnSpc>
            </a:pPr>
            <a:r>
              <a:rPr lang="en-US" sz="1625">
                <a:solidFill>
                  <a:srgbClr val="4C4C4D"/>
                </a:solidFill>
                <a:latin typeface="Heebo"/>
                <a:ea typeface="Heebo"/>
                <a:cs typeface="Heebo"/>
                <a:sym typeface="Heebo"/>
              </a:rPr>
              <a:t>Decrease in maintenance costs via optimised scheduling</a:t>
            </a:r>
          </a:p>
        </p:txBody>
      </p:sp>
      <p:sp>
        <p:nvSpPr>
          <p:cNvPr id="15" name="TextBox 15"/>
          <p:cNvSpPr txBox="1"/>
          <p:nvPr/>
        </p:nvSpPr>
        <p:spPr>
          <a:xfrm>
            <a:off x="13359110" y="3337918"/>
            <a:ext cx="2615505" cy="474464"/>
          </a:xfrm>
          <a:prstGeom prst="rect">
            <a:avLst/>
          </a:prstGeom>
        </p:spPr>
        <p:txBody>
          <a:bodyPr lIns="0" tIns="0" rIns="0" bIns="0" rtlCol="0" anchor="t">
            <a:spAutoFit/>
          </a:bodyPr>
          <a:lstStyle/>
          <a:p>
            <a:pPr algn="ctr">
              <a:lnSpc>
                <a:spcPts val="4124"/>
              </a:lnSpc>
            </a:pPr>
            <a:r>
              <a:rPr lang="en-US" sz="4124" b="1">
                <a:solidFill>
                  <a:srgbClr val="4C4C4D"/>
                </a:solidFill>
                <a:latin typeface="Crimson Pro Bold"/>
                <a:ea typeface="Crimson Pro Bold"/>
                <a:cs typeface="Crimson Pro Bold"/>
                <a:sym typeface="Crimson Pro Bold"/>
              </a:rPr>
              <a:t>95%</a:t>
            </a:r>
          </a:p>
        </p:txBody>
      </p:sp>
      <p:grpSp>
        <p:nvGrpSpPr>
          <p:cNvPr id="16" name="Group 16"/>
          <p:cNvGrpSpPr>
            <a:grpSpLocks noChangeAspect="1"/>
          </p:cNvGrpSpPr>
          <p:nvPr/>
        </p:nvGrpSpPr>
        <p:grpSpPr>
          <a:xfrm>
            <a:off x="13072170" y="1951732"/>
            <a:ext cx="3189685" cy="3189685"/>
            <a:chOff x="0" y="0"/>
            <a:chExt cx="4252913" cy="4252913"/>
          </a:xfrm>
        </p:grpSpPr>
        <p:sp>
          <p:nvSpPr>
            <p:cNvPr id="17" name="Freeform 17" descr="preencoded.png"/>
            <p:cNvSpPr/>
            <p:nvPr/>
          </p:nvSpPr>
          <p:spPr>
            <a:xfrm>
              <a:off x="0" y="0"/>
              <a:ext cx="4252976" cy="4252976"/>
            </a:xfrm>
            <a:custGeom>
              <a:avLst/>
              <a:gdLst/>
              <a:ahLst/>
              <a:cxnLst/>
              <a:rect l="l" t="t" r="r" b="b"/>
              <a:pathLst>
                <a:path w="4252976" h="4252976">
                  <a:moveTo>
                    <a:pt x="0" y="0"/>
                  </a:moveTo>
                  <a:lnTo>
                    <a:pt x="4252976" y="0"/>
                  </a:lnTo>
                  <a:lnTo>
                    <a:pt x="4252976" y="4252976"/>
                  </a:lnTo>
                  <a:lnTo>
                    <a:pt x="0" y="4252976"/>
                  </a:lnTo>
                  <a:lnTo>
                    <a:pt x="0" y="0"/>
                  </a:lnTo>
                  <a:close/>
                </a:path>
              </a:pathLst>
            </a:custGeom>
            <a:blipFill>
              <a:blip r:embed="rId5"/>
              <a:stretch>
                <a:fillRect r="1" b="1"/>
              </a:stretch>
            </a:blipFill>
          </p:spPr>
        </p:sp>
      </p:grpSp>
      <p:sp>
        <p:nvSpPr>
          <p:cNvPr id="18" name="TextBox 18"/>
          <p:cNvSpPr txBox="1"/>
          <p:nvPr/>
        </p:nvSpPr>
        <p:spPr>
          <a:xfrm>
            <a:off x="12038410" y="5340400"/>
            <a:ext cx="5257354" cy="747117"/>
          </a:xfrm>
          <a:prstGeom prst="rect">
            <a:avLst/>
          </a:prstGeom>
        </p:spPr>
        <p:txBody>
          <a:bodyPr lIns="0" tIns="0" rIns="0" bIns="0" rtlCol="0" anchor="t">
            <a:spAutoFit/>
          </a:bodyPr>
          <a:lstStyle/>
          <a:p>
            <a:pPr algn="ctr">
              <a:lnSpc>
                <a:spcPts val="2625"/>
              </a:lnSpc>
            </a:pPr>
            <a:r>
              <a:rPr lang="en-US" sz="1625">
                <a:solidFill>
                  <a:srgbClr val="4C4C4D"/>
                </a:solidFill>
                <a:latin typeface="Heebo"/>
                <a:ea typeface="Heebo"/>
                <a:cs typeface="Heebo"/>
                <a:sym typeface="Heebo"/>
              </a:rPr>
              <a:t>Fleet health monitoring accuracy with AI-driven diagnostics</a:t>
            </a:r>
          </a:p>
        </p:txBody>
      </p:sp>
      <p:sp>
        <p:nvSpPr>
          <p:cNvPr id="19" name="TextBox 19"/>
          <p:cNvSpPr txBox="1"/>
          <p:nvPr/>
        </p:nvSpPr>
        <p:spPr>
          <a:xfrm>
            <a:off x="992238" y="6260009"/>
            <a:ext cx="16303526" cy="747117"/>
          </a:xfrm>
          <a:prstGeom prst="rect">
            <a:avLst/>
          </a:prstGeom>
        </p:spPr>
        <p:txBody>
          <a:bodyPr lIns="0" tIns="0" rIns="0" bIns="0" rtlCol="0" anchor="t">
            <a:spAutoFit/>
          </a:bodyPr>
          <a:lstStyle/>
          <a:p>
            <a:pPr algn="l">
              <a:lnSpc>
                <a:spcPts val="2625"/>
              </a:lnSpc>
            </a:pPr>
            <a:r>
              <a:rPr lang="en-US" sz="1625">
                <a:solidFill>
                  <a:srgbClr val="4C4C4D"/>
                </a:solidFill>
                <a:latin typeface="Heebo"/>
                <a:ea typeface="Heebo"/>
                <a:cs typeface="Heebo"/>
                <a:sym typeface="Heebo"/>
              </a:rPr>
              <a:t>Proactive vehicle health monitoring system that tracks engine performance, tyre condition, fuel efficiency, battery health, and mileage. Advanced algorithms predict maintenance requirements and alert fleet managers before issues become critical, minimising downtime and extending vehicle lifespan.</a:t>
            </a:r>
          </a:p>
        </p:txBody>
      </p:sp>
      <p:grpSp>
        <p:nvGrpSpPr>
          <p:cNvPr id="20" name="Group 20"/>
          <p:cNvGrpSpPr/>
          <p:nvPr/>
        </p:nvGrpSpPr>
        <p:grpSpPr>
          <a:xfrm>
            <a:off x="992238" y="7565231"/>
            <a:ext cx="5292775" cy="1912887"/>
            <a:chOff x="0" y="0"/>
            <a:chExt cx="7057033" cy="2550517"/>
          </a:xfrm>
        </p:grpSpPr>
        <p:sp>
          <p:nvSpPr>
            <p:cNvPr id="21" name="Freeform 21"/>
            <p:cNvSpPr/>
            <p:nvPr/>
          </p:nvSpPr>
          <p:spPr>
            <a:xfrm>
              <a:off x="0" y="0"/>
              <a:ext cx="7057010" cy="2550541"/>
            </a:xfrm>
            <a:custGeom>
              <a:avLst/>
              <a:gdLst/>
              <a:ahLst/>
              <a:cxnLst/>
              <a:rect l="l" t="t" r="r" b="b"/>
              <a:pathLst>
                <a:path w="7057010" h="2550541">
                  <a:moveTo>
                    <a:pt x="0" y="182880"/>
                  </a:moveTo>
                  <a:cubicBezTo>
                    <a:pt x="0" y="81915"/>
                    <a:pt x="81915" y="0"/>
                    <a:pt x="182880" y="0"/>
                  </a:cubicBezTo>
                  <a:lnTo>
                    <a:pt x="6874129" y="0"/>
                  </a:lnTo>
                  <a:cubicBezTo>
                    <a:pt x="6975094" y="0"/>
                    <a:pt x="7057010" y="81915"/>
                    <a:pt x="7057010" y="182880"/>
                  </a:cubicBezTo>
                  <a:lnTo>
                    <a:pt x="7057010" y="2367661"/>
                  </a:lnTo>
                  <a:cubicBezTo>
                    <a:pt x="7057010" y="2468626"/>
                    <a:pt x="6975094" y="2550541"/>
                    <a:pt x="6874129" y="2550541"/>
                  </a:cubicBezTo>
                  <a:lnTo>
                    <a:pt x="182880" y="2550541"/>
                  </a:lnTo>
                  <a:cubicBezTo>
                    <a:pt x="81915" y="2550541"/>
                    <a:pt x="0" y="2468626"/>
                    <a:pt x="0" y="2367661"/>
                  </a:cubicBezTo>
                  <a:close/>
                </a:path>
              </a:pathLst>
            </a:custGeom>
            <a:solidFill>
              <a:srgbClr val="FFFFFF"/>
            </a:solidFill>
            <a:ln w="12700">
              <a:solidFill>
                <a:srgbClr val="000000"/>
              </a:solidFill>
            </a:ln>
          </p:spPr>
        </p:sp>
      </p:grpSp>
      <p:grpSp>
        <p:nvGrpSpPr>
          <p:cNvPr id="22" name="Group 22"/>
          <p:cNvGrpSpPr/>
          <p:nvPr/>
        </p:nvGrpSpPr>
        <p:grpSpPr>
          <a:xfrm>
            <a:off x="992238" y="7536656"/>
            <a:ext cx="5292775" cy="114300"/>
            <a:chOff x="0" y="0"/>
            <a:chExt cx="7057033" cy="152400"/>
          </a:xfrm>
        </p:grpSpPr>
        <p:sp>
          <p:nvSpPr>
            <p:cNvPr id="23" name="Freeform 23"/>
            <p:cNvSpPr/>
            <p:nvPr/>
          </p:nvSpPr>
          <p:spPr>
            <a:xfrm>
              <a:off x="0" y="0"/>
              <a:ext cx="7057009" cy="152400"/>
            </a:xfrm>
            <a:custGeom>
              <a:avLst/>
              <a:gdLst/>
              <a:ahLst/>
              <a:cxnLst/>
              <a:rect l="l" t="t" r="r" b="b"/>
              <a:pathLst>
                <a:path w="7057009" h="152400">
                  <a:moveTo>
                    <a:pt x="0" y="42545"/>
                  </a:moveTo>
                  <a:cubicBezTo>
                    <a:pt x="0" y="19050"/>
                    <a:pt x="19050" y="0"/>
                    <a:pt x="42545" y="0"/>
                  </a:cubicBezTo>
                  <a:lnTo>
                    <a:pt x="7014464" y="0"/>
                  </a:lnTo>
                  <a:cubicBezTo>
                    <a:pt x="7037959" y="0"/>
                    <a:pt x="7057009" y="19050"/>
                    <a:pt x="7057009" y="42545"/>
                  </a:cubicBezTo>
                  <a:lnTo>
                    <a:pt x="7057009" y="109855"/>
                  </a:lnTo>
                  <a:cubicBezTo>
                    <a:pt x="7057009" y="133350"/>
                    <a:pt x="7037959" y="152400"/>
                    <a:pt x="7014464" y="152400"/>
                  </a:cubicBezTo>
                  <a:lnTo>
                    <a:pt x="42545" y="152400"/>
                  </a:lnTo>
                  <a:cubicBezTo>
                    <a:pt x="19050" y="152400"/>
                    <a:pt x="0" y="133350"/>
                    <a:pt x="0" y="109855"/>
                  </a:cubicBezTo>
                  <a:close/>
                </a:path>
              </a:pathLst>
            </a:custGeom>
            <a:solidFill>
              <a:srgbClr val="2150FE"/>
            </a:solidFill>
            <a:ln w="12700">
              <a:solidFill>
                <a:srgbClr val="000000"/>
              </a:solidFill>
            </a:ln>
          </p:spPr>
        </p:sp>
      </p:grpSp>
      <p:grpSp>
        <p:nvGrpSpPr>
          <p:cNvPr id="24" name="Group 24"/>
          <p:cNvGrpSpPr/>
          <p:nvPr/>
        </p:nvGrpSpPr>
        <p:grpSpPr>
          <a:xfrm>
            <a:off x="3319611" y="7246292"/>
            <a:ext cx="637878" cy="637878"/>
            <a:chOff x="0" y="0"/>
            <a:chExt cx="850503" cy="850503"/>
          </a:xfrm>
        </p:grpSpPr>
        <p:sp>
          <p:nvSpPr>
            <p:cNvPr id="25" name="Freeform 25"/>
            <p:cNvSpPr/>
            <p:nvPr/>
          </p:nvSpPr>
          <p:spPr>
            <a:xfrm>
              <a:off x="0" y="0"/>
              <a:ext cx="850519" cy="850519"/>
            </a:xfrm>
            <a:custGeom>
              <a:avLst/>
              <a:gdLst/>
              <a:ahLst/>
              <a:cxnLst/>
              <a:rect l="l" t="t" r="r" b="b"/>
              <a:pathLst>
                <a:path w="850519" h="850519">
                  <a:moveTo>
                    <a:pt x="0" y="425196"/>
                  </a:moveTo>
                  <a:cubicBezTo>
                    <a:pt x="0" y="190373"/>
                    <a:pt x="190373" y="0"/>
                    <a:pt x="425196" y="0"/>
                  </a:cubicBezTo>
                  <a:cubicBezTo>
                    <a:pt x="660019" y="0"/>
                    <a:pt x="850519" y="190373"/>
                    <a:pt x="850519" y="425196"/>
                  </a:cubicBezTo>
                  <a:cubicBezTo>
                    <a:pt x="850519" y="660019"/>
                    <a:pt x="660146" y="850519"/>
                    <a:pt x="425196" y="850519"/>
                  </a:cubicBezTo>
                  <a:cubicBezTo>
                    <a:pt x="190246" y="850519"/>
                    <a:pt x="0" y="660146"/>
                    <a:pt x="0" y="425196"/>
                  </a:cubicBezTo>
                  <a:close/>
                </a:path>
              </a:pathLst>
            </a:custGeom>
            <a:solidFill>
              <a:srgbClr val="2150FE"/>
            </a:solidFill>
            <a:ln w="12700">
              <a:solidFill>
                <a:srgbClr val="000000"/>
              </a:solidFill>
            </a:ln>
          </p:spPr>
        </p:sp>
      </p:grpSp>
      <p:sp>
        <p:nvSpPr>
          <p:cNvPr id="26" name="TextBox 26"/>
          <p:cNvSpPr txBox="1"/>
          <p:nvPr/>
        </p:nvSpPr>
        <p:spPr>
          <a:xfrm>
            <a:off x="3511004" y="7319962"/>
            <a:ext cx="255091" cy="404664"/>
          </a:xfrm>
          <a:prstGeom prst="rect">
            <a:avLst/>
          </a:prstGeom>
        </p:spPr>
        <p:txBody>
          <a:bodyPr lIns="0" tIns="0" rIns="0" bIns="0" rtlCol="0" anchor="t">
            <a:spAutoFit/>
          </a:bodyPr>
          <a:lstStyle/>
          <a:p>
            <a:pPr algn="l">
              <a:lnSpc>
                <a:spcPts val="3187"/>
              </a:lnSpc>
            </a:pPr>
            <a:r>
              <a:rPr lang="en-US" sz="2000" b="1">
                <a:solidFill>
                  <a:srgbClr val="FFFFFF"/>
                </a:solidFill>
                <a:latin typeface="Crimson Pro Bold"/>
                <a:ea typeface="Crimson Pro Bold"/>
                <a:cs typeface="Crimson Pro Bold"/>
                <a:sym typeface="Crimson Pro Bold"/>
              </a:rPr>
              <a:t>1</a:t>
            </a:r>
          </a:p>
        </p:txBody>
      </p:sp>
      <p:sp>
        <p:nvSpPr>
          <p:cNvPr id="27" name="TextBox 27"/>
          <p:cNvSpPr txBox="1"/>
          <p:nvPr/>
        </p:nvSpPr>
        <p:spPr>
          <a:xfrm>
            <a:off x="1233339" y="8077795"/>
            <a:ext cx="2658070" cy="351234"/>
          </a:xfrm>
          <a:prstGeom prst="rect">
            <a:avLst/>
          </a:prstGeom>
        </p:spPr>
        <p:txBody>
          <a:bodyPr lIns="0" tIns="0" rIns="0" bIns="0" rtlCol="0" anchor="t">
            <a:spAutoFit/>
          </a:bodyPr>
          <a:lstStyle/>
          <a:p>
            <a:pPr algn="l">
              <a:lnSpc>
                <a:spcPts val="2562"/>
              </a:lnSpc>
            </a:pPr>
            <a:r>
              <a:rPr lang="en-US" sz="2062" b="1">
                <a:solidFill>
                  <a:srgbClr val="4C4C4D"/>
                </a:solidFill>
                <a:latin typeface="Crimson Pro Bold"/>
                <a:ea typeface="Crimson Pro Bold"/>
                <a:cs typeface="Crimson Pro Bold"/>
                <a:sym typeface="Crimson Pro Bold"/>
              </a:rPr>
              <a:t>Simulate Parameters</a:t>
            </a:r>
          </a:p>
        </p:txBody>
      </p:sp>
      <p:sp>
        <p:nvSpPr>
          <p:cNvPr id="28" name="TextBox 28"/>
          <p:cNvSpPr txBox="1"/>
          <p:nvPr/>
        </p:nvSpPr>
        <p:spPr>
          <a:xfrm>
            <a:off x="1233339" y="8489900"/>
            <a:ext cx="4810571" cy="747117"/>
          </a:xfrm>
          <a:prstGeom prst="rect">
            <a:avLst/>
          </a:prstGeom>
        </p:spPr>
        <p:txBody>
          <a:bodyPr lIns="0" tIns="0" rIns="0" bIns="0" rtlCol="0" anchor="t">
            <a:spAutoFit/>
          </a:bodyPr>
          <a:lstStyle/>
          <a:p>
            <a:pPr algn="l">
              <a:lnSpc>
                <a:spcPts val="2625"/>
              </a:lnSpc>
            </a:pPr>
            <a:r>
              <a:rPr lang="en-US" sz="1625">
                <a:solidFill>
                  <a:srgbClr val="4C4C4D"/>
                </a:solidFill>
                <a:latin typeface="Heebo"/>
                <a:ea typeface="Heebo"/>
                <a:cs typeface="Heebo"/>
                <a:sym typeface="Heebo"/>
              </a:rPr>
              <a:t>Generate realistic vehicle health data across multiple systems</a:t>
            </a:r>
          </a:p>
        </p:txBody>
      </p:sp>
      <p:grpSp>
        <p:nvGrpSpPr>
          <p:cNvPr id="29" name="Group 29"/>
          <p:cNvGrpSpPr/>
          <p:nvPr/>
        </p:nvGrpSpPr>
        <p:grpSpPr>
          <a:xfrm>
            <a:off x="6497539" y="7565231"/>
            <a:ext cx="5292775" cy="1912887"/>
            <a:chOff x="0" y="0"/>
            <a:chExt cx="7057033" cy="2550517"/>
          </a:xfrm>
        </p:grpSpPr>
        <p:sp>
          <p:nvSpPr>
            <p:cNvPr id="30" name="Freeform 30"/>
            <p:cNvSpPr/>
            <p:nvPr/>
          </p:nvSpPr>
          <p:spPr>
            <a:xfrm>
              <a:off x="0" y="0"/>
              <a:ext cx="7057010" cy="2550541"/>
            </a:xfrm>
            <a:custGeom>
              <a:avLst/>
              <a:gdLst/>
              <a:ahLst/>
              <a:cxnLst/>
              <a:rect l="l" t="t" r="r" b="b"/>
              <a:pathLst>
                <a:path w="7057010" h="2550541">
                  <a:moveTo>
                    <a:pt x="0" y="182880"/>
                  </a:moveTo>
                  <a:cubicBezTo>
                    <a:pt x="0" y="81915"/>
                    <a:pt x="81915" y="0"/>
                    <a:pt x="182880" y="0"/>
                  </a:cubicBezTo>
                  <a:lnTo>
                    <a:pt x="6874129" y="0"/>
                  </a:lnTo>
                  <a:cubicBezTo>
                    <a:pt x="6975094" y="0"/>
                    <a:pt x="7057010" y="81915"/>
                    <a:pt x="7057010" y="182880"/>
                  </a:cubicBezTo>
                  <a:lnTo>
                    <a:pt x="7057010" y="2367661"/>
                  </a:lnTo>
                  <a:cubicBezTo>
                    <a:pt x="7057010" y="2468626"/>
                    <a:pt x="6975094" y="2550541"/>
                    <a:pt x="6874129" y="2550541"/>
                  </a:cubicBezTo>
                  <a:lnTo>
                    <a:pt x="182880" y="2550541"/>
                  </a:lnTo>
                  <a:cubicBezTo>
                    <a:pt x="81915" y="2550541"/>
                    <a:pt x="0" y="2468626"/>
                    <a:pt x="0" y="2367661"/>
                  </a:cubicBezTo>
                  <a:close/>
                </a:path>
              </a:pathLst>
            </a:custGeom>
            <a:solidFill>
              <a:srgbClr val="FFFFFF"/>
            </a:solidFill>
            <a:ln w="12700">
              <a:solidFill>
                <a:srgbClr val="000000"/>
              </a:solidFill>
            </a:ln>
          </p:spPr>
        </p:sp>
      </p:grpSp>
      <p:grpSp>
        <p:nvGrpSpPr>
          <p:cNvPr id="31" name="Group 31"/>
          <p:cNvGrpSpPr/>
          <p:nvPr/>
        </p:nvGrpSpPr>
        <p:grpSpPr>
          <a:xfrm>
            <a:off x="6497539" y="7536656"/>
            <a:ext cx="5292775" cy="114300"/>
            <a:chOff x="0" y="0"/>
            <a:chExt cx="7057033" cy="152400"/>
          </a:xfrm>
        </p:grpSpPr>
        <p:sp>
          <p:nvSpPr>
            <p:cNvPr id="32" name="Freeform 32"/>
            <p:cNvSpPr/>
            <p:nvPr/>
          </p:nvSpPr>
          <p:spPr>
            <a:xfrm>
              <a:off x="0" y="0"/>
              <a:ext cx="7057009" cy="152400"/>
            </a:xfrm>
            <a:custGeom>
              <a:avLst/>
              <a:gdLst/>
              <a:ahLst/>
              <a:cxnLst/>
              <a:rect l="l" t="t" r="r" b="b"/>
              <a:pathLst>
                <a:path w="7057009" h="152400">
                  <a:moveTo>
                    <a:pt x="0" y="42545"/>
                  </a:moveTo>
                  <a:cubicBezTo>
                    <a:pt x="0" y="19050"/>
                    <a:pt x="19050" y="0"/>
                    <a:pt x="42545" y="0"/>
                  </a:cubicBezTo>
                  <a:lnTo>
                    <a:pt x="7014464" y="0"/>
                  </a:lnTo>
                  <a:cubicBezTo>
                    <a:pt x="7037959" y="0"/>
                    <a:pt x="7057009" y="19050"/>
                    <a:pt x="7057009" y="42545"/>
                  </a:cubicBezTo>
                  <a:lnTo>
                    <a:pt x="7057009" y="109855"/>
                  </a:lnTo>
                  <a:cubicBezTo>
                    <a:pt x="7057009" y="133350"/>
                    <a:pt x="7037959" y="152400"/>
                    <a:pt x="7014464" y="152400"/>
                  </a:cubicBezTo>
                  <a:lnTo>
                    <a:pt x="42545" y="152400"/>
                  </a:lnTo>
                  <a:cubicBezTo>
                    <a:pt x="19050" y="152400"/>
                    <a:pt x="0" y="133350"/>
                    <a:pt x="0" y="109855"/>
                  </a:cubicBezTo>
                  <a:close/>
                </a:path>
              </a:pathLst>
            </a:custGeom>
            <a:solidFill>
              <a:srgbClr val="2150FE"/>
            </a:solidFill>
            <a:ln w="12700">
              <a:solidFill>
                <a:srgbClr val="000000"/>
              </a:solidFill>
            </a:ln>
          </p:spPr>
        </p:sp>
      </p:grpSp>
      <p:grpSp>
        <p:nvGrpSpPr>
          <p:cNvPr id="33" name="Group 33"/>
          <p:cNvGrpSpPr/>
          <p:nvPr/>
        </p:nvGrpSpPr>
        <p:grpSpPr>
          <a:xfrm>
            <a:off x="8824912" y="7246292"/>
            <a:ext cx="637878" cy="637878"/>
            <a:chOff x="0" y="0"/>
            <a:chExt cx="850503" cy="850503"/>
          </a:xfrm>
        </p:grpSpPr>
        <p:sp>
          <p:nvSpPr>
            <p:cNvPr id="34" name="Freeform 34"/>
            <p:cNvSpPr/>
            <p:nvPr/>
          </p:nvSpPr>
          <p:spPr>
            <a:xfrm>
              <a:off x="0" y="0"/>
              <a:ext cx="850519" cy="850519"/>
            </a:xfrm>
            <a:custGeom>
              <a:avLst/>
              <a:gdLst/>
              <a:ahLst/>
              <a:cxnLst/>
              <a:rect l="l" t="t" r="r" b="b"/>
              <a:pathLst>
                <a:path w="850519" h="850519">
                  <a:moveTo>
                    <a:pt x="0" y="425196"/>
                  </a:moveTo>
                  <a:cubicBezTo>
                    <a:pt x="0" y="190373"/>
                    <a:pt x="190373" y="0"/>
                    <a:pt x="425196" y="0"/>
                  </a:cubicBezTo>
                  <a:cubicBezTo>
                    <a:pt x="660019" y="0"/>
                    <a:pt x="850519" y="190373"/>
                    <a:pt x="850519" y="425196"/>
                  </a:cubicBezTo>
                  <a:cubicBezTo>
                    <a:pt x="850519" y="660019"/>
                    <a:pt x="660146" y="850519"/>
                    <a:pt x="425196" y="850519"/>
                  </a:cubicBezTo>
                  <a:cubicBezTo>
                    <a:pt x="190246" y="850519"/>
                    <a:pt x="0" y="660146"/>
                    <a:pt x="0" y="425196"/>
                  </a:cubicBezTo>
                  <a:close/>
                </a:path>
              </a:pathLst>
            </a:custGeom>
            <a:solidFill>
              <a:srgbClr val="2150FE"/>
            </a:solidFill>
            <a:ln w="12700">
              <a:solidFill>
                <a:srgbClr val="000000"/>
              </a:solidFill>
            </a:ln>
          </p:spPr>
        </p:sp>
      </p:grpSp>
      <p:sp>
        <p:nvSpPr>
          <p:cNvPr id="35" name="TextBox 35"/>
          <p:cNvSpPr txBox="1"/>
          <p:nvPr/>
        </p:nvSpPr>
        <p:spPr>
          <a:xfrm>
            <a:off x="9016305" y="7319962"/>
            <a:ext cx="255091" cy="404664"/>
          </a:xfrm>
          <a:prstGeom prst="rect">
            <a:avLst/>
          </a:prstGeom>
        </p:spPr>
        <p:txBody>
          <a:bodyPr lIns="0" tIns="0" rIns="0" bIns="0" rtlCol="0" anchor="t">
            <a:spAutoFit/>
          </a:bodyPr>
          <a:lstStyle/>
          <a:p>
            <a:pPr algn="l">
              <a:lnSpc>
                <a:spcPts val="3187"/>
              </a:lnSpc>
            </a:pPr>
            <a:r>
              <a:rPr lang="en-US" sz="2000" b="1">
                <a:solidFill>
                  <a:srgbClr val="FFFFFF"/>
                </a:solidFill>
                <a:latin typeface="Crimson Pro Bold"/>
                <a:ea typeface="Crimson Pro Bold"/>
                <a:cs typeface="Crimson Pro Bold"/>
                <a:sym typeface="Crimson Pro Bold"/>
              </a:rPr>
              <a:t>2</a:t>
            </a:r>
          </a:p>
        </p:txBody>
      </p:sp>
      <p:sp>
        <p:nvSpPr>
          <p:cNvPr id="36" name="TextBox 36"/>
          <p:cNvSpPr txBox="1"/>
          <p:nvPr/>
        </p:nvSpPr>
        <p:spPr>
          <a:xfrm>
            <a:off x="6738640" y="8077795"/>
            <a:ext cx="2658070" cy="351234"/>
          </a:xfrm>
          <a:prstGeom prst="rect">
            <a:avLst/>
          </a:prstGeom>
        </p:spPr>
        <p:txBody>
          <a:bodyPr lIns="0" tIns="0" rIns="0" bIns="0" rtlCol="0" anchor="t">
            <a:spAutoFit/>
          </a:bodyPr>
          <a:lstStyle/>
          <a:p>
            <a:pPr algn="l">
              <a:lnSpc>
                <a:spcPts val="2562"/>
              </a:lnSpc>
            </a:pPr>
            <a:r>
              <a:rPr lang="en-US" sz="2062" b="1">
                <a:solidFill>
                  <a:srgbClr val="4C4C4D"/>
                </a:solidFill>
                <a:latin typeface="Crimson Pro Bold"/>
                <a:ea typeface="Crimson Pro Bold"/>
                <a:cs typeface="Crimson Pro Bold"/>
                <a:sym typeface="Crimson Pro Bold"/>
              </a:rPr>
              <a:t>Configure Thresholds</a:t>
            </a:r>
          </a:p>
        </p:txBody>
      </p:sp>
      <p:sp>
        <p:nvSpPr>
          <p:cNvPr id="37" name="TextBox 37"/>
          <p:cNvSpPr txBox="1"/>
          <p:nvPr/>
        </p:nvSpPr>
        <p:spPr>
          <a:xfrm>
            <a:off x="6738640" y="8489900"/>
            <a:ext cx="4810571" cy="747117"/>
          </a:xfrm>
          <a:prstGeom prst="rect">
            <a:avLst/>
          </a:prstGeom>
        </p:spPr>
        <p:txBody>
          <a:bodyPr lIns="0" tIns="0" rIns="0" bIns="0" rtlCol="0" anchor="t">
            <a:spAutoFit/>
          </a:bodyPr>
          <a:lstStyle/>
          <a:p>
            <a:pPr algn="l">
              <a:lnSpc>
                <a:spcPts val="2625"/>
              </a:lnSpc>
            </a:pPr>
            <a:r>
              <a:rPr lang="en-US" sz="1625">
                <a:solidFill>
                  <a:srgbClr val="4C4C4D"/>
                </a:solidFill>
                <a:latin typeface="Heebo"/>
                <a:ea typeface="Heebo"/>
                <a:cs typeface="Heebo"/>
                <a:sym typeface="Heebo"/>
              </a:rPr>
              <a:t>Set intelligent warning triggers based on operational patterns</a:t>
            </a:r>
          </a:p>
        </p:txBody>
      </p:sp>
      <p:grpSp>
        <p:nvGrpSpPr>
          <p:cNvPr id="38" name="Group 38"/>
          <p:cNvGrpSpPr/>
          <p:nvPr/>
        </p:nvGrpSpPr>
        <p:grpSpPr>
          <a:xfrm>
            <a:off x="12002840" y="7565231"/>
            <a:ext cx="5292775" cy="1912887"/>
            <a:chOff x="0" y="0"/>
            <a:chExt cx="7057033" cy="2550517"/>
          </a:xfrm>
        </p:grpSpPr>
        <p:sp>
          <p:nvSpPr>
            <p:cNvPr id="39" name="Freeform 39"/>
            <p:cNvSpPr/>
            <p:nvPr/>
          </p:nvSpPr>
          <p:spPr>
            <a:xfrm>
              <a:off x="0" y="0"/>
              <a:ext cx="7057010" cy="2550541"/>
            </a:xfrm>
            <a:custGeom>
              <a:avLst/>
              <a:gdLst/>
              <a:ahLst/>
              <a:cxnLst/>
              <a:rect l="l" t="t" r="r" b="b"/>
              <a:pathLst>
                <a:path w="7057010" h="2550541">
                  <a:moveTo>
                    <a:pt x="0" y="182880"/>
                  </a:moveTo>
                  <a:cubicBezTo>
                    <a:pt x="0" y="81915"/>
                    <a:pt x="81915" y="0"/>
                    <a:pt x="182880" y="0"/>
                  </a:cubicBezTo>
                  <a:lnTo>
                    <a:pt x="6874129" y="0"/>
                  </a:lnTo>
                  <a:cubicBezTo>
                    <a:pt x="6975094" y="0"/>
                    <a:pt x="7057010" y="81915"/>
                    <a:pt x="7057010" y="182880"/>
                  </a:cubicBezTo>
                  <a:lnTo>
                    <a:pt x="7057010" y="2367661"/>
                  </a:lnTo>
                  <a:cubicBezTo>
                    <a:pt x="7057010" y="2468626"/>
                    <a:pt x="6975094" y="2550541"/>
                    <a:pt x="6874129" y="2550541"/>
                  </a:cubicBezTo>
                  <a:lnTo>
                    <a:pt x="182880" y="2550541"/>
                  </a:lnTo>
                  <a:cubicBezTo>
                    <a:pt x="81915" y="2550541"/>
                    <a:pt x="0" y="2468626"/>
                    <a:pt x="0" y="2367661"/>
                  </a:cubicBezTo>
                  <a:close/>
                </a:path>
              </a:pathLst>
            </a:custGeom>
            <a:solidFill>
              <a:srgbClr val="FFFFFF"/>
            </a:solidFill>
            <a:ln w="12700">
              <a:solidFill>
                <a:srgbClr val="000000"/>
              </a:solidFill>
            </a:ln>
          </p:spPr>
        </p:sp>
      </p:grpSp>
      <p:grpSp>
        <p:nvGrpSpPr>
          <p:cNvPr id="40" name="Group 40"/>
          <p:cNvGrpSpPr/>
          <p:nvPr/>
        </p:nvGrpSpPr>
        <p:grpSpPr>
          <a:xfrm>
            <a:off x="12002840" y="7536656"/>
            <a:ext cx="5292775" cy="114300"/>
            <a:chOff x="0" y="0"/>
            <a:chExt cx="7057033" cy="152400"/>
          </a:xfrm>
        </p:grpSpPr>
        <p:sp>
          <p:nvSpPr>
            <p:cNvPr id="41" name="Freeform 41"/>
            <p:cNvSpPr/>
            <p:nvPr/>
          </p:nvSpPr>
          <p:spPr>
            <a:xfrm>
              <a:off x="0" y="0"/>
              <a:ext cx="7057009" cy="152400"/>
            </a:xfrm>
            <a:custGeom>
              <a:avLst/>
              <a:gdLst/>
              <a:ahLst/>
              <a:cxnLst/>
              <a:rect l="l" t="t" r="r" b="b"/>
              <a:pathLst>
                <a:path w="7057009" h="152400">
                  <a:moveTo>
                    <a:pt x="0" y="42545"/>
                  </a:moveTo>
                  <a:cubicBezTo>
                    <a:pt x="0" y="19050"/>
                    <a:pt x="19050" y="0"/>
                    <a:pt x="42545" y="0"/>
                  </a:cubicBezTo>
                  <a:lnTo>
                    <a:pt x="7014464" y="0"/>
                  </a:lnTo>
                  <a:cubicBezTo>
                    <a:pt x="7037959" y="0"/>
                    <a:pt x="7057009" y="19050"/>
                    <a:pt x="7057009" y="42545"/>
                  </a:cubicBezTo>
                  <a:lnTo>
                    <a:pt x="7057009" y="109855"/>
                  </a:lnTo>
                  <a:cubicBezTo>
                    <a:pt x="7057009" y="133350"/>
                    <a:pt x="7037959" y="152400"/>
                    <a:pt x="7014464" y="152400"/>
                  </a:cubicBezTo>
                  <a:lnTo>
                    <a:pt x="42545" y="152400"/>
                  </a:lnTo>
                  <a:cubicBezTo>
                    <a:pt x="19050" y="152400"/>
                    <a:pt x="0" y="133350"/>
                    <a:pt x="0" y="109855"/>
                  </a:cubicBezTo>
                  <a:close/>
                </a:path>
              </a:pathLst>
            </a:custGeom>
            <a:solidFill>
              <a:srgbClr val="2150FE"/>
            </a:solidFill>
            <a:ln w="12700">
              <a:solidFill>
                <a:srgbClr val="000000"/>
              </a:solidFill>
            </a:ln>
          </p:spPr>
        </p:sp>
      </p:grpSp>
      <p:grpSp>
        <p:nvGrpSpPr>
          <p:cNvPr id="42" name="Group 42"/>
          <p:cNvGrpSpPr/>
          <p:nvPr/>
        </p:nvGrpSpPr>
        <p:grpSpPr>
          <a:xfrm>
            <a:off x="14330214" y="7246292"/>
            <a:ext cx="637877" cy="637878"/>
            <a:chOff x="0" y="0"/>
            <a:chExt cx="850503" cy="850503"/>
          </a:xfrm>
        </p:grpSpPr>
        <p:sp>
          <p:nvSpPr>
            <p:cNvPr id="43" name="Freeform 43"/>
            <p:cNvSpPr/>
            <p:nvPr/>
          </p:nvSpPr>
          <p:spPr>
            <a:xfrm>
              <a:off x="0" y="0"/>
              <a:ext cx="850519" cy="850519"/>
            </a:xfrm>
            <a:custGeom>
              <a:avLst/>
              <a:gdLst/>
              <a:ahLst/>
              <a:cxnLst/>
              <a:rect l="l" t="t" r="r" b="b"/>
              <a:pathLst>
                <a:path w="850519" h="850519">
                  <a:moveTo>
                    <a:pt x="0" y="425196"/>
                  </a:moveTo>
                  <a:cubicBezTo>
                    <a:pt x="0" y="190373"/>
                    <a:pt x="190373" y="0"/>
                    <a:pt x="425196" y="0"/>
                  </a:cubicBezTo>
                  <a:cubicBezTo>
                    <a:pt x="660019" y="0"/>
                    <a:pt x="850519" y="190373"/>
                    <a:pt x="850519" y="425196"/>
                  </a:cubicBezTo>
                  <a:cubicBezTo>
                    <a:pt x="850519" y="660019"/>
                    <a:pt x="660146" y="850519"/>
                    <a:pt x="425196" y="850519"/>
                  </a:cubicBezTo>
                  <a:cubicBezTo>
                    <a:pt x="190246" y="850519"/>
                    <a:pt x="0" y="660146"/>
                    <a:pt x="0" y="425196"/>
                  </a:cubicBezTo>
                  <a:close/>
                </a:path>
              </a:pathLst>
            </a:custGeom>
            <a:solidFill>
              <a:srgbClr val="2150FE"/>
            </a:solidFill>
            <a:ln w="12700">
              <a:solidFill>
                <a:srgbClr val="000000"/>
              </a:solidFill>
            </a:ln>
          </p:spPr>
        </p:sp>
      </p:grpSp>
      <p:sp>
        <p:nvSpPr>
          <p:cNvPr id="44" name="TextBox 44"/>
          <p:cNvSpPr txBox="1"/>
          <p:nvPr/>
        </p:nvSpPr>
        <p:spPr>
          <a:xfrm>
            <a:off x="14521606" y="7319962"/>
            <a:ext cx="255091" cy="404664"/>
          </a:xfrm>
          <a:prstGeom prst="rect">
            <a:avLst/>
          </a:prstGeom>
        </p:spPr>
        <p:txBody>
          <a:bodyPr lIns="0" tIns="0" rIns="0" bIns="0" rtlCol="0" anchor="t">
            <a:spAutoFit/>
          </a:bodyPr>
          <a:lstStyle/>
          <a:p>
            <a:pPr algn="l">
              <a:lnSpc>
                <a:spcPts val="3187"/>
              </a:lnSpc>
            </a:pPr>
            <a:r>
              <a:rPr lang="en-US" sz="2000" b="1">
                <a:solidFill>
                  <a:srgbClr val="FFFFFF"/>
                </a:solidFill>
                <a:latin typeface="Crimson Pro Bold"/>
                <a:ea typeface="Crimson Pro Bold"/>
                <a:cs typeface="Crimson Pro Bold"/>
                <a:sym typeface="Crimson Pro Bold"/>
              </a:rPr>
              <a:t>3</a:t>
            </a:r>
          </a:p>
        </p:txBody>
      </p:sp>
      <p:sp>
        <p:nvSpPr>
          <p:cNvPr id="45" name="TextBox 45"/>
          <p:cNvSpPr txBox="1"/>
          <p:nvPr/>
        </p:nvSpPr>
        <p:spPr>
          <a:xfrm>
            <a:off x="12243941" y="8077795"/>
            <a:ext cx="2658070" cy="351234"/>
          </a:xfrm>
          <a:prstGeom prst="rect">
            <a:avLst/>
          </a:prstGeom>
        </p:spPr>
        <p:txBody>
          <a:bodyPr lIns="0" tIns="0" rIns="0" bIns="0" rtlCol="0" anchor="t">
            <a:spAutoFit/>
          </a:bodyPr>
          <a:lstStyle/>
          <a:p>
            <a:pPr algn="l">
              <a:lnSpc>
                <a:spcPts val="2562"/>
              </a:lnSpc>
            </a:pPr>
            <a:r>
              <a:rPr lang="en-US" sz="2062" b="1">
                <a:solidFill>
                  <a:srgbClr val="4C4C4D"/>
                </a:solidFill>
                <a:latin typeface="Crimson Pro Bold"/>
                <a:ea typeface="Crimson Pro Bold"/>
                <a:cs typeface="Crimson Pro Bold"/>
                <a:sym typeface="Crimson Pro Bold"/>
              </a:rPr>
              <a:t>Visualise Analytics</a:t>
            </a:r>
          </a:p>
        </p:txBody>
      </p:sp>
      <p:sp>
        <p:nvSpPr>
          <p:cNvPr id="46" name="TextBox 46"/>
          <p:cNvSpPr txBox="1"/>
          <p:nvPr/>
        </p:nvSpPr>
        <p:spPr>
          <a:xfrm>
            <a:off x="12243941" y="8489900"/>
            <a:ext cx="4810571" cy="747117"/>
          </a:xfrm>
          <a:prstGeom prst="rect">
            <a:avLst/>
          </a:prstGeom>
        </p:spPr>
        <p:txBody>
          <a:bodyPr lIns="0" tIns="0" rIns="0" bIns="0" rtlCol="0" anchor="t">
            <a:spAutoFit/>
          </a:bodyPr>
          <a:lstStyle/>
          <a:p>
            <a:pPr algn="l">
              <a:lnSpc>
                <a:spcPts val="2625"/>
              </a:lnSpc>
            </a:pPr>
            <a:r>
              <a:rPr lang="en-US" sz="1625">
                <a:solidFill>
                  <a:srgbClr val="4C4C4D"/>
                </a:solidFill>
                <a:latin typeface="Heebo"/>
                <a:ea typeface="Heebo"/>
                <a:cs typeface="Heebo"/>
                <a:sym typeface="Heebo"/>
              </a:rPr>
              <a:t>Create comprehensive dashboards with trend analysis and alerts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0F0F1"/>
            </a:solidFill>
            <a:ln w="12700">
              <a:solidFill>
                <a:srgbClr val="000000"/>
              </a:solidFill>
            </a:ln>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a:ln w="12700">
              <a:solidFill>
                <a:srgbClr val="000000"/>
              </a:solidFill>
            </a:ln>
          </p:spPr>
        </p:sp>
      </p:grpSp>
      <p:grpSp>
        <p:nvGrpSpPr>
          <p:cNvPr id="6" name="Group 6"/>
          <p:cNvGrpSpPr>
            <a:grpSpLocks noChangeAspect="1"/>
          </p:cNvGrpSpPr>
          <p:nvPr/>
        </p:nvGrpSpPr>
        <p:grpSpPr>
          <a:xfrm>
            <a:off x="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3"/>
              <a:stretch>
                <a:fillRect/>
              </a:stretch>
            </a:blipFill>
          </p:spPr>
        </p:sp>
      </p:grpSp>
      <p:sp>
        <p:nvSpPr>
          <p:cNvPr id="8" name="TextBox 8"/>
          <p:cNvSpPr txBox="1"/>
          <p:nvPr/>
        </p:nvSpPr>
        <p:spPr>
          <a:xfrm>
            <a:off x="7850237" y="867072"/>
            <a:ext cx="9445526" cy="1721644"/>
          </a:xfrm>
          <a:prstGeom prst="rect">
            <a:avLst/>
          </a:prstGeom>
        </p:spPr>
        <p:txBody>
          <a:bodyPr lIns="0" tIns="0" rIns="0" bIns="0" rtlCol="0" anchor="t">
            <a:spAutoFit/>
          </a:bodyPr>
          <a:lstStyle/>
          <a:p>
            <a:pPr algn="l">
              <a:lnSpc>
                <a:spcPts val="6625"/>
              </a:lnSpc>
            </a:pPr>
            <a:r>
              <a:rPr lang="en-US" sz="5250" b="1">
                <a:solidFill>
                  <a:srgbClr val="152D47"/>
                </a:solidFill>
                <a:latin typeface="Crimson Pro Bold"/>
                <a:ea typeface="Crimson Pro Bold"/>
                <a:cs typeface="Crimson Pro Bold"/>
                <a:sym typeface="Crimson Pro Bold"/>
              </a:rPr>
              <a:t>Module 5: Customer Booking &amp; Smart Recommendations</a:t>
            </a:r>
          </a:p>
        </p:txBody>
      </p:sp>
      <p:grpSp>
        <p:nvGrpSpPr>
          <p:cNvPr id="9" name="Group 9"/>
          <p:cNvGrpSpPr/>
          <p:nvPr/>
        </p:nvGrpSpPr>
        <p:grpSpPr>
          <a:xfrm>
            <a:off x="7850237" y="2992636"/>
            <a:ext cx="4588074" cy="3490912"/>
            <a:chOff x="0" y="0"/>
            <a:chExt cx="6117432" cy="4654550"/>
          </a:xfrm>
        </p:grpSpPr>
        <p:sp>
          <p:nvSpPr>
            <p:cNvPr id="10" name="Freeform 10"/>
            <p:cNvSpPr/>
            <p:nvPr/>
          </p:nvSpPr>
          <p:spPr>
            <a:xfrm>
              <a:off x="0" y="0"/>
              <a:ext cx="6117463" cy="4654550"/>
            </a:xfrm>
            <a:custGeom>
              <a:avLst/>
              <a:gdLst/>
              <a:ahLst/>
              <a:cxnLst/>
              <a:rect l="l" t="t" r="r" b="b"/>
              <a:pathLst>
                <a:path w="6117463" h="4654550">
                  <a:moveTo>
                    <a:pt x="0" y="53848"/>
                  </a:moveTo>
                  <a:cubicBezTo>
                    <a:pt x="0" y="24130"/>
                    <a:pt x="24130" y="0"/>
                    <a:pt x="53848" y="0"/>
                  </a:cubicBezTo>
                  <a:lnTo>
                    <a:pt x="6063615" y="0"/>
                  </a:lnTo>
                  <a:cubicBezTo>
                    <a:pt x="6093333" y="0"/>
                    <a:pt x="6117463" y="24130"/>
                    <a:pt x="6117463" y="53848"/>
                  </a:cubicBezTo>
                  <a:lnTo>
                    <a:pt x="6117463" y="4600702"/>
                  </a:lnTo>
                  <a:cubicBezTo>
                    <a:pt x="6117463" y="4630420"/>
                    <a:pt x="6093333" y="4654550"/>
                    <a:pt x="6063615" y="4654550"/>
                  </a:cubicBezTo>
                  <a:lnTo>
                    <a:pt x="53848" y="4654550"/>
                  </a:lnTo>
                  <a:cubicBezTo>
                    <a:pt x="24130" y="4654550"/>
                    <a:pt x="0" y="4630420"/>
                    <a:pt x="0" y="4600702"/>
                  </a:cubicBezTo>
                  <a:close/>
                </a:path>
              </a:pathLst>
            </a:custGeom>
            <a:solidFill>
              <a:srgbClr val="F2EEEE"/>
            </a:solidFill>
            <a:ln w="12700">
              <a:solidFill>
                <a:srgbClr val="000000"/>
              </a:solidFill>
            </a:ln>
          </p:spPr>
        </p:sp>
      </p:grpSp>
      <p:grpSp>
        <p:nvGrpSpPr>
          <p:cNvPr id="11" name="Group 11"/>
          <p:cNvGrpSpPr/>
          <p:nvPr/>
        </p:nvGrpSpPr>
        <p:grpSpPr>
          <a:xfrm>
            <a:off x="8119467" y="3261866"/>
            <a:ext cx="807988" cy="807987"/>
            <a:chOff x="0" y="0"/>
            <a:chExt cx="1077317" cy="1077317"/>
          </a:xfrm>
        </p:grpSpPr>
        <p:sp>
          <p:nvSpPr>
            <p:cNvPr id="12" name="Freeform 12"/>
            <p:cNvSpPr/>
            <p:nvPr/>
          </p:nvSpPr>
          <p:spPr>
            <a:xfrm>
              <a:off x="0" y="0"/>
              <a:ext cx="1077341" cy="1077341"/>
            </a:xfrm>
            <a:custGeom>
              <a:avLst/>
              <a:gdLst/>
              <a:ahLst/>
              <a:cxnLst/>
              <a:rect l="l" t="t" r="r" b="b"/>
              <a:pathLst>
                <a:path w="1077341" h="1077341">
                  <a:moveTo>
                    <a:pt x="0" y="538607"/>
                  </a:moveTo>
                  <a:cubicBezTo>
                    <a:pt x="0" y="241173"/>
                    <a:pt x="241173" y="0"/>
                    <a:pt x="538607" y="0"/>
                  </a:cubicBezTo>
                  <a:cubicBezTo>
                    <a:pt x="836041" y="0"/>
                    <a:pt x="1077341" y="241173"/>
                    <a:pt x="1077341" y="538607"/>
                  </a:cubicBezTo>
                  <a:cubicBezTo>
                    <a:pt x="1077341" y="836041"/>
                    <a:pt x="836168" y="1077341"/>
                    <a:pt x="538607" y="1077341"/>
                  </a:cubicBezTo>
                  <a:cubicBezTo>
                    <a:pt x="241046" y="1077341"/>
                    <a:pt x="0" y="836168"/>
                    <a:pt x="0" y="538607"/>
                  </a:cubicBezTo>
                  <a:close/>
                </a:path>
              </a:pathLst>
            </a:custGeom>
            <a:solidFill>
              <a:srgbClr val="2150FE"/>
            </a:solidFill>
            <a:ln w="12700">
              <a:solidFill>
                <a:srgbClr val="000000"/>
              </a:solidFill>
            </a:ln>
          </p:spPr>
        </p:sp>
      </p:grpSp>
      <p:sp>
        <p:nvSpPr>
          <p:cNvPr id="13" name="Freeform 13" descr="preencoded.png"/>
          <p:cNvSpPr/>
          <p:nvPr/>
        </p:nvSpPr>
        <p:spPr>
          <a:xfrm>
            <a:off x="8341667" y="3483917"/>
            <a:ext cx="363588" cy="363588"/>
          </a:xfrm>
          <a:custGeom>
            <a:avLst/>
            <a:gdLst/>
            <a:ahLst/>
            <a:cxnLst/>
            <a:rect l="l" t="t" r="r" b="b"/>
            <a:pathLst>
              <a:path w="363588" h="363588">
                <a:moveTo>
                  <a:pt x="0" y="0"/>
                </a:moveTo>
                <a:lnTo>
                  <a:pt x="363588" y="0"/>
                </a:lnTo>
                <a:lnTo>
                  <a:pt x="363588" y="363588"/>
                </a:lnTo>
                <a:lnTo>
                  <a:pt x="0" y="36358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TextBox 14"/>
          <p:cNvSpPr txBox="1"/>
          <p:nvPr/>
        </p:nvSpPr>
        <p:spPr>
          <a:xfrm>
            <a:off x="8119467" y="4310509"/>
            <a:ext cx="3366939" cy="449313"/>
          </a:xfrm>
          <a:prstGeom prst="rect">
            <a:avLst/>
          </a:prstGeom>
        </p:spPr>
        <p:txBody>
          <a:bodyPr lIns="0" tIns="0" rIns="0" bIns="0" rtlCol="0" anchor="t">
            <a:spAutoFit/>
          </a:bodyPr>
          <a:lstStyle/>
          <a:p>
            <a:pPr algn="l">
              <a:lnSpc>
                <a:spcPts val="3312"/>
              </a:lnSpc>
            </a:pPr>
            <a:r>
              <a:rPr lang="en-US" sz="2625" b="1">
                <a:solidFill>
                  <a:srgbClr val="4C4C4D"/>
                </a:solidFill>
                <a:latin typeface="Crimson Pro Bold"/>
                <a:ea typeface="Crimson Pro Bold"/>
                <a:cs typeface="Crimson Pro Bold"/>
                <a:sym typeface="Crimson Pro Bold"/>
              </a:rPr>
              <a:t>Search &amp; Filter</a:t>
            </a:r>
          </a:p>
        </p:txBody>
      </p:sp>
      <p:sp>
        <p:nvSpPr>
          <p:cNvPr id="15" name="TextBox 15"/>
          <p:cNvSpPr txBox="1"/>
          <p:nvPr/>
        </p:nvSpPr>
        <p:spPr>
          <a:xfrm>
            <a:off x="8119467" y="4835575"/>
            <a:ext cx="4049614" cy="947737"/>
          </a:xfrm>
          <a:prstGeom prst="rect">
            <a:avLst/>
          </a:prstGeom>
        </p:spPr>
        <p:txBody>
          <a:bodyPr lIns="0" tIns="0" rIns="0" bIns="0" rtlCol="0" anchor="t">
            <a:spAutoFit/>
          </a:bodyPr>
          <a:lstStyle/>
          <a:p>
            <a:pPr algn="l">
              <a:lnSpc>
                <a:spcPts val="3374"/>
              </a:lnSpc>
            </a:pPr>
            <a:r>
              <a:rPr lang="en-US" sz="2062">
                <a:solidFill>
                  <a:srgbClr val="4C4C4D"/>
                </a:solidFill>
                <a:latin typeface="Heebo"/>
                <a:ea typeface="Heebo"/>
                <a:cs typeface="Heebo"/>
                <a:sym typeface="Heebo"/>
              </a:rPr>
              <a:t>Select vehicle type, location, and time with advanced filters.</a:t>
            </a:r>
          </a:p>
        </p:txBody>
      </p:sp>
      <p:grpSp>
        <p:nvGrpSpPr>
          <p:cNvPr id="16" name="Group 16"/>
          <p:cNvGrpSpPr/>
          <p:nvPr/>
        </p:nvGrpSpPr>
        <p:grpSpPr>
          <a:xfrm>
            <a:off x="12707541" y="2992636"/>
            <a:ext cx="4588222" cy="3490912"/>
            <a:chOff x="0" y="0"/>
            <a:chExt cx="6117630" cy="4654550"/>
          </a:xfrm>
        </p:grpSpPr>
        <p:sp>
          <p:nvSpPr>
            <p:cNvPr id="17" name="Freeform 17"/>
            <p:cNvSpPr/>
            <p:nvPr/>
          </p:nvSpPr>
          <p:spPr>
            <a:xfrm>
              <a:off x="0" y="0"/>
              <a:ext cx="6117590" cy="4654550"/>
            </a:xfrm>
            <a:custGeom>
              <a:avLst/>
              <a:gdLst/>
              <a:ahLst/>
              <a:cxnLst/>
              <a:rect l="l" t="t" r="r" b="b"/>
              <a:pathLst>
                <a:path w="6117590" h="4654550">
                  <a:moveTo>
                    <a:pt x="0" y="53848"/>
                  </a:moveTo>
                  <a:cubicBezTo>
                    <a:pt x="0" y="24130"/>
                    <a:pt x="24130" y="0"/>
                    <a:pt x="53848" y="0"/>
                  </a:cubicBezTo>
                  <a:lnTo>
                    <a:pt x="6063742" y="0"/>
                  </a:lnTo>
                  <a:cubicBezTo>
                    <a:pt x="6093460" y="0"/>
                    <a:pt x="6117590" y="24130"/>
                    <a:pt x="6117590" y="53848"/>
                  </a:cubicBezTo>
                  <a:lnTo>
                    <a:pt x="6117590" y="4600702"/>
                  </a:lnTo>
                  <a:cubicBezTo>
                    <a:pt x="6117590" y="4630420"/>
                    <a:pt x="6093460" y="4654550"/>
                    <a:pt x="6063742" y="4654550"/>
                  </a:cubicBezTo>
                  <a:lnTo>
                    <a:pt x="53848" y="4654550"/>
                  </a:lnTo>
                  <a:cubicBezTo>
                    <a:pt x="24130" y="4654550"/>
                    <a:pt x="0" y="4630420"/>
                    <a:pt x="0" y="4600702"/>
                  </a:cubicBezTo>
                  <a:close/>
                </a:path>
              </a:pathLst>
            </a:custGeom>
            <a:solidFill>
              <a:srgbClr val="F2EEEE"/>
            </a:solidFill>
            <a:ln w="12700">
              <a:solidFill>
                <a:srgbClr val="000000"/>
              </a:solidFill>
            </a:ln>
          </p:spPr>
        </p:sp>
      </p:grpSp>
      <p:grpSp>
        <p:nvGrpSpPr>
          <p:cNvPr id="18" name="Group 18"/>
          <p:cNvGrpSpPr/>
          <p:nvPr/>
        </p:nvGrpSpPr>
        <p:grpSpPr>
          <a:xfrm>
            <a:off x="12976771" y="3261866"/>
            <a:ext cx="807987" cy="807987"/>
            <a:chOff x="0" y="0"/>
            <a:chExt cx="1077317" cy="1077317"/>
          </a:xfrm>
        </p:grpSpPr>
        <p:sp>
          <p:nvSpPr>
            <p:cNvPr id="19" name="Freeform 19"/>
            <p:cNvSpPr/>
            <p:nvPr/>
          </p:nvSpPr>
          <p:spPr>
            <a:xfrm>
              <a:off x="0" y="0"/>
              <a:ext cx="1077341" cy="1077341"/>
            </a:xfrm>
            <a:custGeom>
              <a:avLst/>
              <a:gdLst/>
              <a:ahLst/>
              <a:cxnLst/>
              <a:rect l="l" t="t" r="r" b="b"/>
              <a:pathLst>
                <a:path w="1077341" h="1077341">
                  <a:moveTo>
                    <a:pt x="0" y="538607"/>
                  </a:moveTo>
                  <a:cubicBezTo>
                    <a:pt x="0" y="241173"/>
                    <a:pt x="241173" y="0"/>
                    <a:pt x="538607" y="0"/>
                  </a:cubicBezTo>
                  <a:cubicBezTo>
                    <a:pt x="836041" y="0"/>
                    <a:pt x="1077341" y="241173"/>
                    <a:pt x="1077341" y="538607"/>
                  </a:cubicBezTo>
                  <a:cubicBezTo>
                    <a:pt x="1077341" y="836041"/>
                    <a:pt x="836168" y="1077341"/>
                    <a:pt x="538607" y="1077341"/>
                  </a:cubicBezTo>
                  <a:cubicBezTo>
                    <a:pt x="241046" y="1077341"/>
                    <a:pt x="0" y="836168"/>
                    <a:pt x="0" y="538607"/>
                  </a:cubicBezTo>
                  <a:close/>
                </a:path>
              </a:pathLst>
            </a:custGeom>
            <a:solidFill>
              <a:srgbClr val="2150FE"/>
            </a:solidFill>
            <a:ln w="12700">
              <a:solidFill>
                <a:srgbClr val="000000"/>
              </a:solidFill>
            </a:ln>
          </p:spPr>
        </p:sp>
      </p:grpSp>
      <p:sp>
        <p:nvSpPr>
          <p:cNvPr id="20" name="Freeform 20" descr="preencoded.png"/>
          <p:cNvSpPr/>
          <p:nvPr/>
        </p:nvSpPr>
        <p:spPr>
          <a:xfrm>
            <a:off x="13198971" y="3483917"/>
            <a:ext cx="363588" cy="363588"/>
          </a:xfrm>
          <a:custGeom>
            <a:avLst/>
            <a:gdLst/>
            <a:ahLst/>
            <a:cxnLst/>
            <a:rect l="l" t="t" r="r" b="b"/>
            <a:pathLst>
              <a:path w="363588" h="363588">
                <a:moveTo>
                  <a:pt x="0" y="0"/>
                </a:moveTo>
                <a:lnTo>
                  <a:pt x="363588" y="0"/>
                </a:lnTo>
                <a:lnTo>
                  <a:pt x="363588" y="363588"/>
                </a:lnTo>
                <a:lnTo>
                  <a:pt x="0" y="36358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1" name="TextBox 21"/>
          <p:cNvSpPr txBox="1"/>
          <p:nvPr/>
        </p:nvSpPr>
        <p:spPr>
          <a:xfrm>
            <a:off x="12976771" y="4310509"/>
            <a:ext cx="3366939" cy="449313"/>
          </a:xfrm>
          <a:prstGeom prst="rect">
            <a:avLst/>
          </a:prstGeom>
        </p:spPr>
        <p:txBody>
          <a:bodyPr lIns="0" tIns="0" rIns="0" bIns="0" rtlCol="0" anchor="t">
            <a:spAutoFit/>
          </a:bodyPr>
          <a:lstStyle/>
          <a:p>
            <a:pPr algn="l">
              <a:lnSpc>
                <a:spcPts val="3312"/>
              </a:lnSpc>
            </a:pPr>
            <a:r>
              <a:rPr lang="en-US" sz="2625" b="1">
                <a:solidFill>
                  <a:srgbClr val="4C4C4D"/>
                </a:solidFill>
                <a:latin typeface="Crimson Pro Bold"/>
                <a:ea typeface="Crimson Pro Bold"/>
                <a:cs typeface="Crimson Pro Bold"/>
                <a:sym typeface="Crimson Pro Bold"/>
              </a:rPr>
              <a:t>AI Recommendations</a:t>
            </a:r>
          </a:p>
        </p:txBody>
      </p:sp>
      <p:sp>
        <p:nvSpPr>
          <p:cNvPr id="22" name="TextBox 22"/>
          <p:cNvSpPr txBox="1"/>
          <p:nvPr/>
        </p:nvSpPr>
        <p:spPr>
          <a:xfrm>
            <a:off x="12976771" y="4835575"/>
            <a:ext cx="4049762" cy="1378744"/>
          </a:xfrm>
          <a:prstGeom prst="rect">
            <a:avLst/>
          </a:prstGeom>
        </p:spPr>
        <p:txBody>
          <a:bodyPr lIns="0" tIns="0" rIns="0" bIns="0" rtlCol="0" anchor="t">
            <a:spAutoFit/>
          </a:bodyPr>
          <a:lstStyle/>
          <a:p>
            <a:pPr algn="l">
              <a:lnSpc>
                <a:spcPts val="3374"/>
              </a:lnSpc>
            </a:pPr>
            <a:r>
              <a:rPr lang="en-US" sz="2062">
                <a:solidFill>
                  <a:srgbClr val="4C4C4D"/>
                </a:solidFill>
                <a:latin typeface="Heebo"/>
                <a:ea typeface="Heebo"/>
                <a:cs typeface="Heebo"/>
                <a:sym typeface="Heebo"/>
              </a:rPr>
              <a:t>Machine learning suggests best-fit vehicles based on past behaviour.</a:t>
            </a:r>
          </a:p>
        </p:txBody>
      </p:sp>
      <p:grpSp>
        <p:nvGrpSpPr>
          <p:cNvPr id="23" name="Group 23"/>
          <p:cNvGrpSpPr/>
          <p:nvPr/>
        </p:nvGrpSpPr>
        <p:grpSpPr>
          <a:xfrm>
            <a:off x="7850237" y="6752779"/>
            <a:ext cx="9445526" cy="2628900"/>
            <a:chOff x="0" y="0"/>
            <a:chExt cx="12594035" cy="3505200"/>
          </a:xfrm>
        </p:grpSpPr>
        <p:sp>
          <p:nvSpPr>
            <p:cNvPr id="24" name="Freeform 24"/>
            <p:cNvSpPr/>
            <p:nvPr/>
          </p:nvSpPr>
          <p:spPr>
            <a:xfrm>
              <a:off x="0" y="0"/>
              <a:ext cx="12593955" cy="3505200"/>
            </a:xfrm>
            <a:custGeom>
              <a:avLst/>
              <a:gdLst/>
              <a:ahLst/>
              <a:cxnLst/>
              <a:rect l="l" t="t" r="r" b="b"/>
              <a:pathLst>
                <a:path w="12593955" h="3505200">
                  <a:moveTo>
                    <a:pt x="0" y="53848"/>
                  </a:moveTo>
                  <a:cubicBezTo>
                    <a:pt x="0" y="24130"/>
                    <a:pt x="24130" y="0"/>
                    <a:pt x="53848" y="0"/>
                  </a:cubicBezTo>
                  <a:lnTo>
                    <a:pt x="12540107" y="0"/>
                  </a:lnTo>
                  <a:cubicBezTo>
                    <a:pt x="12569825" y="0"/>
                    <a:pt x="12593955" y="24130"/>
                    <a:pt x="12593955" y="53848"/>
                  </a:cubicBezTo>
                  <a:lnTo>
                    <a:pt x="12593955" y="3451352"/>
                  </a:lnTo>
                  <a:cubicBezTo>
                    <a:pt x="12593955" y="3481070"/>
                    <a:pt x="12569825" y="3505200"/>
                    <a:pt x="12540107" y="3505200"/>
                  </a:cubicBezTo>
                  <a:lnTo>
                    <a:pt x="53848" y="3505200"/>
                  </a:lnTo>
                  <a:cubicBezTo>
                    <a:pt x="24130" y="3505200"/>
                    <a:pt x="0" y="3481070"/>
                    <a:pt x="0" y="3451352"/>
                  </a:cubicBezTo>
                  <a:close/>
                </a:path>
              </a:pathLst>
            </a:custGeom>
            <a:solidFill>
              <a:srgbClr val="F2EEEE"/>
            </a:solidFill>
            <a:ln w="12700">
              <a:solidFill>
                <a:srgbClr val="000000"/>
              </a:solidFill>
            </a:ln>
          </p:spPr>
        </p:sp>
      </p:grpSp>
      <p:grpSp>
        <p:nvGrpSpPr>
          <p:cNvPr id="25" name="Group 25"/>
          <p:cNvGrpSpPr/>
          <p:nvPr/>
        </p:nvGrpSpPr>
        <p:grpSpPr>
          <a:xfrm>
            <a:off x="8119467" y="7022009"/>
            <a:ext cx="807988" cy="807988"/>
            <a:chOff x="0" y="0"/>
            <a:chExt cx="1077317" cy="1077317"/>
          </a:xfrm>
        </p:grpSpPr>
        <p:sp>
          <p:nvSpPr>
            <p:cNvPr id="26" name="Freeform 26"/>
            <p:cNvSpPr/>
            <p:nvPr/>
          </p:nvSpPr>
          <p:spPr>
            <a:xfrm>
              <a:off x="0" y="0"/>
              <a:ext cx="1077341" cy="1077341"/>
            </a:xfrm>
            <a:custGeom>
              <a:avLst/>
              <a:gdLst/>
              <a:ahLst/>
              <a:cxnLst/>
              <a:rect l="l" t="t" r="r" b="b"/>
              <a:pathLst>
                <a:path w="1077341" h="1077341">
                  <a:moveTo>
                    <a:pt x="0" y="538607"/>
                  </a:moveTo>
                  <a:cubicBezTo>
                    <a:pt x="0" y="241173"/>
                    <a:pt x="241173" y="0"/>
                    <a:pt x="538607" y="0"/>
                  </a:cubicBezTo>
                  <a:cubicBezTo>
                    <a:pt x="836041" y="0"/>
                    <a:pt x="1077341" y="241173"/>
                    <a:pt x="1077341" y="538607"/>
                  </a:cubicBezTo>
                  <a:cubicBezTo>
                    <a:pt x="1077341" y="836041"/>
                    <a:pt x="836168" y="1077341"/>
                    <a:pt x="538607" y="1077341"/>
                  </a:cubicBezTo>
                  <a:cubicBezTo>
                    <a:pt x="241046" y="1077341"/>
                    <a:pt x="0" y="836168"/>
                    <a:pt x="0" y="538607"/>
                  </a:cubicBezTo>
                  <a:close/>
                </a:path>
              </a:pathLst>
            </a:custGeom>
            <a:solidFill>
              <a:srgbClr val="2150FE"/>
            </a:solidFill>
            <a:ln w="12700">
              <a:solidFill>
                <a:srgbClr val="000000"/>
              </a:solidFill>
            </a:ln>
          </p:spPr>
        </p:sp>
      </p:grpSp>
      <p:sp>
        <p:nvSpPr>
          <p:cNvPr id="27" name="Freeform 27" descr="preencoded.png"/>
          <p:cNvSpPr/>
          <p:nvPr/>
        </p:nvSpPr>
        <p:spPr>
          <a:xfrm>
            <a:off x="8341667" y="7244060"/>
            <a:ext cx="363588" cy="363588"/>
          </a:xfrm>
          <a:custGeom>
            <a:avLst/>
            <a:gdLst/>
            <a:ahLst/>
            <a:cxnLst/>
            <a:rect l="l" t="t" r="r" b="b"/>
            <a:pathLst>
              <a:path w="363588" h="363588">
                <a:moveTo>
                  <a:pt x="0" y="0"/>
                </a:moveTo>
                <a:lnTo>
                  <a:pt x="363588" y="0"/>
                </a:lnTo>
                <a:lnTo>
                  <a:pt x="363588" y="363587"/>
                </a:lnTo>
                <a:lnTo>
                  <a:pt x="0" y="36358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8" name="TextBox 28"/>
          <p:cNvSpPr txBox="1"/>
          <p:nvPr/>
        </p:nvSpPr>
        <p:spPr>
          <a:xfrm>
            <a:off x="8119467" y="8070651"/>
            <a:ext cx="3366939" cy="449312"/>
          </a:xfrm>
          <a:prstGeom prst="rect">
            <a:avLst/>
          </a:prstGeom>
        </p:spPr>
        <p:txBody>
          <a:bodyPr lIns="0" tIns="0" rIns="0" bIns="0" rtlCol="0" anchor="t">
            <a:spAutoFit/>
          </a:bodyPr>
          <a:lstStyle/>
          <a:p>
            <a:pPr algn="l">
              <a:lnSpc>
                <a:spcPts val="3312"/>
              </a:lnSpc>
            </a:pPr>
            <a:r>
              <a:rPr lang="en-US" sz="2625" b="1">
                <a:solidFill>
                  <a:srgbClr val="4C4C4D"/>
                </a:solidFill>
                <a:latin typeface="Crimson Pro Bold"/>
                <a:ea typeface="Crimson Pro Bold"/>
                <a:cs typeface="Crimson Pro Bold"/>
                <a:sym typeface="Crimson Pro Bold"/>
              </a:rPr>
              <a:t>Calendar Integration</a:t>
            </a:r>
          </a:p>
        </p:txBody>
      </p:sp>
      <p:sp>
        <p:nvSpPr>
          <p:cNvPr id="29" name="TextBox 29"/>
          <p:cNvSpPr txBox="1"/>
          <p:nvPr/>
        </p:nvSpPr>
        <p:spPr>
          <a:xfrm>
            <a:off x="8119467" y="8595717"/>
            <a:ext cx="8907066" cy="516731"/>
          </a:xfrm>
          <a:prstGeom prst="rect">
            <a:avLst/>
          </a:prstGeom>
        </p:spPr>
        <p:txBody>
          <a:bodyPr lIns="0" tIns="0" rIns="0" bIns="0" rtlCol="0" anchor="t">
            <a:spAutoFit/>
          </a:bodyPr>
          <a:lstStyle/>
          <a:p>
            <a:pPr algn="l">
              <a:lnSpc>
                <a:spcPts val="3374"/>
              </a:lnSpc>
            </a:pPr>
            <a:r>
              <a:rPr lang="en-US" sz="2062">
                <a:solidFill>
                  <a:srgbClr val="4C4C4D"/>
                </a:solidFill>
                <a:latin typeface="Heebo"/>
                <a:ea typeface="Heebo"/>
                <a:cs typeface="Heebo"/>
                <a:sym typeface="Heebo"/>
              </a:rPr>
              <a:t>Interactive calendar shows real-time availability and dynamic pricing.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0F0F1"/>
            </a:solidFill>
            <a:ln w="12700">
              <a:solidFill>
                <a:srgbClr val="000000"/>
              </a:solidFill>
            </a:ln>
          </p:spPr>
        </p:sp>
      </p:grpSp>
      <p:grpSp>
        <p:nvGrpSpPr>
          <p:cNvPr id="4" name="Group 4"/>
          <p:cNvGrpSpPr/>
          <p:nvPr/>
        </p:nvGrpSpPr>
        <p:grpSpPr>
          <a:xfrm>
            <a:off x="0" y="-3810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a:ln w="12700">
              <a:solidFill>
                <a:srgbClr val="000000"/>
              </a:solidFill>
            </a:ln>
          </p:spPr>
        </p:sp>
      </p:grpSp>
      <p:sp>
        <p:nvSpPr>
          <p:cNvPr id="6" name="TextBox 6"/>
          <p:cNvSpPr txBox="1"/>
          <p:nvPr/>
        </p:nvSpPr>
        <p:spPr>
          <a:xfrm>
            <a:off x="992238" y="1510010"/>
            <a:ext cx="16762362" cy="790986"/>
          </a:xfrm>
          <a:prstGeom prst="rect">
            <a:avLst/>
          </a:prstGeom>
        </p:spPr>
        <p:txBody>
          <a:bodyPr wrap="square" lIns="0" tIns="0" rIns="0" bIns="0" rtlCol="0" anchor="t">
            <a:spAutoFit/>
          </a:bodyPr>
          <a:lstStyle/>
          <a:p>
            <a:pPr algn="l">
              <a:lnSpc>
                <a:spcPts val="6625"/>
              </a:lnSpc>
            </a:pPr>
            <a:r>
              <a:rPr lang="en-US" sz="5250" b="1" dirty="0">
                <a:solidFill>
                  <a:srgbClr val="152D47"/>
                </a:solidFill>
                <a:latin typeface="Crimson Pro Bold"/>
                <a:ea typeface="Crimson Pro Bold"/>
                <a:cs typeface="Crimson Pro Bold"/>
                <a:sym typeface="Crimson Pro Bold"/>
              </a:rPr>
              <a:t>Module 6: Admin Dashboard &amp; Urban Mobility Insights</a:t>
            </a:r>
          </a:p>
        </p:txBody>
      </p:sp>
      <p:sp>
        <p:nvSpPr>
          <p:cNvPr id="7" name="TextBox 7"/>
          <p:cNvSpPr txBox="1"/>
          <p:nvPr/>
        </p:nvSpPr>
        <p:spPr>
          <a:xfrm>
            <a:off x="992238" y="2842766"/>
            <a:ext cx="16303526" cy="947737"/>
          </a:xfrm>
          <a:prstGeom prst="rect">
            <a:avLst/>
          </a:prstGeom>
        </p:spPr>
        <p:txBody>
          <a:bodyPr lIns="0" tIns="0" rIns="0" bIns="0" rtlCol="0" anchor="t">
            <a:spAutoFit/>
          </a:bodyPr>
          <a:lstStyle/>
          <a:p>
            <a:pPr algn="l">
              <a:lnSpc>
                <a:spcPts val="3374"/>
              </a:lnSpc>
            </a:pPr>
            <a:r>
              <a:rPr lang="en-US" sz="2062" dirty="0">
                <a:solidFill>
                  <a:srgbClr val="4C4C4D"/>
                </a:solidFill>
                <a:latin typeface="Heebo"/>
                <a:ea typeface="Heebo"/>
                <a:cs typeface="Heebo"/>
                <a:sym typeface="Heebo"/>
              </a:rPr>
              <a:t>Comprehensive administrative control </a:t>
            </a:r>
            <a:r>
              <a:rPr lang="en-US" sz="2062" dirty="0" err="1">
                <a:solidFill>
                  <a:srgbClr val="4C4C4D"/>
                </a:solidFill>
                <a:latin typeface="Heebo"/>
                <a:ea typeface="Heebo"/>
                <a:cs typeface="Heebo"/>
                <a:sym typeface="Heebo"/>
              </a:rPr>
              <a:t>centre</a:t>
            </a:r>
            <a:r>
              <a:rPr lang="en-US" sz="2062" dirty="0">
                <a:solidFill>
                  <a:srgbClr val="4C4C4D"/>
                </a:solidFill>
                <a:latin typeface="Heebo"/>
                <a:ea typeface="Heebo"/>
                <a:cs typeface="Heebo"/>
                <a:sym typeface="Heebo"/>
              </a:rPr>
              <a:t> providing real-time fleet visibility, urban mobility analytics, and actionable insights. Interactive heatmaps reveal trip density patterns whilst </a:t>
            </a:r>
            <a:r>
              <a:rPr lang="en-US" sz="2062" dirty="0" err="1">
                <a:solidFill>
                  <a:srgbClr val="4C4C4D"/>
                </a:solidFill>
                <a:latin typeface="Heebo"/>
                <a:ea typeface="Heebo"/>
                <a:cs typeface="Heebo"/>
                <a:sym typeface="Heebo"/>
              </a:rPr>
              <a:t>customisable</a:t>
            </a:r>
            <a:r>
              <a:rPr lang="en-US" sz="2062" dirty="0">
                <a:solidFill>
                  <a:srgbClr val="4C4C4D"/>
                </a:solidFill>
                <a:latin typeface="Heebo"/>
                <a:ea typeface="Heebo"/>
                <a:cs typeface="Heebo"/>
                <a:sym typeface="Heebo"/>
              </a:rPr>
              <a:t> reports enable data-driven decision-making for strategic planning.</a:t>
            </a:r>
          </a:p>
        </p:txBody>
      </p:sp>
      <p:sp>
        <p:nvSpPr>
          <p:cNvPr id="8" name="TextBox 8"/>
          <p:cNvSpPr txBox="1"/>
          <p:nvPr/>
        </p:nvSpPr>
        <p:spPr>
          <a:xfrm>
            <a:off x="992238" y="4334172"/>
            <a:ext cx="3366939" cy="449313"/>
          </a:xfrm>
          <a:prstGeom prst="rect">
            <a:avLst/>
          </a:prstGeom>
        </p:spPr>
        <p:txBody>
          <a:bodyPr lIns="0" tIns="0" rIns="0" bIns="0" rtlCol="0" anchor="t">
            <a:spAutoFit/>
          </a:bodyPr>
          <a:lstStyle/>
          <a:p>
            <a:pPr algn="l">
              <a:lnSpc>
                <a:spcPts val="3312"/>
              </a:lnSpc>
            </a:pPr>
            <a:r>
              <a:rPr lang="en-US" sz="2625" b="1">
                <a:solidFill>
                  <a:srgbClr val="4C4C4D"/>
                </a:solidFill>
                <a:latin typeface="Crimson Pro Bold"/>
                <a:ea typeface="Crimson Pro Bold"/>
                <a:cs typeface="Crimson Pro Bold"/>
                <a:sym typeface="Crimson Pro Bold"/>
              </a:rPr>
              <a:t>KPI Monitoring</a:t>
            </a:r>
          </a:p>
        </p:txBody>
      </p:sp>
      <p:sp>
        <p:nvSpPr>
          <p:cNvPr id="9" name="TextBox 9"/>
          <p:cNvSpPr txBox="1"/>
          <p:nvPr/>
        </p:nvSpPr>
        <p:spPr>
          <a:xfrm>
            <a:off x="992238" y="4859239"/>
            <a:ext cx="5210026" cy="947737"/>
          </a:xfrm>
          <a:prstGeom prst="rect">
            <a:avLst/>
          </a:prstGeom>
        </p:spPr>
        <p:txBody>
          <a:bodyPr lIns="0" tIns="0" rIns="0" bIns="0" rtlCol="0" anchor="t">
            <a:spAutoFit/>
          </a:bodyPr>
          <a:lstStyle/>
          <a:p>
            <a:pPr algn="l">
              <a:lnSpc>
                <a:spcPts val="3374"/>
              </a:lnSpc>
            </a:pPr>
            <a:r>
              <a:rPr lang="en-US" sz="2062">
                <a:solidFill>
                  <a:srgbClr val="4C4C4D"/>
                </a:solidFill>
                <a:latin typeface="Heebo"/>
                <a:ea typeface="Heebo"/>
                <a:cs typeface="Heebo"/>
                <a:sym typeface="Heebo"/>
              </a:rPr>
              <a:t>Total fleet, daily trips, and active routes tracked in real-time</a:t>
            </a:r>
          </a:p>
        </p:txBody>
      </p:sp>
      <p:sp>
        <p:nvSpPr>
          <p:cNvPr id="15" name="TextBox 15"/>
          <p:cNvSpPr txBox="1"/>
          <p:nvPr/>
        </p:nvSpPr>
        <p:spPr>
          <a:xfrm>
            <a:off x="6539061" y="4381500"/>
            <a:ext cx="3366939" cy="449313"/>
          </a:xfrm>
          <a:prstGeom prst="rect">
            <a:avLst/>
          </a:prstGeom>
        </p:spPr>
        <p:txBody>
          <a:bodyPr lIns="0" tIns="0" rIns="0" bIns="0" rtlCol="0" anchor="t">
            <a:spAutoFit/>
          </a:bodyPr>
          <a:lstStyle/>
          <a:p>
            <a:pPr algn="l">
              <a:lnSpc>
                <a:spcPts val="3312"/>
              </a:lnSpc>
            </a:pPr>
            <a:r>
              <a:rPr lang="en-US" sz="2625" b="1" dirty="0">
                <a:solidFill>
                  <a:srgbClr val="4C4C4D"/>
                </a:solidFill>
                <a:latin typeface="Crimson Pro Bold"/>
                <a:ea typeface="Crimson Pro Bold"/>
                <a:cs typeface="Crimson Pro Bold"/>
                <a:sym typeface="Crimson Pro Bold"/>
              </a:rPr>
              <a:t>Heatmap </a:t>
            </a:r>
            <a:r>
              <a:rPr lang="en-US" sz="2625" b="1" dirty="0" err="1">
                <a:solidFill>
                  <a:srgbClr val="4C4C4D"/>
                </a:solidFill>
                <a:latin typeface="Crimson Pro Bold"/>
                <a:ea typeface="Crimson Pro Bold"/>
                <a:cs typeface="Crimson Pro Bold"/>
                <a:sym typeface="Crimson Pro Bold"/>
              </a:rPr>
              <a:t>Visualisation</a:t>
            </a:r>
            <a:endParaRPr lang="en-US" sz="2625" b="1" dirty="0">
              <a:solidFill>
                <a:srgbClr val="4C4C4D"/>
              </a:solidFill>
              <a:latin typeface="Crimson Pro Bold"/>
              <a:ea typeface="Crimson Pro Bold"/>
              <a:cs typeface="Crimson Pro Bold"/>
              <a:sym typeface="Crimson Pro Bold"/>
            </a:endParaRPr>
          </a:p>
        </p:txBody>
      </p:sp>
      <p:sp>
        <p:nvSpPr>
          <p:cNvPr id="16" name="TextBox 16"/>
          <p:cNvSpPr txBox="1"/>
          <p:nvPr/>
        </p:nvSpPr>
        <p:spPr>
          <a:xfrm>
            <a:off x="6538912" y="4859239"/>
            <a:ext cx="5210026" cy="947737"/>
          </a:xfrm>
          <a:prstGeom prst="rect">
            <a:avLst/>
          </a:prstGeom>
        </p:spPr>
        <p:txBody>
          <a:bodyPr lIns="0" tIns="0" rIns="0" bIns="0" rtlCol="0" anchor="t">
            <a:spAutoFit/>
          </a:bodyPr>
          <a:lstStyle/>
          <a:p>
            <a:pPr algn="l">
              <a:lnSpc>
                <a:spcPts val="3374"/>
              </a:lnSpc>
            </a:pPr>
            <a:r>
              <a:rPr lang="en-US" sz="2062" dirty="0">
                <a:solidFill>
                  <a:srgbClr val="4C4C4D"/>
                </a:solidFill>
                <a:latin typeface="Heebo"/>
                <a:ea typeface="Heebo"/>
                <a:cs typeface="Heebo"/>
                <a:sym typeface="Heebo"/>
              </a:rPr>
              <a:t>Geographic distribution overlaid on city layouts with density indicators</a:t>
            </a:r>
          </a:p>
        </p:txBody>
      </p:sp>
      <p:sp>
        <p:nvSpPr>
          <p:cNvPr id="22" name="TextBox 22"/>
          <p:cNvSpPr txBox="1"/>
          <p:nvPr/>
        </p:nvSpPr>
        <p:spPr>
          <a:xfrm>
            <a:off x="12101661" y="4372048"/>
            <a:ext cx="3366939" cy="449313"/>
          </a:xfrm>
          <a:prstGeom prst="rect">
            <a:avLst/>
          </a:prstGeom>
        </p:spPr>
        <p:txBody>
          <a:bodyPr lIns="0" tIns="0" rIns="0" bIns="0" rtlCol="0" anchor="t">
            <a:spAutoFit/>
          </a:bodyPr>
          <a:lstStyle/>
          <a:p>
            <a:pPr algn="l">
              <a:lnSpc>
                <a:spcPts val="3312"/>
              </a:lnSpc>
            </a:pPr>
            <a:r>
              <a:rPr lang="en-US" sz="2625" b="1" dirty="0">
                <a:solidFill>
                  <a:srgbClr val="4C4C4D"/>
                </a:solidFill>
                <a:latin typeface="Crimson Pro Bold"/>
                <a:ea typeface="Crimson Pro Bold"/>
                <a:cs typeface="Crimson Pro Bold"/>
                <a:sym typeface="Crimson Pro Bold"/>
              </a:rPr>
              <a:t>Activity Analytics</a:t>
            </a:r>
          </a:p>
        </p:txBody>
      </p:sp>
      <p:sp>
        <p:nvSpPr>
          <p:cNvPr id="23" name="TextBox 23"/>
          <p:cNvSpPr txBox="1"/>
          <p:nvPr/>
        </p:nvSpPr>
        <p:spPr>
          <a:xfrm>
            <a:off x="12085587" y="4859239"/>
            <a:ext cx="5210175" cy="947737"/>
          </a:xfrm>
          <a:prstGeom prst="rect">
            <a:avLst/>
          </a:prstGeom>
        </p:spPr>
        <p:txBody>
          <a:bodyPr lIns="0" tIns="0" rIns="0" bIns="0" rtlCol="0" anchor="t">
            <a:spAutoFit/>
          </a:bodyPr>
          <a:lstStyle/>
          <a:p>
            <a:pPr algn="l">
              <a:lnSpc>
                <a:spcPts val="3374"/>
              </a:lnSpc>
            </a:pPr>
            <a:r>
              <a:rPr lang="en-US" sz="2062">
                <a:solidFill>
                  <a:srgbClr val="4C4C4D"/>
                </a:solidFill>
                <a:latin typeface="Heebo"/>
                <a:ea typeface="Heebo"/>
                <a:cs typeface="Heebo"/>
                <a:sym typeface="Heebo"/>
              </a:rPr>
              <a:t>Bar charts showing hourly rental patterns and usage trends</a:t>
            </a:r>
          </a:p>
        </p:txBody>
      </p:sp>
      <p:grpSp>
        <p:nvGrpSpPr>
          <p:cNvPr id="24" name="Group 24"/>
          <p:cNvGrpSpPr/>
          <p:nvPr/>
        </p:nvGrpSpPr>
        <p:grpSpPr>
          <a:xfrm>
            <a:off x="992238" y="6109990"/>
            <a:ext cx="8017074" cy="2628900"/>
            <a:chOff x="0" y="0"/>
            <a:chExt cx="10689432" cy="3505200"/>
          </a:xfrm>
        </p:grpSpPr>
        <p:sp>
          <p:nvSpPr>
            <p:cNvPr id="25" name="Freeform 25"/>
            <p:cNvSpPr/>
            <p:nvPr/>
          </p:nvSpPr>
          <p:spPr>
            <a:xfrm>
              <a:off x="0" y="0"/>
              <a:ext cx="10689336" cy="3505200"/>
            </a:xfrm>
            <a:custGeom>
              <a:avLst/>
              <a:gdLst/>
              <a:ahLst/>
              <a:cxnLst/>
              <a:rect l="l" t="t" r="r" b="b"/>
              <a:pathLst>
                <a:path w="10689336" h="3505200">
                  <a:moveTo>
                    <a:pt x="0" y="53848"/>
                  </a:moveTo>
                  <a:cubicBezTo>
                    <a:pt x="0" y="24130"/>
                    <a:pt x="24130" y="0"/>
                    <a:pt x="53848" y="0"/>
                  </a:cubicBezTo>
                  <a:lnTo>
                    <a:pt x="10635488" y="0"/>
                  </a:lnTo>
                  <a:cubicBezTo>
                    <a:pt x="10665206" y="0"/>
                    <a:pt x="10689336" y="24130"/>
                    <a:pt x="10689336" y="53848"/>
                  </a:cubicBezTo>
                  <a:lnTo>
                    <a:pt x="10689336" y="3451352"/>
                  </a:lnTo>
                  <a:cubicBezTo>
                    <a:pt x="10689336" y="3481070"/>
                    <a:pt x="10665206" y="3505200"/>
                    <a:pt x="10635488" y="3505200"/>
                  </a:cubicBezTo>
                  <a:lnTo>
                    <a:pt x="53848" y="3505200"/>
                  </a:lnTo>
                  <a:cubicBezTo>
                    <a:pt x="24130" y="3505200"/>
                    <a:pt x="0" y="3481070"/>
                    <a:pt x="0" y="3451352"/>
                  </a:cubicBezTo>
                  <a:close/>
                </a:path>
              </a:pathLst>
            </a:custGeom>
            <a:solidFill>
              <a:srgbClr val="F2EEEE"/>
            </a:solidFill>
            <a:ln w="12700">
              <a:solidFill>
                <a:srgbClr val="000000"/>
              </a:solidFill>
            </a:ln>
          </p:spPr>
        </p:sp>
      </p:grpSp>
      <p:grpSp>
        <p:nvGrpSpPr>
          <p:cNvPr id="26" name="Group 26"/>
          <p:cNvGrpSpPr/>
          <p:nvPr/>
        </p:nvGrpSpPr>
        <p:grpSpPr>
          <a:xfrm>
            <a:off x="1261468" y="6379220"/>
            <a:ext cx="807987" cy="807988"/>
            <a:chOff x="0" y="0"/>
            <a:chExt cx="1077317" cy="1077317"/>
          </a:xfrm>
        </p:grpSpPr>
        <p:sp>
          <p:nvSpPr>
            <p:cNvPr id="27" name="Freeform 27"/>
            <p:cNvSpPr/>
            <p:nvPr/>
          </p:nvSpPr>
          <p:spPr>
            <a:xfrm>
              <a:off x="0" y="0"/>
              <a:ext cx="1077341" cy="1077341"/>
            </a:xfrm>
            <a:custGeom>
              <a:avLst/>
              <a:gdLst/>
              <a:ahLst/>
              <a:cxnLst/>
              <a:rect l="l" t="t" r="r" b="b"/>
              <a:pathLst>
                <a:path w="1077341" h="1077341">
                  <a:moveTo>
                    <a:pt x="0" y="538607"/>
                  </a:moveTo>
                  <a:cubicBezTo>
                    <a:pt x="0" y="241173"/>
                    <a:pt x="241173" y="0"/>
                    <a:pt x="538607" y="0"/>
                  </a:cubicBezTo>
                  <a:cubicBezTo>
                    <a:pt x="836041" y="0"/>
                    <a:pt x="1077341" y="241173"/>
                    <a:pt x="1077341" y="538607"/>
                  </a:cubicBezTo>
                  <a:cubicBezTo>
                    <a:pt x="1077341" y="836041"/>
                    <a:pt x="836168" y="1077341"/>
                    <a:pt x="538607" y="1077341"/>
                  </a:cubicBezTo>
                  <a:cubicBezTo>
                    <a:pt x="241046" y="1077341"/>
                    <a:pt x="0" y="836168"/>
                    <a:pt x="0" y="538607"/>
                  </a:cubicBezTo>
                  <a:close/>
                </a:path>
              </a:pathLst>
            </a:custGeom>
            <a:solidFill>
              <a:srgbClr val="2150FE"/>
            </a:solidFill>
            <a:ln w="12700">
              <a:solidFill>
                <a:srgbClr val="000000"/>
              </a:solidFill>
            </a:ln>
          </p:spPr>
        </p:sp>
      </p:grpSp>
      <p:sp>
        <p:nvSpPr>
          <p:cNvPr id="28" name="Freeform 28" descr="preencoded.png"/>
          <p:cNvSpPr/>
          <p:nvPr/>
        </p:nvSpPr>
        <p:spPr>
          <a:xfrm>
            <a:off x="1483668" y="6601271"/>
            <a:ext cx="363588" cy="363588"/>
          </a:xfrm>
          <a:custGeom>
            <a:avLst/>
            <a:gdLst/>
            <a:ahLst/>
            <a:cxnLst/>
            <a:rect l="l" t="t" r="r" b="b"/>
            <a:pathLst>
              <a:path w="363588" h="363588">
                <a:moveTo>
                  <a:pt x="0" y="0"/>
                </a:moveTo>
                <a:lnTo>
                  <a:pt x="363587" y="0"/>
                </a:lnTo>
                <a:lnTo>
                  <a:pt x="363587" y="363588"/>
                </a:lnTo>
                <a:lnTo>
                  <a:pt x="0" y="363588"/>
                </a:lnTo>
                <a:lnTo>
                  <a:pt x="0" y="0"/>
                </a:lnTo>
                <a:close/>
              </a:path>
            </a:pathLst>
          </a:custGeom>
          <a:blipFill>
            <a:blip r:embed="rId3">
              <a:extLst>
                <a:ext uri="{96DAC541-7B7A-43D3-8B79-37D633B846F1}">
                  <asvg:svgBlip xmlns:asvg="http://schemas.microsoft.com/office/drawing/2016/SVG/main" r:embed="rId4"/>
                </a:ext>
              </a:extLst>
            </a:blip>
            <a:stretch>
              <a:fillRect t="-7692" b="-7692"/>
            </a:stretch>
          </a:blipFill>
        </p:spPr>
      </p:sp>
      <p:sp>
        <p:nvSpPr>
          <p:cNvPr id="29" name="TextBox 29"/>
          <p:cNvSpPr txBox="1"/>
          <p:nvPr/>
        </p:nvSpPr>
        <p:spPr>
          <a:xfrm>
            <a:off x="1261468" y="7427862"/>
            <a:ext cx="3366939" cy="449312"/>
          </a:xfrm>
          <a:prstGeom prst="rect">
            <a:avLst/>
          </a:prstGeom>
        </p:spPr>
        <p:txBody>
          <a:bodyPr lIns="0" tIns="0" rIns="0" bIns="0" rtlCol="0" anchor="t">
            <a:spAutoFit/>
          </a:bodyPr>
          <a:lstStyle/>
          <a:p>
            <a:pPr algn="l">
              <a:lnSpc>
                <a:spcPts val="3312"/>
              </a:lnSpc>
            </a:pPr>
            <a:r>
              <a:rPr lang="en-US" sz="2625" b="1">
                <a:solidFill>
                  <a:srgbClr val="4C4C4D"/>
                </a:solidFill>
                <a:latin typeface="Crimson Pro Bold"/>
                <a:ea typeface="Crimson Pro Bold"/>
                <a:cs typeface="Crimson Pro Bold"/>
                <a:sym typeface="Crimson Pro Bold"/>
              </a:rPr>
              <a:t>Exportable Reports</a:t>
            </a:r>
          </a:p>
        </p:txBody>
      </p:sp>
      <p:sp>
        <p:nvSpPr>
          <p:cNvPr id="30" name="TextBox 30"/>
          <p:cNvSpPr txBox="1"/>
          <p:nvPr/>
        </p:nvSpPr>
        <p:spPr>
          <a:xfrm>
            <a:off x="1261468" y="7952929"/>
            <a:ext cx="7478614" cy="516731"/>
          </a:xfrm>
          <a:prstGeom prst="rect">
            <a:avLst/>
          </a:prstGeom>
        </p:spPr>
        <p:txBody>
          <a:bodyPr lIns="0" tIns="0" rIns="0" bIns="0" rtlCol="0" anchor="t">
            <a:spAutoFit/>
          </a:bodyPr>
          <a:lstStyle/>
          <a:p>
            <a:pPr algn="l">
              <a:lnSpc>
                <a:spcPts val="3374"/>
              </a:lnSpc>
            </a:pPr>
            <a:r>
              <a:rPr lang="en-US" sz="2062">
                <a:solidFill>
                  <a:srgbClr val="4C4C4D"/>
                </a:solidFill>
                <a:latin typeface="Heebo"/>
                <a:ea typeface="Heebo"/>
                <a:cs typeface="Heebo"/>
                <a:sym typeface="Heebo"/>
              </a:rPr>
              <a:t>CSV and PDF formats for compliance and analysis</a:t>
            </a:r>
          </a:p>
        </p:txBody>
      </p:sp>
      <p:grpSp>
        <p:nvGrpSpPr>
          <p:cNvPr id="31" name="Group 31"/>
          <p:cNvGrpSpPr/>
          <p:nvPr/>
        </p:nvGrpSpPr>
        <p:grpSpPr>
          <a:xfrm>
            <a:off x="9278541" y="6109990"/>
            <a:ext cx="8017222" cy="2628900"/>
            <a:chOff x="0" y="0"/>
            <a:chExt cx="10689630" cy="3505200"/>
          </a:xfrm>
        </p:grpSpPr>
        <p:sp>
          <p:nvSpPr>
            <p:cNvPr id="32" name="Freeform 32"/>
            <p:cNvSpPr/>
            <p:nvPr/>
          </p:nvSpPr>
          <p:spPr>
            <a:xfrm>
              <a:off x="0" y="0"/>
              <a:ext cx="10689590" cy="3505200"/>
            </a:xfrm>
            <a:custGeom>
              <a:avLst/>
              <a:gdLst/>
              <a:ahLst/>
              <a:cxnLst/>
              <a:rect l="l" t="t" r="r" b="b"/>
              <a:pathLst>
                <a:path w="10689590" h="3505200">
                  <a:moveTo>
                    <a:pt x="0" y="53848"/>
                  </a:moveTo>
                  <a:cubicBezTo>
                    <a:pt x="0" y="24130"/>
                    <a:pt x="24130" y="0"/>
                    <a:pt x="53848" y="0"/>
                  </a:cubicBezTo>
                  <a:lnTo>
                    <a:pt x="10635742" y="0"/>
                  </a:lnTo>
                  <a:cubicBezTo>
                    <a:pt x="10665461" y="0"/>
                    <a:pt x="10689590" y="24130"/>
                    <a:pt x="10689590" y="53848"/>
                  </a:cubicBezTo>
                  <a:lnTo>
                    <a:pt x="10689590" y="3451352"/>
                  </a:lnTo>
                  <a:cubicBezTo>
                    <a:pt x="10689590" y="3481070"/>
                    <a:pt x="10665461" y="3505200"/>
                    <a:pt x="10635742" y="3505200"/>
                  </a:cubicBezTo>
                  <a:lnTo>
                    <a:pt x="53848" y="3505200"/>
                  </a:lnTo>
                  <a:cubicBezTo>
                    <a:pt x="24130" y="3505200"/>
                    <a:pt x="0" y="3481070"/>
                    <a:pt x="0" y="3451352"/>
                  </a:cubicBezTo>
                  <a:close/>
                </a:path>
              </a:pathLst>
            </a:custGeom>
            <a:solidFill>
              <a:srgbClr val="F2EEEE"/>
            </a:solidFill>
            <a:ln w="12700">
              <a:solidFill>
                <a:srgbClr val="000000"/>
              </a:solidFill>
            </a:ln>
          </p:spPr>
        </p:sp>
      </p:grpSp>
      <p:grpSp>
        <p:nvGrpSpPr>
          <p:cNvPr id="33" name="Group 33"/>
          <p:cNvGrpSpPr/>
          <p:nvPr/>
        </p:nvGrpSpPr>
        <p:grpSpPr>
          <a:xfrm>
            <a:off x="9547771" y="6379220"/>
            <a:ext cx="807988" cy="807988"/>
            <a:chOff x="0" y="0"/>
            <a:chExt cx="1077317" cy="1077317"/>
          </a:xfrm>
        </p:grpSpPr>
        <p:sp>
          <p:nvSpPr>
            <p:cNvPr id="34" name="Freeform 34"/>
            <p:cNvSpPr/>
            <p:nvPr/>
          </p:nvSpPr>
          <p:spPr>
            <a:xfrm>
              <a:off x="0" y="0"/>
              <a:ext cx="1077341" cy="1077341"/>
            </a:xfrm>
            <a:custGeom>
              <a:avLst/>
              <a:gdLst/>
              <a:ahLst/>
              <a:cxnLst/>
              <a:rect l="l" t="t" r="r" b="b"/>
              <a:pathLst>
                <a:path w="1077341" h="1077341">
                  <a:moveTo>
                    <a:pt x="0" y="538607"/>
                  </a:moveTo>
                  <a:cubicBezTo>
                    <a:pt x="0" y="241173"/>
                    <a:pt x="241173" y="0"/>
                    <a:pt x="538607" y="0"/>
                  </a:cubicBezTo>
                  <a:cubicBezTo>
                    <a:pt x="836041" y="0"/>
                    <a:pt x="1077341" y="241173"/>
                    <a:pt x="1077341" y="538607"/>
                  </a:cubicBezTo>
                  <a:cubicBezTo>
                    <a:pt x="1077341" y="836041"/>
                    <a:pt x="836168" y="1077341"/>
                    <a:pt x="538607" y="1077341"/>
                  </a:cubicBezTo>
                  <a:cubicBezTo>
                    <a:pt x="241046" y="1077341"/>
                    <a:pt x="0" y="836168"/>
                    <a:pt x="0" y="538607"/>
                  </a:cubicBezTo>
                  <a:close/>
                </a:path>
              </a:pathLst>
            </a:custGeom>
            <a:solidFill>
              <a:srgbClr val="2150FE"/>
            </a:solidFill>
            <a:ln w="12700">
              <a:solidFill>
                <a:srgbClr val="000000"/>
              </a:solidFill>
            </a:ln>
          </p:spPr>
        </p:sp>
      </p:grpSp>
      <p:sp>
        <p:nvSpPr>
          <p:cNvPr id="35" name="Freeform 35" descr="preencoded.png"/>
          <p:cNvSpPr/>
          <p:nvPr/>
        </p:nvSpPr>
        <p:spPr>
          <a:xfrm>
            <a:off x="9769971" y="6601271"/>
            <a:ext cx="363588" cy="363588"/>
          </a:xfrm>
          <a:custGeom>
            <a:avLst/>
            <a:gdLst/>
            <a:ahLst/>
            <a:cxnLst/>
            <a:rect l="l" t="t" r="r" b="b"/>
            <a:pathLst>
              <a:path w="363588" h="363588">
                <a:moveTo>
                  <a:pt x="0" y="0"/>
                </a:moveTo>
                <a:lnTo>
                  <a:pt x="363588" y="0"/>
                </a:lnTo>
                <a:lnTo>
                  <a:pt x="363588" y="363588"/>
                </a:lnTo>
                <a:lnTo>
                  <a:pt x="0" y="36358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36" name="TextBox 36"/>
          <p:cNvSpPr txBox="1"/>
          <p:nvPr/>
        </p:nvSpPr>
        <p:spPr>
          <a:xfrm>
            <a:off x="9547771" y="7427862"/>
            <a:ext cx="3366939" cy="449312"/>
          </a:xfrm>
          <a:prstGeom prst="rect">
            <a:avLst/>
          </a:prstGeom>
        </p:spPr>
        <p:txBody>
          <a:bodyPr lIns="0" tIns="0" rIns="0" bIns="0" rtlCol="0" anchor="t">
            <a:spAutoFit/>
          </a:bodyPr>
          <a:lstStyle/>
          <a:p>
            <a:pPr algn="l">
              <a:lnSpc>
                <a:spcPts val="3312"/>
              </a:lnSpc>
            </a:pPr>
            <a:r>
              <a:rPr lang="en-US" sz="2625" b="1">
                <a:solidFill>
                  <a:srgbClr val="4C4C4D"/>
                </a:solidFill>
                <a:latin typeface="Crimson Pro Bold"/>
                <a:ea typeface="Crimson Pro Bold"/>
                <a:cs typeface="Crimson Pro Bold"/>
                <a:sym typeface="Crimson Pro Bold"/>
              </a:rPr>
              <a:t>Chart.js Integration</a:t>
            </a:r>
          </a:p>
        </p:txBody>
      </p:sp>
      <p:sp>
        <p:nvSpPr>
          <p:cNvPr id="37" name="TextBox 37"/>
          <p:cNvSpPr txBox="1"/>
          <p:nvPr/>
        </p:nvSpPr>
        <p:spPr>
          <a:xfrm>
            <a:off x="9547771" y="7952929"/>
            <a:ext cx="7478762" cy="516731"/>
          </a:xfrm>
          <a:prstGeom prst="rect">
            <a:avLst/>
          </a:prstGeom>
        </p:spPr>
        <p:txBody>
          <a:bodyPr lIns="0" tIns="0" rIns="0" bIns="0" rtlCol="0" anchor="t">
            <a:spAutoFit/>
          </a:bodyPr>
          <a:lstStyle/>
          <a:p>
            <a:pPr algn="l">
              <a:lnSpc>
                <a:spcPts val="3374"/>
              </a:lnSpc>
            </a:pPr>
            <a:r>
              <a:rPr lang="en-US" sz="2062">
                <a:solidFill>
                  <a:srgbClr val="4C4C4D"/>
                </a:solidFill>
                <a:latin typeface="Heebo"/>
                <a:ea typeface="Heebo"/>
                <a:cs typeface="Heebo"/>
                <a:sym typeface="Heebo"/>
              </a:rPr>
              <a:t>Dynamic visualisations with ApexCharts and Recharts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0F0F1"/>
            </a:solidFill>
            <a:ln w="12700">
              <a:solidFill>
                <a:srgbClr val="000000"/>
              </a:solidFill>
            </a:ln>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a:ln w="12700">
              <a:solidFill>
                <a:srgbClr val="000000"/>
              </a:solidFill>
            </a:ln>
          </p:spPr>
        </p:sp>
      </p:grpSp>
      <p:grpSp>
        <p:nvGrpSpPr>
          <p:cNvPr id="6" name="Group 6"/>
          <p:cNvGrpSpPr>
            <a:grpSpLocks noChangeAspect="1"/>
          </p:cNvGrpSpPr>
          <p:nvPr/>
        </p:nvGrpSpPr>
        <p:grpSpPr>
          <a:xfrm>
            <a:off x="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3"/>
              <a:stretch>
                <a:fillRect/>
              </a:stretch>
            </a:blipFill>
          </p:spPr>
        </p:sp>
      </p:grpSp>
      <p:sp>
        <p:nvSpPr>
          <p:cNvPr id="8" name="TextBox 8"/>
          <p:cNvSpPr txBox="1"/>
          <p:nvPr/>
        </p:nvSpPr>
        <p:spPr>
          <a:xfrm>
            <a:off x="7850237" y="1278136"/>
            <a:ext cx="4607421" cy="595015"/>
          </a:xfrm>
          <a:prstGeom prst="rect">
            <a:avLst/>
          </a:prstGeom>
        </p:spPr>
        <p:txBody>
          <a:bodyPr lIns="0" tIns="0" rIns="0" bIns="0" rtlCol="0" anchor="t">
            <a:spAutoFit/>
          </a:bodyPr>
          <a:lstStyle/>
          <a:p>
            <a:pPr algn="l">
              <a:lnSpc>
                <a:spcPts val="4499"/>
              </a:lnSpc>
            </a:pPr>
            <a:r>
              <a:rPr lang="en-US" sz="3625" b="1">
                <a:solidFill>
                  <a:srgbClr val="152D47"/>
                </a:solidFill>
                <a:latin typeface="Crimson Pro Bold"/>
                <a:ea typeface="Crimson Pro Bold"/>
                <a:cs typeface="Crimson Pro Bold"/>
                <a:sym typeface="Crimson Pro Bold"/>
              </a:rPr>
              <a:t>Technology Stack</a:t>
            </a:r>
          </a:p>
        </p:txBody>
      </p:sp>
      <p:grpSp>
        <p:nvGrpSpPr>
          <p:cNvPr id="9" name="Group 9"/>
          <p:cNvGrpSpPr/>
          <p:nvPr/>
        </p:nvGrpSpPr>
        <p:grpSpPr>
          <a:xfrm>
            <a:off x="7840712" y="2347318"/>
            <a:ext cx="4517082" cy="1487240"/>
            <a:chOff x="0" y="0"/>
            <a:chExt cx="6022777" cy="1982987"/>
          </a:xfrm>
        </p:grpSpPr>
        <p:sp>
          <p:nvSpPr>
            <p:cNvPr id="10" name="Freeform 10"/>
            <p:cNvSpPr/>
            <p:nvPr/>
          </p:nvSpPr>
          <p:spPr>
            <a:xfrm>
              <a:off x="12700" y="12700"/>
              <a:ext cx="5997321" cy="1957578"/>
            </a:xfrm>
            <a:custGeom>
              <a:avLst/>
              <a:gdLst/>
              <a:ahLst/>
              <a:cxnLst/>
              <a:rect l="l" t="t" r="r" b="b"/>
              <a:pathLst>
                <a:path w="5997321" h="1957578">
                  <a:moveTo>
                    <a:pt x="0" y="121920"/>
                  </a:moveTo>
                  <a:cubicBezTo>
                    <a:pt x="0" y="54610"/>
                    <a:pt x="55118" y="0"/>
                    <a:pt x="122936" y="0"/>
                  </a:cubicBezTo>
                  <a:lnTo>
                    <a:pt x="5874385" y="0"/>
                  </a:lnTo>
                  <a:cubicBezTo>
                    <a:pt x="5942330" y="0"/>
                    <a:pt x="5997321" y="54610"/>
                    <a:pt x="5997321" y="121920"/>
                  </a:cubicBezTo>
                  <a:lnTo>
                    <a:pt x="5997321" y="1835658"/>
                  </a:lnTo>
                  <a:cubicBezTo>
                    <a:pt x="5997321" y="1902968"/>
                    <a:pt x="5942203" y="1957578"/>
                    <a:pt x="5874385" y="1957578"/>
                  </a:cubicBezTo>
                  <a:lnTo>
                    <a:pt x="122936" y="1957578"/>
                  </a:lnTo>
                  <a:cubicBezTo>
                    <a:pt x="54991" y="1957578"/>
                    <a:pt x="0" y="1902968"/>
                    <a:pt x="0" y="1835658"/>
                  </a:cubicBezTo>
                  <a:close/>
                </a:path>
              </a:pathLst>
            </a:custGeom>
            <a:solidFill>
              <a:srgbClr val="FFFFFF"/>
            </a:solidFill>
            <a:ln w="12700">
              <a:solidFill>
                <a:srgbClr val="000000"/>
              </a:solidFill>
            </a:ln>
          </p:spPr>
        </p:sp>
        <p:sp>
          <p:nvSpPr>
            <p:cNvPr id="11" name="Freeform 11"/>
            <p:cNvSpPr/>
            <p:nvPr/>
          </p:nvSpPr>
          <p:spPr>
            <a:xfrm>
              <a:off x="0" y="0"/>
              <a:ext cx="6022721" cy="1982978"/>
            </a:xfrm>
            <a:custGeom>
              <a:avLst/>
              <a:gdLst/>
              <a:ahLst/>
              <a:cxnLst/>
              <a:rect l="l" t="t" r="r" b="b"/>
              <a:pathLst>
                <a:path w="6022721" h="1982978">
                  <a:moveTo>
                    <a:pt x="0" y="134620"/>
                  </a:moveTo>
                  <a:cubicBezTo>
                    <a:pt x="0" y="60198"/>
                    <a:pt x="60833" y="0"/>
                    <a:pt x="135636" y="0"/>
                  </a:cubicBezTo>
                  <a:lnTo>
                    <a:pt x="5887085" y="0"/>
                  </a:lnTo>
                  <a:lnTo>
                    <a:pt x="5887085" y="12700"/>
                  </a:lnTo>
                  <a:lnTo>
                    <a:pt x="5887085" y="0"/>
                  </a:lnTo>
                  <a:cubicBezTo>
                    <a:pt x="5961888" y="0"/>
                    <a:pt x="6022721" y="60198"/>
                    <a:pt x="6022721" y="134620"/>
                  </a:cubicBezTo>
                  <a:lnTo>
                    <a:pt x="6010021" y="134620"/>
                  </a:lnTo>
                  <a:lnTo>
                    <a:pt x="6022721" y="134620"/>
                  </a:lnTo>
                  <a:lnTo>
                    <a:pt x="6022721" y="1848358"/>
                  </a:lnTo>
                  <a:lnTo>
                    <a:pt x="6010021" y="1848358"/>
                  </a:lnTo>
                  <a:lnTo>
                    <a:pt x="6022721" y="1848358"/>
                  </a:lnTo>
                  <a:cubicBezTo>
                    <a:pt x="6022721" y="1922780"/>
                    <a:pt x="5961888" y="1982978"/>
                    <a:pt x="5887085" y="1982978"/>
                  </a:cubicBezTo>
                  <a:lnTo>
                    <a:pt x="5887085" y="1970278"/>
                  </a:lnTo>
                  <a:lnTo>
                    <a:pt x="5887085" y="1982978"/>
                  </a:lnTo>
                  <a:lnTo>
                    <a:pt x="135636" y="1982978"/>
                  </a:lnTo>
                  <a:lnTo>
                    <a:pt x="135636" y="1970278"/>
                  </a:lnTo>
                  <a:lnTo>
                    <a:pt x="135636" y="1982978"/>
                  </a:lnTo>
                  <a:cubicBezTo>
                    <a:pt x="60833" y="1982978"/>
                    <a:pt x="0" y="1922780"/>
                    <a:pt x="0" y="1848358"/>
                  </a:cubicBezTo>
                  <a:lnTo>
                    <a:pt x="0" y="134620"/>
                  </a:lnTo>
                  <a:lnTo>
                    <a:pt x="12700" y="134620"/>
                  </a:lnTo>
                  <a:lnTo>
                    <a:pt x="0" y="134620"/>
                  </a:lnTo>
                  <a:moveTo>
                    <a:pt x="25400" y="134620"/>
                  </a:moveTo>
                  <a:lnTo>
                    <a:pt x="25400" y="1848358"/>
                  </a:lnTo>
                  <a:lnTo>
                    <a:pt x="12700" y="1848358"/>
                  </a:lnTo>
                  <a:lnTo>
                    <a:pt x="25400" y="1848358"/>
                  </a:lnTo>
                  <a:cubicBezTo>
                    <a:pt x="25400" y="1908556"/>
                    <a:pt x="74676" y="1957578"/>
                    <a:pt x="135636" y="1957578"/>
                  </a:cubicBezTo>
                  <a:lnTo>
                    <a:pt x="5887085" y="1957578"/>
                  </a:lnTo>
                  <a:cubicBezTo>
                    <a:pt x="5948045" y="1957578"/>
                    <a:pt x="5997321" y="1908556"/>
                    <a:pt x="5997321" y="1848358"/>
                  </a:cubicBezTo>
                  <a:lnTo>
                    <a:pt x="5997321" y="134620"/>
                  </a:lnTo>
                  <a:cubicBezTo>
                    <a:pt x="5997321" y="74422"/>
                    <a:pt x="5948045" y="25400"/>
                    <a:pt x="5887085" y="25400"/>
                  </a:cubicBezTo>
                  <a:lnTo>
                    <a:pt x="135636" y="25400"/>
                  </a:lnTo>
                  <a:lnTo>
                    <a:pt x="135636" y="12700"/>
                  </a:lnTo>
                  <a:lnTo>
                    <a:pt x="135636" y="25400"/>
                  </a:lnTo>
                  <a:cubicBezTo>
                    <a:pt x="74676" y="25400"/>
                    <a:pt x="25400" y="74422"/>
                    <a:pt x="25400" y="134620"/>
                  </a:cubicBezTo>
                  <a:close/>
                </a:path>
              </a:pathLst>
            </a:custGeom>
            <a:solidFill>
              <a:srgbClr val="84C1FA"/>
            </a:solidFill>
            <a:ln w="12700">
              <a:solidFill>
                <a:srgbClr val="000000"/>
              </a:solidFill>
            </a:ln>
          </p:spPr>
        </p:sp>
      </p:grpSp>
      <p:grpSp>
        <p:nvGrpSpPr>
          <p:cNvPr id="12" name="Group 12"/>
          <p:cNvGrpSpPr/>
          <p:nvPr/>
        </p:nvGrpSpPr>
        <p:grpSpPr>
          <a:xfrm>
            <a:off x="7831188" y="2356842"/>
            <a:ext cx="76200" cy="1468190"/>
            <a:chOff x="0" y="0"/>
            <a:chExt cx="101600" cy="1957587"/>
          </a:xfrm>
        </p:grpSpPr>
        <p:sp>
          <p:nvSpPr>
            <p:cNvPr id="13" name="Freeform 13"/>
            <p:cNvSpPr/>
            <p:nvPr/>
          </p:nvSpPr>
          <p:spPr>
            <a:xfrm>
              <a:off x="0" y="0"/>
              <a:ext cx="101600" cy="1957578"/>
            </a:xfrm>
            <a:custGeom>
              <a:avLst/>
              <a:gdLst/>
              <a:ahLst/>
              <a:cxnLst/>
              <a:rect l="l" t="t" r="r" b="b"/>
              <a:pathLst>
                <a:path w="101600" h="1957578">
                  <a:moveTo>
                    <a:pt x="0" y="36830"/>
                  </a:moveTo>
                  <a:cubicBezTo>
                    <a:pt x="0" y="16510"/>
                    <a:pt x="16510" y="0"/>
                    <a:pt x="36830" y="0"/>
                  </a:cubicBezTo>
                  <a:lnTo>
                    <a:pt x="64770" y="0"/>
                  </a:lnTo>
                  <a:cubicBezTo>
                    <a:pt x="85090" y="0"/>
                    <a:pt x="101600" y="16510"/>
                    <a:pt x="101600" y="36830"/>
                  </a:cubicBezTo>
                  <a:lnTo>
                    <a:pt x="101600" y="1920748"/>
                  </a:lnTo>
                  <a:cubicBezTo>
                    <a:pt x="101600" y="1941068"/>
                    <a:pt x="85090" y="1957578"/>
                    <a:pt x="64770" y="1957578"/>
                  </a:cubicBezTo>
                  <a:lnTo>
                    <a:pt x="36830" y="1957578"/>
                  </a:lnTo>
                  <a:cubicBezTo>
                    <a:pt x="16510" y="1957578"/>
                    <a:pt x="0" y="1941068"/>
                    <a:pt x="0" y="1920748"/>
                  </a:cubicBezTo>
                  <a:close/>
                </a:path>
              </a:pathLst>
            </a:custGeom>
            <a:solidFill>
              <a:srgbClr val="84C1FA"/>
            </a:solidFill>
            <a:ln w="12700">
              <a:solidFill>
                <a:srgbClr val="000000"/>
              </a:solidFill>
            </a:ln>
          </p:spPr>
        </p:sp>
      </p:grpSp>
      <p:sp>
        <p:nvSpPr>
          <p:cNvPr id="14" name="TextBox 14"/>
          <p:cNvSpPr txBox="1"/>
          <p:nvPr/>
        </p:nvSpPr>
        <p:spPr>
          <a:xfrm>
            <a:off x="8110686" y="2541091"/>
            <a:ext cx="2303710" cy="307033"/>
          </a:xfrm>
          <a:prstGeom prst="rect">
            <a:avLst/>
          </a:prstGeom>
        </p:spPr>
        <p:txBody>
          <a:bodyPr lIns="0" tIns="0" rIns="0" bIns="0" rtlCol="0" anchor="t">
            <a:spAutoFit/>
          </a:bodyPr>
          <a:lstStyle/>
          <a:p>
            <a:pPr algn="l">
              <a:lnSpc>
                <a:spcPts val="2249"/>
              </a:lnSpc>
            </a:pPr>
            <a:r>
              <a:rPr lang="en-US" sz="1812" b="1">
                <a:solidFill>
                  <a:srgbClr val="4C4C4D"/>
                </a:solidFill>
                <a:latin typeface="Crimson Pro Bold"/>
                <a:ea typeface="Crimson Pro Bold"/>
                <a:cs typeface="Crimson Pro Bold"/>
                <a:sym typeface="Crimson Pro Bold"/>
              </a:rPr>
              <a:t>Frontend Layer</a:t>
            </a:r>
          </a:p>
        </p:txBody>
      </p:sp>
      <p:sp>
        <p:nvSpPr>
          <p:cNvPr id="15" name="TextBox 15"/>
          <p:cNvSpPr txBox="1"/>
          <p:nvPr/>
        </p:nvSpPr>
        <p:spPr>
          <a:xfrm>
            <a:off x="8110686" y="2984747"/>
            <a:ext cx="4034284" cy="636985"/>
          </a:xfrm>
          <a:prstGeom prst="rect">
            <a:avLst/>
          </a:prstGeom>
        </p:spPr>
        <p:txBody>
          <a:bodyPr lIns="0" tIns="0" rIns="0" bIns="0" rtlCol="0" anchor="t">
            <a:spAutoFit/>
          </a:bodyPr>
          <a:lstStyle/>
          <a:p>
            <a:pPr algn="l">
              <a:lnSpc>
                <a:spcPts val="2312"/>
              </a:lnSpc>
            </a:pPr>
            <a:r>
              <a:rPr lang="en-US" sz="1437" b="1">
                <a:solidFill>
                  <a:srgbClr val="4C4C4D"/>
                </a:solidFill>
                <a:latin typeface="Heebo Bold"/>
                <a:ea typeface="Heebo Bold"/>
                <a:cs typeface="Heebo Bold"/>
                <a:sym typeface="Heebo Bold"/>
              </a:rPr>
              <a:t>React </a:t>
            </a:r>
            <a:r>
              <a:rPr lang="en-US" sz="1437">
                <a:solidFill>
                  <a:srgbClr val="4C4C4D"/>
                </a:solidFill>
                <a:latin typeface="Heebo"/>
                <a:ea typeface="Heebo"/>
                <a:cs typeface="Heebo"/>
                <a:sym typeface="Heebo"/>
              </a:rPr>
              <a:t> for responsive, modern user interfaces with component-based architecture</a:t>
            </a:r>
          </a:p>
        </p:txBody>
      </p:sp>
      <p:grpSp>
        <p:nvGrpSpPr>
          <p:cNvPr id="16" name="Group 16"/>
          <p:cNvGrpSpPr/>
          <p:nvPr/>
        </p:nvGrpSpPr>
        <p:grpSpPr>
          <a:xfrm>
            <a:off x="7840712" y="3999756"/>
            <a:ext cx="4517082" cy="1487240"/>
            <a:chOff x="0" y="0"/>
            <a:chExt cx="6022777" cy="1982987"/>
          </a:xfrm>
        </p:grpSpPr>
        <p:sp>
          <p:nvSpPr>
            <p:cNvPr id="17" name="Freeform 17"/>
            <p:cNvSpPr/>
            <p:nvPr/>
          </p:nvSpPr>
          <p:spPr>
            <a:xfrm>
              <a:off x="12700" y="12700"/>
              <a:ext cx="5997321" cy="1957578"/>
            </a:xfrm>
            <a:custGeom>
              <a:avLst/>
              <a:gdLst/>
              <a:ahLst/>
              <a:cxnLst/>
              <a:rect l="l" t="t" r="r" b="b"/>
              <a:pathLst>
                <a:path w="5997321" h="1957578">
                  <a:moveTo>
                    <a:pt x="0" y="121920"/>
                  </a:moveTo>
                  <a:cubicBezTo>
                    <a:pt x="0" y="54610"/>
                    <a:pt x="55118" y="0"/>
                    <a:pt x="122936" y="0"/>
                  </a:cubicBezTo>
                  <a:lnTo>
                    <a:pt x="5874385" y="0"/>
                  </a:lnTo>
                  <a:cubicBezTo>
                    <a:pt x="5942330" y="0"/>
                    <a:pt x="5997321" y="54610"/>
                    <a:pt x="5997321" y="121920"/>
                  </a:cubicBezTo>
                  <a:lnTo>
                    <a:pt x="5997321" y="1835658"/>
                  </a:lnTo>
                  <a:cubicBezTo>
                    <a:pt x="5997321" y="1902968"/>
                    <a:pt x="5942203" y="1957578"/>
                    <a:pt x="5874385" y="1957578"/>
                  </a:cubicBezTo>
                  <a:lnTo>
                    <a:pt x="122936" y="1957578"/>
                  </a:lnTo>
                  <a:cubicBezTo>
                    <a:pt x="54991" y="1957578"/>
                    <a:pt x="0" y="1902968"/>
                    <a:pt x="0" y="1835658"/>
                  </a:cubicBezTo>
                  <a:close/>
                </a:path>
              </a:pathLst>
            </a:custGeom>
            <a:solidFill>
              <a:srgbClr val="FFFFFF"/>
            </a:solidFill>
            <a:ln w="12700">
              <a:solidFill>
                <a:srgbClr val="000000"/>
              </a:solidFill>
            </a:ln>
          </p:spPr>
        </p:sp>
        <p:sp>
          <p:nvSpPr>
            <p:cNvPr id="18" name="Freeform 18"/>
            <p:cNvSpPr/>
            <p:nvPr/>
          </p:nvSpPr>
          <p:spPr>
            <a:xfrm>
              <a:off x="0" y="0"/>
              <a:ext cx="6022721" cy="1982978"/>
            </a:xfrm>
            <a:custGeom>
              <a:avLst/>
              <a:gdLst/>
              <a:ahLst/>
              <a:cxnLst/>
              <a:rect l="l" t="t" r="r" b="b"/>
              <a:pathLst>
                <a:path w="6022721" h="1982978">
                  <a:moveTo>
                    <a:pt x="0" y="134620"/>
                  </a:moveTo>
                  <a:cubicBezTo>
                    <a:pt x="0" y="60198"/>
                    <a:pt x="60833" y="0"/>
                    <a:pt x="135636" y="0"/>
                  </a:cubicBezTo>
                  <a:lnTo>
                    <a:pt x="5887085" y="0"/>
                  </a:lnTo>
                  <a:lnTo>
                    <a:pt x="5887085" y="12700"/>
                  </a:lnTo>
                  <a:lnTo>
                    <a:pt x="5887085" y="0"/>
                  </a:lnTo>
                  <a:cubicBezTo>
                    <a:pt x="5961888" y="0"/>
                    <a:pt x="6022721" y="60198"/>
                    <a:pt x="6022721" y="134620"/>
                  </a:cubicBezTo>
                  <a:lnTo>
                    <a:pt x="6010021" y="134620"/>
                  </a:lnTo>
                  <a:lnTo>
                    <a:pt x="6022721" y="134620"/>
                  </a:lnTo>
                  <a:lnTo>
                    <a:pt x="6022721" y="1848358"/>
                  </a:lnTo>
                  <a:lnTo>
                    <a:pt x="6010021" y="1848358"/>
                  </a:lnTo>
                  <a:lnTo>
                    <a:pt x="6022721" y="1848358"/>
                  </a:lnTo>
                  <a:cubicBezTo>
                    <a:pt x="6022721" y="1922780"/>
                    <a:pt x="5961888" y="1982978"/>
                    <a:pt x="5887085" y="1982978"/>
                  </a:cubicBezTo>
                  <a:lnTo>
                    <a:pt x="5887085" y="1970278"/>
                  </a:lnTo>
                  <a:lnTo>
                    <a:pt x="5887085" y="1982978"/>
                  </a:lnTo>
                  <a:lnTo>
                    <a:pt x="135636" y="1982978"/>
                  </a:lnTo>
                  <a:lnTo>
                    <a:pt x="135636" y="1970278"/>
                  </a:lnTo>
                  <a:lnTo>
                    <a:pt x="135636" y="1982978"/>
                  </a:lnTo>
                  <a:cubicBezTo>
                    <a:pt x="60833" y="1982978"/>
                    <a:pt x="0" y="1922780"/>
                    <a:pt x="0" y="1848358"/>
                  </a:cubicBezTo>
                  <a:lnTo>
                    <a:pt x="0" y="134620"/>
                  </a:lnTo>
                  <a:lnTo>
                    <a:pt x="12700" y="134620"/>
                  </a:lnTo>
                  <a:lnTo>
                    <a:pt x="0" y="134620"/>
                  </a:lnTo>
                  <a:moveTo>
                    <a:pt x="25400" y="134620"/>
                  </a:moveTo>
                  <a:lnTo>
                    <a:pt x="25400" y="1848358"/>
                  </a:lnTo>
                  <a:lnTo>
                    <a:pt x="12700" y="1848358"/>
                  </a:lnTo>
                  <a:lnTo>
                    <a:pt x="25400" y="1848358"/>
                  </a:lnTo>
                  <a:cubicBezTo>
                    <a:pt x="25400" y="1908556"/>
                    <a:pt x="74676" y="1957578"/>
                    <a:pt x="135636" y="1957578"/>
                  </a:cubicBezTo>
                  <a:lnTo>
                    <a:pt x="5887085" y="1957578"/>
                  </a:lnTo>
                  <a:cubicBezTo>
                    <a:pt x="5948045" y="1957578"/>
                    <a:pt x="5997321" y="1908556"/>
                    <a:pt x="5997321" y="1848358"/>
                  </a:cubicBezTo>
                  <a:lnTo>
                    <a:pt x="5997321" y="134620"/>
                  </a:lnTo>
                  <a:cubicBezTo>
                    <a:pt x="5997321" y="74422"/>
                    <a:pt x="5948045" y="25400"/>
                    <a:pt x="5887085" y="25400"/>
                  </a:cubicBezTo>
                  <a:lnTo>
                    <a:pt x="135636" y="25400"/>
                  </a:lnTo>
                  <a:lnTo>
                    <a:pt x="135636" y="12700"/>
                  </a:lnTo>
                  <a:lnTo>
                    <a:pt x="135636" y="25400"/>
                  </a:lnTo>
                  <a:cubicBezTo>
                    <a:pt x="74676" y="25400"/>
                    <a:pt x="25400" y="74422"/>
                    <a:pt x="25400" y="134620"/>
                  </a:cubicBezTo>
                  <a:close/>
                </a:path>
              </a:pathLst>
            </a:custGeom>
            <a:solidFill>
              <a:srgbClr val="0540AD"/>
            </a:solidFill>
            <a:ln w="12700">
              <a:solidFill>
                <a:srgbClr val="000000"/>
              </a:solidFill>
            </a:ln>
          </p:spPr>
        </p:sp>
      </p:grpSp>
      <p:grpSp>
        <p:nvGrpSpPr>
          <p:cNvPr id="19" name="Group 19"/>
          <p:cNvGrpSpPr/>
          <p:nvPr/>
        </p:nvGrpSpPr>
        <p:grpSpPr>
          <a:xfrm>
            <a:off x="7831188" y="4009281"/>
            <a:ext cx="76200" cy="1468190"/>
            <a:chOff x="0" y="0"/>
            <a:chExt cx="101600" cy="1957587"/>
          </a:xfrm>
        </p:grpSpPr>
        <p:sp>
          <p:nvSpPr>
            <p:cNvPr id="20" name="Freeform 20"/>
            <p:cNvSpPr/>
            <p:nvPr/>
          </p:nvSpPr>
          <p:spPr>
            <a:xfrm>
              <a:off x="0" y="0"/>
              <a:ext cx="101600" cy="1957578"/>
            </a:xfrm>
            <a:custGeom>
              <a:avLst/>
              <a:gdLst/>
              <a:ahLst/>
              <a:cxnLst/>
              <a:rect l="l" t="t" r="r" b="b"/>
              <a:pathLst>
                <a:path w="101600" h="1957578">
                  <a:moveTo>
                    <a:pt x="0" y="36830"/>
                  </a:moveTo>
                  <a:cubicBezTo>
                    <a:pt x="0" y="16510"/>
                    <a:pt x="16510" y="0"/>
                    <a:pt x="36830" y="0"/>
                  </a:cubicBezTo>
                  <a:lnTo>
                    <a:pt x="64770" y="0"/>
                  </a:lnTo>
                  <a:cubicBezTo>
                    <a:pt x="85090" y="0"/>
                    <a:pt x="101600" y="16510"/>
                    <a:pt x="101600" y="36830"/>
                  </a:cubicBezTo>
                  <a:lnTo>
                    <a:pt x="101600" y="1920748"/>
                  </a:lnTo>
                  <a:cubicBezTo>
                    <a:pt x="101600" y="1941068"/>
                    <a:pt x="85090" y="1957578"/>
                    <a:pt x="64770" y="1957578"/>
                  </a:cubicBezTo>
                  <a:lnTo>
                    <a:pt x="36830" y="1957578"/>
                  </a:lnTo>
                  <a:cubicBezTo>
                    <a:pt x="16510" y="1957578"/>
                    <a:pt x="0" y="1941068"/>
                    <a:pt x="0" y="1920748"/>
                  </a:cubicBezTo>
                  <a:close/>
                </a:path>
              </a:pathLst>
            </a:custGeom>
            <a:solidFill>
              <a:srgbClr val="0540AD"/>
            </a:solidFill>
            <a:ln w="12700">
              <a:solidFill>
                <a:srgbClr val="000000"/>
              </a:solidFill>
            </a:ln>
          </p:spPr>
        </p:sp>
      </p:grpSp>
      <p:sp>
        <p:nvSpPr>
          <p:cNvPr id="21" name="TextBox 21"/>
          <p:cNvSpPr txBox="1"/>
          <p:nvPr/>
        </p:nvSpPr>
        <p:spPr>
          <a:xfrm>
            <a:off x="8110686" y="4193530"/>
            <a:ext cx="2303710" cy="307033"/>
          </a:xfrm>
          <a:prstGeom prst="rect">
            <a:avLst/>
          </a:prstGeom>
        </p:spPr>
        <p:txBody>
          <a:bodyPr lIns="0" tIns="0" rIns="0" bIns="0" rtlCol="0" anchor="t">
            <a:spAutoFit/>
          </a:bodyPr>
          <a:lstStyle/>
          <a:p>
            <a:pPr algn="l">
              <a:lnSpc>
                <a:spcPts val="2249"/>
              </a:lnSpc>
            </a:pPr>
            <a:r>
              <a:rPr lang="en-US" sz="1812" b="1">
                <a:solidFill>
                  <a:srgbClr val="4C4C4D"/>
                </a:solidFill>
                <a:latin typeface="Crimson Pro Bold"/>
                <a:ea typeface="Crimson Pro Bold"/>
                <a:cs typeface="Crimson Pro Bold"/>
                <a:sym typeface="Crimson Pro Bold"/>
              </a:rPr>
              <a:t>Backend Services</a:t>
            </a:r>
          </a:p>
        </p:txBody>
      </p:sp>
      <p:sp>
        <p:nvSpPr>
          <p:cNvPr id="22" name="TextBox 22"/>
          <p:cNvSpPr txBox="1"/>
          <p:nvPr/>
        </p:nvSpPr>
        <p:spPr>
          <a:xfrm>
            <a:off x="8110686" y="4637186"/>
            <a:ext cx="4034284" cy="636985"/>
          </a:xfrm>
          <a:prstGeom prst="rect">
            <a:avLst/>
          </a:prstGeom>
        </p:spPr>
        <p:txBody>
          <a:bodyPr lIns="0" tIns="0" rIns="0" bIns="0" rtlCol="0" anchor="t">
            <a:spAutoFit/>
          </a:bodyPr>
          <a:lstStyle/>
          <a:p>
            <a:pPr algn="l">
              <a:lnSpc>
                <a:spcPts val="2312"/>
              </a:lnSpc>
            </a:pPr>
            <a:r>
              <a:rPr lang="en-US" sz="1437" b="1">
                <a:solidFill>
                  <a:srgbClr val="4C4C4D"/>
                </a:solidFill>
                <a:latin typeface="Heebo Bold"/>
                <a:ea typeface="Heebo Bold"/>
                <a:cs typeface="Heebo Bold"/>
                <a:sym typeface="Heebo Bold"/>
              </a:rPr>
              <a:t>Java Spring Boot</a:t>
            </a:r>
            <a:r>
              <a:rPr lang="en-US" sz="1437">
                <a:solidFill>
                  <a:srgbClr val="4C4C4D"/>
                </a:solidFill>
                <a:latin typeface="Heebo"/>
                <a:ea typeface="Heebo"/>
                <a:cs typeface="Heebo"/>
                <a:sym typeface="Heebo"/>
              </a:rPr>
              <a:t> providing robust REST APIs with scalable microservices architecture</a:t>
            </a:r>
          </a:p>
        </p:txBody>
      </p:sp>
      <p:grpSp>
        <p:nvGrpSpPr>
          <p:cNvPr id="23" name="Group 23"/>
          <p:cNvGrpSpPr/>
          <p:nvPr/>
        </p:nvGrpSpPr>
        <p:grpSpPr>
          <a:xfrm>
            <a:off x="7840712" y="5652195"/>
            <a:ext cx="4517082" cy="1487240"/>
            <a:chOff x="0" y="0"/>
            <a:chExt cx="6022777" cy="1982987"/>
          </a:xfrm>
        </p:grpSpPr>
        <p:sp>
          <p:nvSpPr>
            <p:cNvPr id="24" name="Freeform 24"/>
            <p:cNvSpPr/>
            <p:nvPr/>
          </p:nvSpPr>
          <p:spPr>
            <a:xfrm>
              <a:off x="12700" y="12700"/>
              <a:ext cx="5997321" cy="1957578"/>
            </a:xfrm>
            <a:custGeom>
              <a:avLst/>
              <a:gdLst/>
              <a:ahLst/>
              <a:cxnLst/>
              <a:rect l="l" t="t" r="r" b="b"/>
              <a:pathLst>
                <a:path w="5997321" h="1957578">
                  <a:moveTo>
                    <a:pt x="0" y="121920"/>
                  </a:moveTo>
                  <a:cubicBezTo>
                    <a:pt x="0" y="54610"/>
                    <a:pt x="55118" y="0"/>
                    <a:pt x="122936" y="0"/>
                  </a:cubicBezTo>
                  <a:lnTo>
                    <a:pt x="5874385" y="0"/>
                  </a:lnTo>
                  <a:cubicBezTo>
                    <a:pt x="5942330" y="0"/>
                    <a:pt x="5997321" y="54610"/>
                    <a:pt x="5997321" y="121920"/>
                  </a:cubicBezTo>
                  <a:lnTo>
                    <a:pt x="5997321" y="1835658"/>
                  </a:lnTo>
                  <a:cubicBezTo>
                    <a:pt x="5997321" y="1902968"/>
                    <a:pt x="5942203" y="1957578"/>
                    <a:pt x="5874385" y="1957578"/>
                  </a:cubicBezTo>
                  <a:lnTo>
                    <a:pt x="122936" y="1957578"/>
                  </a:lnTo>
                  <a:cubicBezTo>
                    <a:pt x="54991" y="1957578"/>
                    <a:pt x="0" y="1902968"/>
                    <a:pt x="0" y="1835658"/>
                  </a:cubicBezTo>
                  <a:close/>
                </a:path>
              </a:pathLst>
            </a:custGeom>
            <a:solidFill>
              <a:srgbClr val="FFFFFF"/>
            </a:solidFill>
            <a:ln w="12700">
              <a:solidFill>
                <a:srgbClr val="000000"/>
              </a:solidFill>
            </a:ln>
          </p:spPr>
        </p:sp>
        <p:sp>
          <p:nvSpPr>
            <p:cNvPr id="25" name="Freeform 25"/>
            <p:cNvSpPr/>
            <p:nvPr/>
          </p:nvSpPr>
          <p:spPr>
            <a:xfrm>
              <a:off x="0" y="0"/>
              <a:ext cx="6022721" cy="1982978"/>
            </a:xfrm>
            <a:custGeom>
              <a:avLst/>
              <a:gdLst/>
              <a:ahLst/>
              <a:cxnLst/>
              <a:rect l="l" t="t" r="r" b="b"/>
              <a:pathLst>
                <a:path w="6022721" h="1982978">
                  <a:moveTo>
                    <a:pt x="0" y="134620"/>
                  </a:moveTo>
                  <a:cubicBezTo>
                    <a:pt x="0" y="60198"/>
                    <a:pt x="60833" y="0"/>
                    <a:pt x="135636" y="0"/>
                  </a:cubicBezTo>
                  <a:lnTo>
                    <a:pt x="5887085" y="0"/>
                  </a:lnTo>
                  <a:lnTo>
                    <a:pt x="5887085" y="12700"/>
                  </a:lnTo>
                  <a:lnTo>
                    <a:pt x="5887085" y="0"/>
                  </a:lnTo>
                  <a:cubicBezTo>
                    <a:pt x="5961888" y="0"/>
                    <a:pt x="6022721" y="60198"/>
                    <a:pt x="6022721" y="134620"/>
                  </a:cubicBezTo>
                  <a:lnTo>
                    <a:pt x="6010021" y="134620"/>
                  </a:lnTo>
                  <a:lnTo>
                    <a:pt x="6022721" y="134620"/>
                  </a:lnTo>
                  <a:lnTo>
                    <a:pt x="6022721" y="1848358"/>
                  </a:lnTo>
                  <a:lnTo>
                    <a:pt x="6010021" y="1848358"/>
                  </a:lnTo>
                  <a:lnTo>
                    <a:pt x="6022721" y="1848358"/>
                  </a:lnTo>
                  <a:cubicBezTo>
                    <a:pt x="6022721" y="1922780"/>
                    <a:pt x="5961888" y="1982978"/>
                    <a:pt x="5887085" y="1982978"/>
                  </a:cubicBezTo>
                  <a:lnTo>
                    <a:pt x="5887085" y="1970278"/>
                  </a:lnTo>
                  <a:lnTo>
                    <a:pt x="5887085" y="1982978"/>
                  </a:lnTo>
                  <a:lnTo>
                    <a:pt x="135636" y="1982978"/>
                  </a:lnTo>
                  <a:lnTo>
                    <a:pt x="135636" y="1970278"/>
                  </a:lnTo>
                  <a:lnTo>
                    <a:pt x="135636" y="1982978"/>
                  </a:lnTo>
                  <a:cubicBezTo>
                    <a:pt x="60833" y="1982978"/>
                    <a:pt x="0" y="1922780"/>
                    <a:pt x="0" y="1848358"/>
                  </a:cubicBezTo>
                  <a:lnTo>
                    <a:pt x="0" y="134620"/>
                  </a:lnTo>
                  <a:lnTo>
                    <a:pt x="12700" y="134620"/>
                  </a:lnTo>
                  <a:lnTo>
                    <a:pt x="0" y="134620"/>
                  </a:lnTo>
                  <a:moveTo>
                    <a:pt x="25400" y="134620"/>
                  </a:moveTo>
                  <a:lnTo>
                    <a:pt x="25400" y="1848358"/>
                  </a:lnTo>
                  <a:lnTo>
                    <a:pt x="12700" y="1848358"/>
                  </a:lnTo>
                  <a:lnTo>
                    <a:pt x="25400" y="1848358"/>
                  </a:lnTo>
                  <a:cubicBezTo>
                    <a:pt x="25400" y="1908556"/>
                    <a:pt x="74676" y="1957578"/>
                    <a:pt x="135636" y="1957578"/>
                  </a:cubicBezTo>
                  <a:lnTo>
                    <a:pt x="5887085" y="1957578"/>
                  </a:lnTo>
                  <a:cubicBezTo>
                    <a:pt x="5948045" y="1957578"/>
                    <a:pt x="5997321" y="1908556"/>
                    <a:pt x="5997321" y="1848358"/>
                  </a:cubicBezTo>
                  <a:lnTo>
                    <a:pt x="5997321" y="134620"/>
                  </a:lnTo>
                  <a:cubicBezTo>
                    <a:pt x="5997321" y="74422"/>
                    <a:pt x="5948045" y="25400"/>
                    <a:pt x="5887085" y="25400"/>
                  </a:cubicBezTo>
                  <a:lnTo>
                    <a:pt x="135636" y="25400"/>
                  </a:lnTo>
                  <a:lnTo>
                    <a:pt x="135636" y="12700"/>
                  </a:lnTo>
                  <a:lnTo>
                    <a:pt x="135636" y="25400"/>
                  </a:lnTo>
                  <a:cubicBezTo>
                    <a:pt x="74676" y="25400"/>
                    <a:pt x="25400" y="74422"/>
                    <a:pt x="25400" y="134620"/>
                  </a:cubicBezTo>
                  <a:close/>
                </a:path>
              </a:pathLst>
            </a:custGeom>
            <a:solidFill>
              <a:srgbClr val="FF5000"/>
            </a:solidFill>
            <a:ln w="12700">
              <a:solidFill>
                <a:srgbClr val="000000"/>
              </a:solidFill>
            </a:ln>
          </p:spPr>
        </p:sp>
      </p:grpSp>
      <p:grpSp>
        <p:nvGrpSpPr>
          <p:cNvPr id="26" name="Group 26"/>
          <p:cNvGrpSpPr/>
          <p:nvPr/>
        </p:nvGrpSpPr>
        <p:grpSpPr>
          <a:xfrm>
            <a:off x="7831188" y="5661720"/>
            <a:ext cx="76200" cy="1468190"/>
            <a:chOff x="0" y="0"/>
            <a:chExt cx="101600" cy="1957587"/>
          </a:xfrm>
        </p:grpSpPr>
        <p:sp>
          <p:nvSpPr>
            <p:cNvPr id="27" name="Freeform 27"/>
            <p:cNvSpPr/>
            <p:nvPr/>
          </p:nvSpPr>
          <p:spPr>
            <a:xfrm>
              <a:off x="0" y="0"/>
              <a:ext cx="101600" cy="1957578"/>
            </a:xfrm>
            <a:custGeom>
              <a:avLst/>
              <a:gdLst/>
              <a:ahLst/>
              <a:cxnLst/>
              <a:rect l="l" t="t" r="r" b="b"/>
              <a:pathLst>
                <a:path w="101600" h="1957578">
                  <a:moveTo>
                    <a:pt x="0" y="36830"/>
                  </a:moveTo>
                  <a:cubicBezTo>
                    <a:pt x="0" y="16510"/>
                    <a:pt x="16510" y="0"/>
                    <a:pt x="36830" y="0"/>
                  </a:cubicBezTo>
                  <a:lnTo>
                    <a:pt x="64770" y="0"/>
                  </a:lnTo>
                  <a:cubicBezTo>
                    <a:pt x="85090" y="0"/>
                    <a:pt x="101600" y="16510"/>
                    <a:pt x="101600" y="36830"/>
                  </a:cubicBezTo>
                  <a:lnTo>
                    <a:pt x="101600" y="1920748"/>
                  </a:lnTo>
                  <a:cubicBezTo>
                    <a:pt x="101600" y="1941068"/>
                    <a:pt x="85090" y="1957578"/>
                    <a:pt x="64770" y="1957578"/>
                  </a:cubicBezTo>
                  <a:lnTo>
                    <a:pt x="36830" y="1957578"/>
                  </a:lnTo>
                  <a:cubicBezTo>
                    <a:pt x="16510" y="1957578"/>
                    <a:pt x="0" y="1941068"/>
                    <a:pt x="0" y="1920748"/>
                  </a:cubicBezTo>
                  <a:close/>
                </a:path>
              </a:pathLst>
            </a:custGeom>
            <a:solidFill>
              <a:srgbClr val="FF5000"/>
            </a:solidFill>
            <a:ln w="12700">
              <a:solidFill>
                <a:srgbClr val="000000"/>
              </a:solidFill>
            </a:ln>
          </p:spPr>
        </p:sp>
      </p:grpSp>
      <p:sp>
        <p:nvSpPr>
          <p:cNvPr id="28" name="TextBox 28"/>
          <p:cNvSpPr txBox="1"/>
          <p:nvPr/>
        </p:nvSpPr>
        <p:spPr>
          <a:xfrm>
            <a:off x="8110686" y="5845969"/>
            <a:ext cx="2303710" cy="307032"/>
          </a:xfrm>
          <a:prstGeom prst="rect">
            <a:avLst/>
          </a:prstGeom>
        </p:spPr>
        <p:txBody>
          <a:bodyPr lIns="0" tIns="0" rIns="0" bIns="0" rtlCol="0" anchor="t">
            <a:spAutoFit/>
          </a:bodyPr>
          <a:lstStyle/>
          <a:p>
            <a:pPr algn="l">
              <a:lnSpc>
                <a:spcPts val="2249"/>
              </a:lnSpc>
            </a:pPr>
            <a:r>
              <a:rPr lang="en-US" sz="1812" b="1">
                <a:solidFill>
                  <a:srgbClr val="4C4C4D"/>
                </a:solidFill>
                <a:latin typeface="Crimson Pro Bold"/>
                <a:ea typeface="Crimson Pro Bold"/>
                <a:cs typeface="Crimson Pro Bold"/>
                <a:sym typeface="Crimson Pro Bold"/>
              </a:rPr>
              <a:t>Database Layer</a:t>
            </a:r>
          </a:p>
        </p:txBody>
      </p:sp>
      <p:sp>
        <p:nvSpPr>
          <p:cNvPr id="29" name="TextBox 29"/>
          <p:cNvSpPr txBox="1"/>
          <p:nvPr/>
        </p:nvSpPr>
        <p:spPr>
          <a:xfrm>
            <a:off x="8110686" y="6289625"/>
            <a:ext cx="4034284" cy="636985"/>
          </a:xfrm>
          <a:prstGeom prst="rect">
            <a:avLst/>
          </a:prstGeom>
        </p:spPr>
        <p:txBody>
          <a:bodyPr lIns="0" tIns="0" rIns="0" bIns="0" rtlCol="0" anchor="t">
            <a:spAutoFit/>
          </a:bodyPr>
          <a:lstStyle/>
          <a:p>
            <a:pPr algn="l">
              <a:lnSpc>
                <a:spcPts val="2312"/>
              </a:lnSpc>
            </a:pPr>
            <a:r>
              <a:rPr lang="en-US" sz="1437" b="1">
                <a:solidFill>
                  <a:srgbClr val="4C4C4D"/>
                </a:solidFill>
                <a:latin typeface="Heebo Bold"/>
                <a:ea typeface="Heebo Bold"/>
                <a:cs typeface="Heebo Bold"/>
                <a:sym typeface="Heebo Bold"/>
              </a:rPr>
              <a:t>MySQL</a:t>
            </a:r>
            <a:r>
              <a:rPr lang="en-US" sz="1437">
                <a:solidFill>
                  <a:srgbClr val="4C4C4D"/>
                </a:solidFill>
                <a:latin typeface="Heebo"/>
                <a:ea typeface="Heebo"/>
                <a:cs typeface="Heebo"/>
                <a:sym typeface="Heebo"/>
              </a:rPr>
              <a:t> for reliable relational data storage with optimised query performance</a:t>
            </a:r>
          </a:p>
        </p:txBody>
      </p:sp>
      <p:grpSp>
        <p:nvGrpSpPr>
          <p:cNvPr id="30" name="Group 30"/>
          <p:cNvGrpSpPr/>
          <p:nvPr/>
        </p:nvGrpSpPr>
        <p:grpSpPr>
          <a:xfrm>
            <a:off x="7840712" y="7304634"/>
            <a:ext cx="4517082" cy="1487240"/>
            <a:chOff x="0" y="0"/>
            <a:chExt cx="6022777" cy="1982987"/>
          </a:xfrm>
        </p:grpSpPr>
        <p:sp>
          <p:nvSpPr>
            <p:cNvPr id="31" name="Freeform 31"/>
            <p:cNvSpPr/>
            <p:nvPr/>
          </p:nvSpPr>
          <p:spPr>
            <a:xfrm>
              <a:off x="12700" y="12700"/>
              <a:ext cx="5997321" cy="1957578"/>
            </a:xfrm>
            <a:custGeom>
              <a:avLst/>
              <a:gdLst/>
              <a:ahLst/>
              <a:cxnLst/>
              <a:rect l="l" t="t" r="r" b="b"/>
              <a:pathLst>
                <a:path w="5997321" h="1957578">
                  <a:moveTo>
                    <a:pt x="0" y="121920"/>
                  </a:moveTo>
                  <a:cubicBezTo>
                    <a:pt x="0" y="54610"/>
                    <a:pt x="55118" y="0"/>
                    <a:pt x="122936" y="0"/>
                  </a:cubicBezTo>
                  <a:lnTo>
                    <a:pt x="5874385" y="0"/>
                  </a:lnTo>
                  <a:cubicBezTo>
                    <a:pt x="5942330" y="0"/>
                    <a:pt x="5997321" y="54610"/>
                    <a:pt x="5997321" y="121920"/>
                  </a:cubicBezTo>
                  <a:lnTo>
                    <a:pt x="5997321" y="1835658"/>
                  </a:lnTo>
                  <a:cubicBezTo>
                    <a:pt x="5997321" y="1902968"/>
                    <a:pt x="5942203" y="1957578"/>
                    <a:pt x="5874385" y="1957578"/>
                  </a:cubicBezTo>
                  <a:lnTo>
                    <a:pt x="122936" y="1957578"/>
                  </a:lnTo>
                  <a:cubicBezTo>
                    <a:pt x="54991" y="1957578"/>
                    <a:pt x="0" y="1902968"/>
                    <a:pt x="0" y="1835658"/>
                  </a:cubicBezTo>
                  <a:close/>
                </a:path>
              </a:pathLst>
            </a:custGeom>
            <a:solidFill>
              <a:srgbClr val="FFFFFF"/>
            </a:solidFill>
            <a:ln w="12700">
              <a:solidFill>
                <a:srgbClr val="000000"/>
              </a:solidFill>
            </a:ln>
          </p:spPr>
        </p:sp>
        <p:sp>
          <p:nvSpPr>
            <p:cNvPr id="32" name="Freeform 32"/>
            <p:cNvSpPr/>
            <p:nvPr/>
          </p:nvSpPr>
          <p:spPr>
            <a:xfrm>
              <a:off x="0" y="0"/>
              <a:ext cx="6022721" cy="1982978"/>
            </a:xfrm>
            <a:custGeom>
              <a:avLst/>
              <a:gdLst/>
              <a:ahLst/>
              <a:cxnLst/>
              <a:rect l="l" t="t" r="r" b="b"/>
              <a:pathLst>
                <a:path w="6022721" h="1982978">
                  <a:moveTo>
                    <a:pt x="0" y="134620"/>
                  </a:moveTo>
                  <a:cubicBezTo>
                    <a:pt x="0" y="60198"/>
                    <a:pt x="60833" y="0"/>
                    <a:pt x="135636" y="0"/>
                  </a:cubicBezTo>
                  <a:lnTo>
                    <a:pt x="5887085" y="0"/>
                  </a:lnTo>
                  <a:lnTo>
                    <a:pt x="5887085" y="12700"/>
                  </a:lnTo>
                  <a:lnTo>
                    <a:pt x="5887085" y="0"/>
                  </a:lnTo>
                  <a:cubicBezTo>
                    <a:pt x="5961888" y="0"/>
                    <a:pt x="6022721" y="60198"/>
                    <a:pt x="6022721" y="134620"/>
                  </a:cubicBezTo>
                  <a:lnTo>
                    <a:pt x="6010021" y="134620"/>
                  </a:lnTo>
                  <a:lnTo>
                    <a:pt x="6022721" y="134620"/>
                  </a:lnTo>
                  <a:lnTo>
                    <a:pt x="6022721" y="1848358"/>
                  </a:lnTo>
                  <a:lnTo>
                    <a:pt x="6010021" y="1848358"/>
                  </a:lnTo>
                  <a:lnTo>
                    <a:pt x="6022721" y="1848358"/>
                  </a:lnTo>
                  <a:cubicBezTo>
                    <a:pt x="6022721" y="1922780"/>
                    <a:pt x="5961888" y="1982978"/>
                    <a:pt x="5887085" y="1982978"/>
                  </a:cubicBezTo>
                  <a:lnTo>
                    <a:pt x="5887085" y="1970278"/>
                  </a:lnTo>
                  <a:lnTo>
                    <a:pt x="5887085" y="1982978"/>
                  </a:lnTo>
                  <a:lnTo>
                    <a:pt x="135636" y="1982978"/>
                  </a:lnTo>
                  <a:lnTo>
                    <a:pt x="135636" y="1970278"/>
                  </a:lnTo>
                  <a:lnTo>
                    <a:pt x="135636" y="1982978"/>
                  </a:lnTo>
                  <a:cubicBezTo>
                    <a:pt x="60833" y="1982978"/>
                    <a:pt x="0" y="1922780"/>
                    <a:pt x="0" y="1848358"/>
                  </a:cubicBezTo>
                  <a:lnTo>
                    <a:pt x="0" y="134620"/>
                  </a:lnTo>
                  <a:lnTo>
                    <a:pt x="12700" y="134620"/>
                  </a:lnTo>
                  <a:lnTo>
                    <a:pt x="0" y="134620"/>
                  </a:lnTo>
                  <a:moveTo>
                    <a:pt x="25400" y="134620"/>
                  </a:moveTo>
                  <a:lnTo>
                    <a:pt x="25400" y="1848358"/>
                  </a:lnTo>
                  <a:lnTo>
                    <a:pt x="12700" y="1848358"/>
                  </a:lnTo>
                  <a:lnTo>
                    <a:pt x="25400" y="1848358"/>
                  </a:lnTo>
                  <a:cubicBezTo>
                    <a:pt x="25400" y="1908556"/>
                    <a:pt x="74676" y="1957578"/>
                    <a:pt x="135636" y="1957578"/>
                  </a:cubicBezTo>
                  <a:lnTo>
                    <a:pt x="5887085" y="1957578"/>
                  </a:lnTo>
                  <a:cubicBezTo>
                    <a:pt x="5948045" y="1957578"/>
                    <a:pt x="5997321" y="1908556"/>
                    <a:pt x="5997321" y="1848358"/>
                  </a:cubicBezTo>
                  <a:lnTo>
                    <a:pt x="5997321" y="134620"/>
                  </a:lnTo>
                  <a:cubicBezTo>
                    <a:pt x="5997321" y="74422"/>
                    <a:pt x="5948045" y="25400"/>
                    <a:pt x="5887085" y="25400"/>
                  </a:cubicBezTo>
                  <a:lnTo>
                    <a:pt x="135636" y="25400"/>
                  </a:lnTo>
                  <a:lnTo>
                    <a:pt x="135636" y="12700"/>
                  </a:lnTo>
                  <a:lnTo>
                    <a:pt x="135636" y="25400"/>
                  </a:lnTo>
                  <a:cubicBezTo>
                    <a:pt x="74676" y="25400"/>
                    <a:pt x="25400" y="74422"/>
                    <a:pt x="25400" y="134620"/>
                  </a:cubicBezTo>
                  <a:close/>
                </a:path>
              </a:pathLst>
            </a:custGeom>
            <a:solidFill>
              <a:srgbClr val="921653"/>
            </a:solidFill>
            <a:ln w="12700">
              <a:solidFill>
                <a:srgbClr val="000000"/>
              </a:solidFill>
            </a:ln>
          </p:spPr>
        </p:sp>
      </p:grpSp>
      <p:grpSp>
        <p:nvGrpSpPr>
          <p:cNvPr id="33" name="Group 33"/>
          <p:cNvGrpSpPr/>
          <p:nvPr/>
        </p:nvGrpSpPr>
        <p:grpSpPr>
          <a:xfrm>
            <a:off x="7831188" y="7314159"/>
            <a:ext cx="76200" cy="1468190"/>
            <a:chOff x="0" y="0"/>
            <a:chExt cx="101600" cy="1957587"/>
          </a:xfrm>
        </p:grpSpPr>
        <p:sp>
          <p:nvSpPr>
            <p:cNvPr id="34" name="Freeform 34"/>
            <p:cNvSpPr/>
            <p:nvPr/>
          </p:nvSpPr>
          <p:spPr>
            <a:xfrm>
              <a:off x="0" y="0"/>
              <a:ext cx="101600" cy="1957578"/>
            </a:xfrm>
            <a:custGeom>
              <a:avLst/>
              <a:gdLst/>
              <a:ahLst/>
              <a:cxnLst/>
              <a:rect l="l" t="t" r="r" b="b"/>
              <a:pathLst>
                <a:path w="101600" h="1957578">
                  <a:moveTo>
                    <a:pt x="0" y="36830"/>
                  </a:moveTo>
                  <a:cubicBezTo>
                    <a:pt x="0" y="16510"/>
                    <a:pt x="16510" y="0"/>
                    <a:pt x="36830" y="0"/>
                  </a:cubicBezTo>
                  <a:lnTo>
                    <a:pt x="64770" y="0"/>
                  </a:lnTo>
                  <a:cubicBezTo>
                    <a:pt x="85090" y="0"/>
                    <a:pt x="101600" y="16510"/>
                    <a:pt x="101600" y="36830"/>
                  </a:cubicBezTo>
                  <a:lnTo>
                    <a:pt x="101600" y="1920748"/>
                  </a:lnTo>
                  <a:cubicBezTo>
                    <a:pt x="101600" y="1941068"/>
                    <a:pt x="85090" y="1957578"/>
                    <a:pt x="64770" y="1957578"/>
                  </a:cubicBezTo>
                  <a:lnTo>
                    <a:pt x="36830" y="1957578"/>
                  </a:lnTo>
                  <a:cubicBezTo>
                    <a:pt x="16510" y="1957578"/>
                    <a:pt x="0" y="1941068"/>
                    <a:pt x="0" y="1920748"/>
                  </a:cubicBezTo>
                  <a:close/>
                </a:path>
              </a:pathLst>
            </a:custGeom>
            <a:solidFill>
              <a:srgbClr val="921653"/>
            </a:solidFill>
            <a:ln w="12700">
              <a:solidFill>
                <a:srgbClr val="000000"/>
              </a:solidFill>
            </a:ln>
          </p:spPr>
        </p:sp>
      </p:grpSp>
      <p:sp>
        <p:nvSpPr>
          <p:cNvPr id="35" name="TextBox 35"/>
          <p:cNvSpPr txBox="1"/>
          <p:nvPr/>
        </p:nvSpPr>
        <p:spPr>
          <a:xfrm>
            <a:off x="8110686" y="7498408"/>
            <a:ext cx="2303710" cy="307032"/>
          </a:xfrm>
          <a:prstGeom prst="rect">
            <a:avLst/>
          </a:prstGeom>
        </p:spPr>
        <p:txBody>
          <a:bodyPr lIns="0" tIns="0" rIns="0" bIns="0" rtlCol="0" anchor="t">
            <a:spAutoFit/>
          </a:bodyPr>
          <a:lstStyle/>
          <a:p>
            <a:pPr algn="l">
              <a:lnSpc>
                <a:spcPts val="2249"/>
              </a:lnSpc>
            </a:pPr>
            <a:r>
              <a:rPr lang="en-US" sz="1812" b="1">
                <a:solidFill>
                  <a:srgbClr val="4C4C4D"/>
                </a:solidFill>
                <a:latin typeface="Crimson Pro Bold"/>
                <a:ea typeface="Crimson Pro Bold"/>
                <a:cs typeface="Crimson Pro Bold"/>
                <a:sym typeface="Crimson Pro Bold"/>
              </a:rPr>
              <a:t>AI &amp; ML Engine</a:t>
            </a:r>
          </a:p>
        </p:txBody>
      </p:sp>
      <p:sp>
        <p:nvSpPr>
          <p:cNvPr id="36" name="TextBox 36"/>
          <p:cNvSpPr txBox="1"/>
          <p:nvPr/>
        </p:nvSpPr>
        <p:spPr>
          <a:xfrm>
            <a:off x="8110686" y="7942064"/>
            <a:ext cx="4034284" cy="636985"/>
          </a:xfrm>
          <a:prstGeom prst="rect">
            <a:avLst/>
          </a:prstGeom>
        </p:spPr>
        <p:txBody>
          <a:bodyPr lIns="0" tIns="0" rIns="0" bIns="0" rtlCol="0" anchor="t">
            <a:spAutoFit/>
          </a:bodyPr>
          <a:lstStyle/>
          <a:p>
            <a:pPr algn="l">
              <a:lnSpc>
                <a:spcPts val="2312"/>
              </a:lnSpc>
            </a:pPr>
            <a:r>
              <a:rPr lang="en-US" sz="1437" b="1">
                <a:solidFill>
                  <a:srgbClr val="4C4C4D"/>
                </a:solidFill>
                <a:latin typeface="Heebo Bold"/>
                <a:ea typeface="Heebo Bold"/>
                <a:cs typeface="Heebo Bold"/>
                <a:sym typeface="Heebo Bold"/>
              </a:rPr>
              <a:t>Python Flask</a:t>
            </a:r>
            <a:r>
              <a:rPr lang="en-US" sz="1437">
                <a:solidFill>
                  <a:srgbClr val="4C4C4D"/>
                </a:solidFill>
                <a:latin typeface="Heebo"/>
                <a:ea typeface="Heebo"/>
                <a:cs typeface="Heebo"/>
                <a:sym typeface="Heebo"/>
              </a:rPr>
              <a:t> microservice or </a:t>
            </a:r>
            <a:r>
              <a:rPr lang="en-US" sz="1437" b="1">
                <a:solidFill>
                  <a:srgbClr val="4C4C4D"/>
                </a:solidFill>
                <a:latin typeface="Heebo Bold"/>
                <a:ea typeface="Heebo Bold"/>
                <a:cs typeface="Heebo Bold"/>
                <a:sym typeface="Heebo Bold"/>
              </a:rPr>
              <a:t>Java ML</a:t>
            </a:r>
            <a:r>
              <a:rPr lang="en-US" sz="1437">
                <a:solidFill>
                  <a:srgbClr val="4C4C4D"/>
                </a:solidFill>
                <a:latin typeface="Heebo"/>
                <a:ea typeface="Heebo"/>
                <a:cs typeface="Heebo"/>
                <a:sym typeface="Heebo"/>
              </a:rPr>
              <a:t> for intelligent predictions and analytics</a:t>
            </a:r>
          </a:p>
        </p:txBody>
      </p:sp>
      <p:grpSp>
        <p:nvGrpSpPr>
          <p:cNvPr id="37" name="Group 37"/>
          <p:cNvGrpSpPr/>
          <p:nvPr/>
        </p:nvGrpSpPr>
        <p:grpSpPr>
          <a:xfrm>
            <a:off x="12797730" y="2347318"/>
            <a:ext cx="4517082" cy="1487240"/>
            <a:chOff x="0" y="0"/>
            <a:chExt cx="6022777" cy="1982987"/>
          </a:xfrm>
        </p:grpSpPr>
        <p:sp>
          <p:nvSpPr>
            <p:cNvPr id="38" name="Freeform 38"/>
            <p:cNvSpPr/>
            <p:nvPr/>
          </p:nvSpPr>
          <p:spPr>
            <a:xfrm>
              <a:off x="12700" y="12700"/>
              <a:ext cx="5997321" cy="1957578"/>
            </a:xfrm>
            <a:custGeom>
              <a:avLst/>
              <a:gdLst/>
              <a:ahLst/>
              <a:cxnLst/>
              <a:rect l="l" t="t" r="r" b="b"/>
              <a:pathLst>
                <a:path w="5997321" h="1957578">
                  <a:moveTo>
                    <a:pt x="0" y="121920"/>
                  </a:moveTo>
                  <a:cubicBezTo>
                    <a:pt x="0" y="54610"/>
                    <a:pt x="55118" y="0"/>
                    <a:pt x="122936" y="0"/>
                  </a:cubicBezTo>
                  <a:lnTo>
                    <a:pt x="5874385" y="0"/>
                  </a:lnTo>
                  <a:cubicBezTo>
                    <a:pt x="5942330" y="0"/>
                    <a:pt x="5997321" y="54610"/>
                    <a:pt x="5997321" y="121920"/>
                  </a:cubicBezTo>
                  <a:lnTo>
                    <a:pt x="5997321" y="1835658"/>
                  </a:lnTo>
                  <a:cubicBezTo>
                    <a:pt x="5997321" y="1902968"/>
                    <a:pt x="5942203" y="1957578"/>
                    <a:pt x="5874385" y="1957578"/>
                  </a:cubicBezTo>
                  <a:lnTo>
                    <a:pt x="122936" y="1957578"/>
                  </a:lnTo>
                  <a:cubicBezTo>
                    <a:pt x="54991" y="1957578"/>
                    <a:pt x="0" y="1902968"/>
                    <a:pt x="0" y="1835658"/>
                  </a:cubicBezTo>
                  <a:close/>
                </a:path>
              </a:pathLst>
            </a:custGeom>
            <a:solidFill>
              <a:srgbClr val="FFFFFF"/>
            </a:solidFill>
            <a:ln w="12700">
              <a:solidFill>
                <a:srgbClr val="000000"/>
              </a:solidFill>
            </a:ln>
          </p:spPr>
        </p:sp>
        <p:sp>
          <p:nvSpPr>
            <p:cNvPr id="39" name="Freeform 39"/>
            <p:cNvSpPr/>
            <p:nvPr/>
          </p:nvSpPr>
          <p:spPr>
            <a:xfrm>
              <a:off x="0" y="0"/>
              <a:ext cx="6022721" cy="1982978"/>
            </a:xfrm>
            <a:custGeom>
              <a:avLst/>
              <a:gdLst/>
              <a:ahLst/>
              <a:cxnLst/>
              <a:rect l="l" t="t" r="r" b="b"/>
              <a:pathLst>
                <a:path w="6022721" h="1982978">
                  <a:moveTo>
                    <a:pt x="0" y="134620"/>
                  </a:moveTo>
                  <a:cubicBezTo>
                    <a:pt x="0" y="60198"/>
                    <a:pt x="60833" y="0"/>
                    <a:pt x="135636" y="0"/>
                  </a:cubicBezTo>
                  <a:lnTo>
                    <a:pt x="5887085" y="0"/>
                  </a:lnTo>
                  <a:lnTo>
                    <a:pt x="5887085" y="12700"/>
                  </a:lnTo>
                  <a:lnTo>
                    <a:pt x="5887085" y="0"/>
                  </a:lnTo>
                  <a:cubicBezTo>
                    <a:pt x="5961888" y="0"/>
                    <a:pt x="6022721" y="60198"/>
                    <a:pt x="6022721" y="134620"/>
                  </a:cubicBezTo>
                  <a:lnTo>
                    <a:pt x="6010021" y="134620"/>
                  </a:lnTo>
                  <a:lnTo>
                    <a:pt x="6022721" y="134620"/>
                  </a:lnTo>
                  <a:lnTo>
                    <a:pt x="6022721" y="1848358"/>
                  </a:lnTo>
                  <a:lnTo>
                    <a:pt x="6010021" y="1848358"/>
                  </a:lnTo>
                  <a:lnTo>
                    <a:pt x="6022721" y="1848358"/>
                  </a:lnTo>
                  <a:cubicBezTo>
                    <a:pt x="6022721" y="1922780"/>
                    <a:pt x="5961888" y="1982978"/>
                    <a:pt x="5887085" y="1982978"/>
                  </a:cubicBezTo>
                  <a:lnTo>
                    <a:pt x="5887085" y="1970278"/>
                  </a:lnTo>
                  <a:lnTo>
                    <a:pt x="5887085" y="1982978"/>
                  </a:lnTo>
                  <a:lnTo>
                    <a:pt x="135636" y="1982978"/>
                  </a:lnTo>
                  <a:lnTo>
                    <a:pt x="135636" y="1970278"/>
                  </a:lnTo>
                  <a:lnTo>
                    <a:pt x="135636" y="1982978"/>
                  </a:lnTo>
                  <a:cubicBezTo>
                    <a:pt x="60833" y="1982978"/>
                    <a:pt x="0" y="1922780"/>
                    <a:pt x="0" y="1848358"/>
                  </a:cubicBezTo>
                  <a:lnTo>
                    <a:pt x="0" y="134620"/>
                  </a:lnTo>
                  <a:lnTo>
                    <a:pt x="12700" y="134620"/>
                  </a:lnTo>
                  <a:lnTo>
                    <a:pt x="0" y="134620"/>
                  </a:lnTo>
                  <a:moveTo>
                    <a:pt x="25400" y="134620"/>
                  </a:moveTo>
                  <a:lnTo>
                    <a:pt x="25400" y="1848358"/>
                  </a:lnTo>
                  <a:lnTo>
                    <a:pt x="12700" y="1848358"/>
                  </a:lnTo>
                  <a:lnTo>
                    <a:pt x="25400" y="1848358"/>
                  </a:lnTo>
                  <a:cubicBezTo>
                    <a:pt x="25400" y="1908556"/>
                    <a:pt x="74676" y="1957578"/>
                    <a:pt x="135636" y="1957578"/>
                  </a:cubicBezTo>
                  <a:lnTo>
                    <a:pt x="5887085" y="1957578"/>
                  </a:lnTo>
                  <a:cubicBezTo>
                    <a:pt x="5948045" y="1957578"/>
                    <a:pt x="5997321" y="1908556"/>
                    <a:pt x="5997321" y="1848358"/>
                  </a:cubicBezTo>
                  <a:lnTo>
                    <a:pt x="5997321" y="134620"/>
                  </a:lnTo>
                  <a:cubicBezTo>
                    <a:pt x="5997321" y="74422"/>
                    <a:pt x="5948045" y="25400"/>
                    <a:pt x="5887085" y="25400"/>
                  </a:cubicBezTo>
                  <a:lnTo>
                    <a:pt x="135636" y="25400"/>
                  </a:lnTo>
                  <a:lnTo>
                    <a:pt x="135636" y="12700"/>
                  </a:lnTo>
                  <a:lnTo>
                    <a:pt x="135636" y="25400"/>
                  </a:lnTo>
                  <a:cubicBezTo>
                    <a:pt x="74676" y="25400"/>
                    <a:pt x="25400" y="74422"/>
                    <a:pt x="25400" y="134620"/>
                  </a:cubicBezTo>
                  <a:close/>
                </a:path>
              </a:pathLst>
            </a:custGeom>
            <a:solidFill>
              <a:srgbClr val="1A561C"/>
            </a:solidFill>
            <a:ln w="12700">
              <a:solidFill>
                <a:srgbClr val="000000"/>
              </a:solidFill>
            </a:ln>
          </p:spPr>
        </p:sp>
      </p:grpSp>
      <p:grpSp>
        <p:nvGrpSpPr>
          <p:cNvPr id="40" name="Group 40"/>
          <p:cNvGrpSpPr/>
          <p:nvPr/>
        </p:nvGrpSpPr>
        <p:grpSpPr>
          <a:xfrm>
            <a:off x="12788205" y="2356842"/>
            <a:ext cx="76200" cy="1468190"/>
            <a:chOff x="0" y="0"/>
            <a:chExt cx="101600" cy="1957587"/>
          </a:xfrm>
        </p:grpSpPr>
        <p:sp>
          <p:nvSpPr>
            <p:cNvPr id="41" name="Freeform 41"/>
            <p:cNvSpPr/>
            <p:nvPr/>
          </p:nvSpPr>
          <p:spPr>
            <a:xfrm>
              <a:off x="0" y="0"/>
              <a:ext cx="101600" cy="1957578"/>
            </a:xfrm>
            <a:custGeom>
              <a:avLst/>
              <a:gdLst/>
              <a:ahLst/>
              <a:cxnLst/>
              <a:rect l="l" t="t" r="r" b="b"/>
              <a:pathLst>
                <a:path w="101600" h="1957578">
                  <a:moveTo>
                    <a:pt x="0" y="36830"/>
                  </a:moveTo>
                  <a:cubicBezTo>
                    <a:pt x="0" y="16510"/>
                    <a:pt x="16510" y="0"/>
                    <a:pt x="36830" y="0"/>
                  </a:cubicBezTo>
                  <a:lnTo>
                    <a:pt x="64770" y="0"/>
                  </a:lnTo>
                  <a:cubicBezTo>
                    <a:pt x="85090" y="0"/>
                    <a:pt x="101600" y="16510"/>
                    <a:pt x="101600" y="36830"/>
                  </a:cubicBezTo>
                  <a:lnTo>
                    <a:pt x="101600" y="1920748"/>
                  </a:lnTo>
                  <a:cubicBezTo>
                    <a:pt x="101600" y="1941068"/>
                    <a:pt x="85090" y="1957578"/>
                    <a:pt x="64770" y="1957578"/>
                  </a:cubicBezTo>
                  <a:lnTo>
                    <a:pt x="36830" y="1957578"/>
                  </a:lnTo>
                  <a:cubicBezTo>
                    <a:pt x="16510" y="1957578"/>
                    <a:pt x="0" y="1941068"/>
                    <a:pt x="0" y="1920748"/>
                  </a:cubicBezTo>
                  <a:close/>
                </a:path>
              </a:pathLst>
            </a:custGeom>
            <a:solidFill>
              <a:srgbClr val="1A561C"/>
            </a:solidFill>
            <a:ln w="12700">
              <a:solidFill>
                <a:srgbClr val="000000"/>
              </a:solidFill>
            </a:ln>
          </p:spPr>
        </p:sp>
      </p:grpSp>
      <p:sp>
        <p:nvSpPr>
          <p:cNvPr id="42" name="TextBox 42"/>
          <p:cNvSpPr txBox="1"/>
          <p:nvPr/>
        </p:nvSpPr>
        <p:spPr>
          <a:xfrm>
            <a:off x="13067705" y="2541091"/>
            <a:ext cx="2303710" cy="307033"/>
          </a:xfrm>
          <a:prstGeom prst="rect">
            <a:avLst/>
          </a:prstGeom>
        </p:spPr>
        <p:txBody>
          <a:bodyPr lIns="0" tIns="0" rIns="0" bIns="0" rtlCol="0" anchor="t">
            <a:spAutoFit/>
          </a:bodyPr>
          <a:lstStyle/>
          <a:p>
            <a:pPr algn="l">
              <a:lnSpc>
                <a:spcPts val="2249"/>
              </a:lnSpc>
            </a:pPr>
            <a:r>
              <a:rPr lang="en-US" sz="1812" b="1">
                <a:solidFill>
                  <a:srgbClr val="4C4C4D"/>
                </a:solidFill>
                <a:latin typeface="Crimson Pro Bold"/>
                <a:ea typeface="Crimson Pro Bold"/>
                <a:cs typeface="Crimson Pro Bold"/>
                <a:sym typeface="Crimson Pro Bold"/>
              </a:rPr>
              <a:t>Mapping Services</a:t>
            </a:r>
          </a:p>
        </p:txBody>
      </p:sp>
      <p:sp>
        <p:nvSpPr>
          <p:cNvPr id="43" name="TextBox 43"/>
          <p:cNvSpPr txBox="1"/>
          <p:nvPr/>
        </p:nvSpPr>
        <p:spPr>
          <a:xfrm>
            <a:off x="13067705" y="2984747"/>
            <a:ext cx="4034284" cy="636985"/>
          </a:xfrm>
          <a:prstGeom prst="rect">
            <a:avLst/>
          </a:prstGeom>
        </p:spPr>
        <p:txBody>
          <a:bodyPr lIns="0" tIns="0" rIns="0" bIns="0" rtlCol="0" anchor="t">
            <a:spAutoFit/>
          </a:bodyPr>
          <a:lstStyle/>
          <a:p>
            <a:pPr algn="l">
              <a:lnSpc>
                <a:spcPts val="2312"/>
              </a:lnSpc>
            </a:pPr>
            <a:r>
              <a:rPr lang="en-US" sz="1437" b="1">
                <a:solidFill>
                  <a:srgbClr val="4C4C4D"/>
                </a:solidFill>
                <a:latin typeface="Heebo Bold"/>
                <a:ea typeface="Heebo Bold"/>
                <a:cs typeface="Heebo Bold"/>
                <a:sym typeface="Heebo Bold"/>
              </a:rPr>
              <a:t>Google Maps API</a:t>
            </a:r>
            <a:r>
              <a:rPr lang="en-US" sz="1437">
                <a:solidFill>
                  <a:srgbClr val="4C4C4D"/>
                </a:solidFill>
                <a:latin typeface="Heebo"/>
                <a:ea typeface="Heebo"/>
                <a:cs typeface="Heebo"/>
                <a:sym typeface="Heebo"/>
              </a:rPr>
              <a:t> and </a:t>
            </a:r>
            <a:r>
              <a:rPr lang="en-US" sz="1437" b="1">
                <a:solidFill>
                  <a:srgbClr val="4C4C4D"/>
                </a:solidFill>
                <a:latin typeface="Heebo Bold"/>
                <a:ea typeface="Heebo Bold"/>
                <a:cs typeface="Heebo Bold"/>
                <a:sym typeface="Heebo Bold"/>
              </a:rPr>
              <a:t>Leaflet.js</a:t>
            </a:r>
            <a:r>
              <a:rPr lang="en-US" sz="1437">
                <a:solidFill>
                  <a:srgbClr val="4C4C4D"/>
                </a:solidFill>
                <a:latin typeface="Heebo"/>
                <a:ea typeface="Heebo"/>
                <a:cs typeface="Heebo"/>
                <a:sym typeface="Heebo"/>
              </a:rPr>
              <a:t> for geospatial visualisation and routing</a:t>
            </a:r>
          </a:p>
        </p:txBody>
      </p:sp>
      <p:grpSp>
        <p:nvGrpSpPr>
          <p:cNvPr id="44" name="Group 44"/>
          <p:cNvGrpSpPr/>
          <p:nvPr/>
        </p:nvGrpSpPr>
        <p:grpSpPr>
          <a:xfrm>
            <a:off x="12797730" y="3999756"/>
            <a:ext cx="4517082" cy="1487240"/>
            <a:chOff x="0" y="0"/>
            <a:chExt cx="6022777" cy="1982987"/>
          </a:xfrm>
        </p:grpSpPr>
        <p:sp>
          <p:nvSpPr>
            <p:cNvPr id="45" name="Freeform 45"/>
            <p:cNvSpPr/>
            <p:nvPr/>
          </p:nvSpPr>
          <p:spPr>
            <a:xfrm>
              <a:off x="12700" y="12700"/>
              <a:ext cx="5997321" cy="1957578"/>
            </a:xfrm>
            <a:custGeom>
              <a:avLst/>
              <a:gdLst/>
              <a:ahLst/>
              <a:cxnLst/>
              <a:rect l="l" t="t" r="r" b="b"/>
              <a:pathLst>
                <a:path w="5997321" h="1957578">
                  <a:moveTo>
                    <a:pt x="0" y="121920"/>
                  </a:moveTo>
                  <a:cubicBezTo>
                    <a:pt x="0" y="54610"/>
                    <a:pt x="55118" y="0"/>
                    <a:pt x="122936" y="0"/>
                  </a:cubicBezTo>
                  <a:lnTo>
                    <a:pt x="5874385" y="0"/>
                  </a:lnTo>
                  <a:cubicBezTo>
                    <a:pt x="5942330" y="0"/>
                    <a:pt x="5997321" y="54610"/>
                    <a:pt x="5997321" y="121920"/>
                  </a:cubicBezTo>
                  <a:lnTo>
                    <a:pt x="5997321" y="1835658"/>
                  </a:lnTo>
                  <a:cubicBezTo>
                    <a:pt x="5997321" y="1902968"/>
                    <a:pt x="5942203" y="1957578"/>
                    <a:pt x="5874385" y="1957578"/>
                  </a:cubicBezTo>
                  <a:lnTo>
                    <a:pt x="122936" y="1957578"/>
                  </a:lnTo>
                  <a:cubicBezTo>
                    <a:pt x="54991" y="1957578"/>
                    <a:pt x="0" y="1902968"/>
                    <a:pt x="0" y="1835658"/>
                  </a:cubicBezTo>
                  <a:close/>
                </a:path>
              </a:pathLst>
            </a:custGeom>
            <a:solidFill>
              <a:srgbClr val="FFFFFF"/>
            </a:solidFill>
            <a:ln w="12700">
              <a:solidFill>
                <a:srgbClr val="000000"/>
              </a:solidFill>
            </a:ln>
          </p:spPr>
        </p:sp>
        <p:sp>
          <p:nvSpPr>
            <p:cNvPr id="46" name="Freeform 46"/>
            <p:cNvSpPr/>
            <p:nvPr/>
          </p:nvSpPr>
          <p:spPr>
            <a:xfrm>
              <a:off x="0" y="0"/>
              <a:ext cx="6022721" cy="1982978"/>
            </a:xfrm>
            <a:custGeom>
              <a:avLst/>
              <a:gdLst/>
              <a:ahLst/>
              <a:cxnLst/>
              <a:rect l="l" t="t" r="r" b="b"/>
              <a:pathLst>
                <a:path w="6022721" h="1982978">
                  <a:moveTo>
                    <a:pt x="0" y="134620"/>
                  </a:moveTo>
                  <a:cubicBezTo>
                    <a:pt x="0" y="60198"/>
                    <a:pt x="60833" y="0"/>
                    <a:pt x="135636" y="0"/>
                  </a:cubicBezTo>
                  <a:lnTo>
                    <a:pt x="5887085" y="0"/>
                  </a:lnTo>
                  <a:lnTo>
                    <a:pt x="5887085" y="12700"/>
                  </a:lnTo>
                  <a:lnTo>
                    <a:pt x="5887085" y="0"/>
                  </a:lnTo>
                  <a:cubicBezTo>
                    <a:pt x="5961888" y="0"/>
                    <a:pt x="6022721" y="60198"/>
                    <a:pt x="6022721" y="134620"/>
                  </a:cubicBezTo>
                  <a:lnTo>
                    <a:pt x="6010021" y="134620"/>
                  </a:lnTo>
                  <a:lnTo>
                    <a:pt x="6022721" y="134620"/>
                  </a:lnTo>
                  <a:lnTo>
                    <a:pt x="6022721" y="1848358"/>
                  </a:lnTo>
                  <a:lnTo>
                    <a:pt x="6010021" y="1848358"/>
                  </a:lnTo>
                  <a:lnTo>
                    <a:pt x="6022721" y="1848358"/>
                  </a:lnTo>
                  <a:cubicBezTo>
                    <a:pt x="6022721" y="1922780"/>
                    <a:pt x="5961888" y="1982978"/>
                    <a:pt x="5887085" y="1982978"/>
                  </a:cubicBezTo>
                  <a:lnTo>
                    <a:pt x="5887085" y="1970278"/>
                  </a:lnTo>
                  <a:lnTo>
                    <a:pt x="5887085" y="1982978"/>
                  </a:lnTo>
                  <a:lnTo>
                    <a:pt x="135636" y="1982978"/>
                  </a:lnTo>
                  <a:lnTo>
                    <a:pt x="135636" y="1970278"/>
                  </a:lnTo>
                  <a:lnTo>
                    <a:pt x="135636" y="1982978"/>
                  </a:lnTo>
                  <a:cubicBezTo>
                    <a:pt x="60833" y="1982978"/>
                    <a:pt x="0" y="1922780"/>
                    <a:pt x="0" y="1848358"/>
                  </a:cubicBezTo>
                  <a:lnTo>
                    <a:pt x="0" y="134620"/>
                  </a:lnTo>
                  <a:lnTo>
                    <a:pt x="12700" y="134620"/>
                  </a:lnTo>
                  <a:lnTo>
                    <a:pt x="0" y="134620"/>
                  </a:lnTo>
                  <a:moveTo>
                    <a:pt x="25400" y="134620"/>
                  </a:moveTo>
                  <a:lnTo>
                    <a:pt x="25400" y="1848358"/>
                  </a:lnTo>
                  <a:lnTo>
                    <a:pt x="12700" y="1848358"/>
                  </a:lnTo>
                  <a:lnTo>
                    <a:pt x="25400" y="1848358"/>
                  </a:lnTo>
                  <a:cubicBezTo>
                    <a:pt x="25400" y="1908556"/>
                    <a:pt x="74676" y="1957578"/>
                    <a:pt x="135636" y="1957578"/>
                  </a:cubicBezTo>
                  <a:lnTo>
                    <a:pt x="5887085" y="1957578"/>
                  </a:lnTo>
                  <a:cubicBezTo>
                    <a:pt x="5948045" y="1957578"/>
                    <a:pt x="5997321" y="1908556"/>
                    <a:pt x="5997321" y="1848358"/>
                  </a:cubicBezTo>
                  <a:lnTo>
                    <a:pt x="5997321" y="134620"/>
                  </a:lnTo>
                  <a:cubicBezTo>
                    <a:pt x="5997321" y="74422"/>
                    <a:pt x="5948045" y="25400"/>
                    <a:pt x="5887085" y="25400"/>
                  </a:cubicBezTo>
                  <a:lnTo>
                    <a:pt x="135636" y="25400"/>
                  </a:lnTo>
                  <a:lnTo>
                    <a:pt x="135636" y="12700"/>
                  </a:lnTo>
                  <a:lnTo>
                    <a:pt x="135636" y="25400"/>
                  </a:lnTo>
                  <a:cubicBezTo>
                    <a:pt x="74676" y="25400"/>
                    <a:pt x="25400" y="74422"/>
                    <a:pt x="25400" y="134620"/>
                  </a:cubicBezTo>
                  <a:close/>
                </a:path>
              </a:pathLst>
            </a:custGeom>
            <a:solidFill>
              <a:srgbClr val="F578DE"/>
            </a:solidFill>
            <a:ln w="12700">
              <a:solidFill>
                <a:srgbClr val="000000"/>
              </a:solidFill>
            </a:ln>
          </p:spPr>
        </p:sp>
      </p:grpSp>
      <p:grpSp>
        <p:nvGrpSpPr>
          <p:cNvPr id="47" name="Group 47"/>
          <p:cNvGrpSpPr/>
          <p:nvPr/>
        </p:nvGrpSpPr>
        <p:grpSpPr>
          <a:xfrm>
            <a:off x="12788205" y="4009281"/>
            <a:ext cx="76200" cy="1468190"/>
            <a:chOff x="0" y="0"/>
            <a:chExt cx="101600" cy="1957587"/>
          </a:xfrm>
        </p:grpSpPr>
        <p:sp>
          <p:nvSpPr>
            <p:cNvPr id="48" name="Freeform 48"/>
            <p:cNvSpPr/>
            <p:nvPr/>
          </p:nvSpPr>
          <p:spPr>
            <a:xfrm>
              <a:off x="0" y="0"/>
              <a:ext cx="101600" cy="1957578"/>
            </a:xfrm>
            <a:custGeom>
              <a:avLst/>
              <a:gdLst/>
              <a:ahLst/>
              <a:cxnLst/>
              <a:rect l="l" t="t" r="r" b="b"/>
              <a:pathLst>
                <a:path w="101600" h="1957578">
                  <a:moveTo>
                    <a:pt x="0" y="36830"/>
                  </a:moveTo>
                  <a:cubicBezTo>
                    <a:pt x="0" y="16510"/>
                    <a:pt x="16510" y="0"/>
                    <a:pt x="36830" y="0"/>
                  </a:cubicBezTo>
                  <a:lnTo>
                    <a:pt x="64770" y="0"/>
                  </a:lnTo>
                  <a:cubicBezTo>
                    <a:pt x="85090" y="0"/>
                    <a:pt x="101600" y="16510"/>
                    <a:pt x="101600" y="36830"/>
                  </a:cubicBezTo>
                  <a:lnTo>
                    <a:pt x="101600" y="1920748"/>
                  </a:lnTo>
                  <a:cubicBezTo>
                    <a:pt x="101600" y="1941068"/>
                    <a:pt x="85090" y="1957578"/>
                    <a:pt x="64770" y="1957578"/>
                  </a:cubicBezTo>
                  <a:lnTo>
                    <a:pt x="36830" y="1957578"/>
                  </a:lnTo>
                  <a:cubicBezTo>
                    <a:pt x="16510" y="1957578"/>
                    <a:pt x="0" y="1941068"/>
                    <a:pt x="0" y="1920748"/>
                  </a:cubicBezTo>
                  <a:close/>
                </a:path>
              </a:pathLst>
            </a:custGeom>
            <a:solidFill>
              <a:srgbClr val="F578DE"/>
            </a:solidFill>
            <a:ln w="12700">
              <a:solidFill>
                <a:srgbClr val="000000"/>
              </a:solidFill>
            </a:ln>
          </p:spPr>
        </p:sp>
      </p:grpSp>
      <p:sp>
        <p:nvSpPr>
          <p:cNvPr id="49" name="TextBox 49"/>
          <p:cNvSpPr txBox="1"/>
          <p:nvPr/>
        </p:nvSpPr>
        <p:spPr>
          <a:xfrm>
            <a:off x="13067705" y="4193530"/>
            <a:ext cx="2303710" cy="307033"/>
          </a:xfrm>
          <a:prstGeom prst="rect">
            <a:avLst/>
          </a:prstGeom>
        </p:spPr>
        <p:txBody>
          <a:bodyPr lIns="0" tIns="0" rIns="0" bIns="0" rtlCol="0" anchor="t">
            <a:spAutoFit/>
          </a:bodyPr>
          <a:lstStyle/>
          <a:p>
            <a:pPr algn="l">
              <a:lnSpc>
                <a:spcPts val="2249"/>
              </a:lnSpc>
            </a:pPr>
            <a:r>
              <a:rPr lang="en-US" sz="1812" b="1">
                <a:solidFill>
                  <a:srgbClr val="4C4C4D"/>
                </a:solidFill>
                <a:latin typeface="Crimson Pro Bold"/>
                <a:ea typeface="Crimson Pro Bold"/>
                <a:cs typeface="Crimson Pro Bold"/>
                <a:sym typeface="Crimson Pro Bold"/>
              </a:rPr>
              <a:t>Security Layer</a:t>
            </a:r>
          </a:p>
        </p:txBody>
      </p:sp>
      <p:sp>
        <p:nvSpPr>
          <p:cNvPr id="50" name="TextBox 50"/>
          <p:cNvSpPr txBox="1"/>
          <p:nvPr/>
        </p:nvSpPr>
        <p:spPr>
          <a:xfrm>
            <a:off x="13067705" y="4637186"/>
            <a:ext cx="4034284" cy="636985"/>
          </a:xfrm>
          <a:prstGeom prst="rect">
            <a:avLst/>
          </a:prstGeom>
        </p:spPr>
        <p:txBody>
          <a:bodyPr lIns="0" tIns="0" rIns="0" bIns="0" rtlCol="0" anchor="t">
            <a:spAutoFit/>
          </a:bodyPr>
          <a:lstStyle/>
          <a:p>
            <a:pPr algn="l">
              <a:lnSpc>
                <a:spcPts val="2312"/>
              </a:lnSpc>
            </a:pPr>
            <a:r>
              <a:rPr lang="en-US" sz="1437" b="1">
                <a:solidFill>
                  <a:srgbClr val="4C4C4D"/>
                </a:solidFill>
                <a:latin typeface="Heebo Bold"/>
                <a:ea typeface="Heebo Bold"/>
                <a:cs typeface="Heebo Bold"/>
                <a:sym typeface="Heebo Bold"/>
              </a:rPr>
              <a:t>Spring Security with JWT</a:t>
            </a:r>
            <a:r>
              <a:rPr lang="en-US" sz="1437">
                <a:solidFill>
                  <a:srgbClr val="4C4C4D"/>
                </a:solidFill>
                <a:latin typeface="Heebo"/>
                <a:ea typeface="Heebo"/>
                <a:cs typeface="Heebo"/>
                <a:sym typeface="Heebo"/>
              </a:rPr>
              <a:t> tokens ensuring encrypted, role-based access control</a:t>
            </a:r>
          </a:p>
        </p:txBody>
      </p:sp>
      <p:grpSp>
        <p:nvGrpSpPr>
          <p:cNvPr id="51" name="Group 51"/>
          <p:cNvGrpSpPr/>
          <p:nvPr/>
        </p:nvGrpSpPr>
        <p:grpSpPr>
          <a:xfrm>
            <a:off x="12797730" y="5652195"/>
            <a:ext cx="4517082" cy="1487240"/>
            <a:chOff x="0" y="0"/>
            <a:chExt cx="6022777" cy="1982987"/>
          </a:xfrm>
        </p:grpSpPr>
        <p:sp>
          <p:nvSpPr>
            <p:cNvPr id="52" name="Freeform 52"/>
            <p:cNvSpPr/>
            <p:nvPr/>
          </p:nvSpPr>
          <p:spPr>
            <a:xfrm>
              <a:off x="12700" y="12700"/>
              <a:ext cx="5997321" cy="1957578"/>
            </a:xfrm>
            <a:custGeom>
              <a:avLst/>
              <a:gdLst/>
              <a:ahLst/>
              <a:cxnLst/>
              <a:rect l="l" t="t" r="r" b="b"/>
              <a:pathLst>
                <a:path w="5997321" h="1957578">
                  <a:moveTo>
                    <a:pt x="0" y="121920"/>
                  </a:moveTo>
                  <a:cubicBezTo>
                    <a:pt x="0" y="54610"/>
                    <a:pt x="55118" y="0"/>
                    <a:pt x="122936" y="0"/>
                  </a:cubicBezTo>
                  <a:lnTo>
                    <a:pt x="5874385" y="0"/>
                  </a:lnTo>
                  <a:cubicBezTo>
                    <a:pt x="5942330" y="0"/>
                    <a:pt x="5997321" y="54610"/>
                    <a:pt x="5997321" y="121920"/>
                  </a:cubicBezTo>
                  <a:lnTo>
                    <a:pt x="5997321" y="1835658"/>
                  </a:lnTo>
                  <a:cubicBezTo>
                    <a:pt x="5997321" y="1902968"/>
                    <a:pt x="5942203" y="1957578"/>
                    <a:pt x="5874385" y="1957578"/>
                  </a:cubicBezTo>
                  <a:lnTo>
                    <a:pt x="122936" y="1957578"/>
                  </a:lnTo>
                  <a:cubicBezTo>
                    <a:pt x="54991" y="1957578"/>
                    <a:pt x="0" y="1902968"/>
                    <a:pt x="0" y="1835658"/>
                  </a:cubicBezTo>
                  <a:close/>
                </a:path>
              </a:pathLst>
            </a:custGeom>
            <a:solidFill>
              <a:srgbClr val="FFFFFF"/>
            </a:solidFill>
            <a:ln w="12700">
              <a:solidFill>
                <a:srgbClr val="000000"/>
              </a:solidFill>
            </a:ln>
          </p:spPr>
        </p:sp>
        <p:sp>
          <p:nvSpPr>
            <p:cNvPr id="53" name="Freeform 53"/>
            <p:cNvSpPr/>
            <p:nvPr/>
          </p:nvSpPr>
          <p:spPr>
            <a:xfrm>
              <a:off x="0" y="0"/>
              <a:ext cx="6022721" cy="1982978"/>
            </a:xfrm>
            <a:custGeom>
              <a:avLst/>
              <a:gdLst/>
              <a:ahLst/>
              <a:cxnLst/>
              <a:rect l="l" t="t" r="r" b="b"/>
              <a:pathLst>
                <a:path w="6022721" h="1982978">
                  <a:moveTo>
                    <a:pt x="0" y="134620"/>
                  </a:moveTo>
                  <a:cubicBezTo>
                    <a:pt x="0" y="60198"/>
                    <a:pt x="60833" y="0"/>
                    <a:pt x="135636" y="0"/>
                  </a:cubicBezTo>
                  <a:lnTo>
                    <a:pt x="5887085" y="0"/>
                  </a:lnTo>
                  <a:lnTo>
                    <a:pt x="5887085" y="12700"/>
                  </a:lnTo>
                  <a:lnTo>
                    <a:pt x="5887085" y="0"/>
                  </a:lnTo>
                  <a:cubicBezTo>
                    <a:pt x="5961888" y="0"/>
                    <a:pt x="6022721" y="60198"/>
                    <a:pt x="6022721" y="134620"/>
                  </a:cubicBezTo>
                  <a:lnTo>
                    <a:pt x="6010021" y="134620"/>
                  </a:lnTo>
                  <a:lnTo>
                    <a:pt x="6022721" y="134620"/>
                  </a:lnTo>
                  <a:lnTo>
                    <a:pt x="6022721" y="1848358"/>
                  </a:lnTo>
                  <a:lnTo>
                    <a:pt x="6010021" y="1848358"/>
                  </a:lnTo>
                  <a:lnTo>
                    <a:pt x="6022721" y="1848358"/>
                  </a:lnTo>
                  <a:cubicBezTo>
                    <a:pt x="6022721" y="1922780"/>
                    <a:pt x="5961888" y="1982978"/>
                    <a:pt x="5887085" y="1982978"/>
                  </a:cubicBezTo>
                  <a:lnTo>
                    <a:pt x="5887085" y="1970278"/>
                  </a:lnTo>
                  <a:lnTo>
                    <a:pt x="5887085" y="1982978"/>
                  </a:lnTo>
                  <a:lnTo>
                    <a:pt x="135636" y="1982978"/>
                  </a:lnTo>
                  <a:lnTo>
                    <a:pt x="135636" y="1970278"/>
                  </a:lnTo>
                  <a:lnTo>
                    <a:pt x="135636" y="1982978"/>
                  </a:lnTo>
                  <a:cubicBezTo>
                    <a:pt x="60833" y="1982978"/>
                    <a:pt x="0" y="1922780"/>
                    <a:pt x="0" y="1848358"/>
                  </a:cubicBezTo>
                  <a:lnTo>
                    <a:pt x="0" y="134620"/>
                  </a:lnTo>
                  <a:lnTo>
                    <a:pt x="12700" y="134620"/>
                  </a:lnTo>
                  <a:lnTo>
                    <a:pt x="0" y="134620"/>
                  </a:lnTo>
                  <a:moveTo>
                    <a:pt x="25400" y="134620"/>
                  </a:moveTo>
                  <a:lnTo>
                    <a:pt x="25400" y="1848358"/>
                  </a:lnTo>
                  <a:lnTo>
                    <a:pt x="12700" y="1848358"/>
                  </a:lnTo>
                  <a:lnTo>
                    <a:pt x="25400" y="1848358"/>
                  </a:lnTo>
                  <a:cubicBezTo>
                    <a:pt x="25400" y="1908556"/>
                    <a:pt x="74676" y="1957578"/>
                    <a:pt x="135636" y="1957578"/>
                  </a:cubicBezTo>
                  <a:lnTo>
                    <a:pt x="5887085" y="1957578"/>
                  </a:lnTo>
                  <a:cubicBezTo>
                    <a:pt x="5948045" y="1957578"/>
                    <a:pt x="5997321" y="1908556"/>
                    <a:pt x="5997321" y="1848358"/>
                  </a:cubicBezTo>
                  <a:lnTo>
                    <a:pt x="5997321" y="134620"/>
                  </a:lnTo>
                  <a:cubicBezTo>
                    <a:pt x="5997321" y="74422"/>
                    <a:pt x="5948045" y="25400"/>
                    <a:pt x="5887085" y="25400"/>
                  </a:cubicBezTo>
                  <a:lnTo>
                    <a:pt x="135636" y="25400"/>
                  </a:lnTo>
                  <a:lnTo>
                    <a:pt x="135636" y="12700"/>
                  </a:lnTo>
                  <a:lnTo>
                    <a:pt x="135636" y="25400"/>
                  </a:lnTo>
                  <a:cubicBezTo>
                    <a:pt x="74676" y="25400"/>
                    <a:pt x="25400" y="74422"/>
                    <a:pt x="25400" y="134620"/>
                  </a:cubicBezTo>
                  <a:close/>
                </a:path>
              </a:pathLst>
            </a:custGeom>
            <a:solidFill>
              <a:srgbClr val="84C1FA"/>
            </a:solidFill>
            <a:ln w="12700">
              <a:solidFill>
                <a:srgbClr val="000000"/>
              </a:solidFill>
            </a:ln>
          </p:spPr>
        </p:sp>
      </p:grpSp>
      <p:grpSp>
        <p:nvGrpSpPr>
          <p:cNvPr id="54" name="Group 54"/>
          <p:cNvGrpSpPr/>
          <p:nvPr/>
        </p:nvGrpSpPr>
        <p:grpSpPr>
          <a:xfrm>
            <a:off x="12788205" y="5661720"/>
            <a:ext cx="76200" cy="1468190"/>
            <a:chOff x="0" y="0"/>
            <a:chExt cx="101600" cy="1957587"/>
          </a:xfrm>
        </p:grpSpPr>
        <p:sp>
          <p:nvSpPr>
            <p:cNvPr id="55" name="Freeform 55"/>
            <p:cNvSpPr/>
            <p:nvPr/>
          </p:nvSpPr>
          <p:spPr>
            <a:xfrm>
              <a:off x="0" y="0"/>
              <a:ext cx="101600" cy="1957578"/>
            </a:xfrm>
            <a:custGeom>
              <a:avLst/>
              <a:gdLst/>
              <a:ahLst/>
              <a:cxnLst/>
              <a:rect l="l" t="t" r="r" b="b"/>
              <a:pathLst>
                <a:path w="101600" h="1957578">
                  <a:moveTo>
                    <a:pt x="0" y="36830"/>
                  </a:moveTo>
                  <a:cubicBezTo>
                    <a:pt x="0" y="16510"/>
                    <a:pt x="16510" y="0"/>
                    <a:pt x="36830" y="0"/>
                  </a:cubicBezTo>
                  <a:lnTo>
                    <a:pt x="64770" y="0"/>
                  </a:lnTo>
                  <a:cubicBezTo>
                    <a:pt x="85090" y="0"/>
                    <a:pt x="101600" y="16510"/>
                    <a:pt x="101600" y="36830"/>
                  </a:cubicBezTo>
                  <a:lnTo>
                    <a:pt x="101600" y="1920748"/>
                  </a:lnTo>
                  <a:cubicBezTo>
                    <a:pt x="101600" y="1941068"/>
                    <a:pt x="85090" y="1957578"/>
                    <a:pt x="64770" y="1957578"/>
                  </a:cubicBezTo>
                  <a:lnTo>
                    <a:pt x="36830" y="1957578"/>
                  </a:lnTo>
                  <a:cubicBezTo>
                    <a:pt x="16510" y="1957578"/>
                    <a:pt x="0" y="1941068"/>
                    <a:pt x="0" y="1920748"/>
                  </a:cubicBezTo>
                  <a:close/>
                </a:path>
              </a:pathLst>
            </a:custGeom>
            <a:solidFill>
              <a:srgbClr val="84C1FA"/>
            </a:solidFill>
            <a:ln w="12700">
              <a:solidFill>
                <a:srgbClr val="000000"/>
              </a:solidFill>
            </a:ln>
          </p:spPr>
        </p:sp>
      </p:grpSp>
      <p:sp>
        <p:nvSpPr>
          <p:cNvPr id="56" name="TextBox 56"/>
          <p:cNvSpPr txBox="1"/>
          <p:nvPr/>
        </p:nvSpPr>
        <p:spPr>
          <a:xfrm>
            <a:off x="13067705" y="5845969"/>
            <a:ext cx="2303710" cy="307032"/>
          </a:xfrm>
          <a:prstGeom prst="rect">
            <a:avLst/>
          </a:prstGeom>
        </p:spPr>
        <p:txBody>
          <a:bodyPr lIns="0" tIns="0" rIns="0" bIns="0" rtlCol="0" anchor="t">
            <a:spAutoFit/>
          </a:bodyPr>
          <a:lstStyle/>
          <a:p>
            <a:pPr algn="l">
              <a:lnSpc>
                <a:spcPts val="2249"/>
              </a:lnSpc>
            </a:pPr>
            <a:r>
              <a:rPr lang="en-US" sz="1812" b="1">
                <a:solidFill>
                  <a:srgbClr val="4C4C4D"/>
                </a:solidFill>
                <a:latin typeface="Crimson Pro Bold"/>
                <a:ea typeface="Crimson Pro Bold"/>
                <a:cs typeface="Crimson Pro Bold"/>
                <a:sym typeface="Crimson Pro Bold"/>
              </a:rPr>
              <a:t>Data Visualisation</a:t>
            </a:r>
          </a:p>
        </p:txBody>
      </p:sp>
      <p:sp>
        <p:nvSpPr>
          <p:cNvPr id="57" name="TextBox 57"/>
          <p:cNvSpPr txBox="1"/>
          <p:nvPr/>
        </p:nvSpPr>
        <p:spPr>
          <a:xfrm>
            <a:off x="13067705" y="6289625"/>
            <a:ext cx="4034284" cy="636985"/>
          </a:xfrm>
          <a:prstGeom prst="rect">
            <a:avLst/>
          </a:prstGeom>
        </p:spPr>
        <p:txBody>
          <a:bodyPr lIns="0" tIns="0" rIns="0" bIns="0" rtlCol="0" anchor="t">
            <a:spAutoFit/>
          </a:bodyPr>
          <a:lstStyle/>
          <a:p>
            <a:pPr algn="l">
              <a:lnSpc>
                <a:spcPts val="2312"/>
              </a:lnSpc>
            </a:pPr>
            <a:r>
              <a:rPr lang="en-US" sz="1437" b="1">
                <a:solidFill>
                  <a:srgbClr val="4C4C4D"/>
                </a:solidFill>
                <a:latin typeface="Heebo Bold"/>
                <a:ea typeface="Heebo Bold"/>
                <a:cs typeface="Heebo Bold"/>
                <a:sym typeface="Heebo Bold"/>
              </a:rPr>
              <a:t>Chart.js, ApexCharts, Recharts</a:t>
            </a:r>
            <a:r>
              <a:rPr lang="en-US" sz="1437">
                <a:solidFill>
                  <a:srgbClr val="4C4C4D"/>
                </a:solidFill>
                <a:latin typeface="Heebo"/>
                <a:ea typeface="Heebo"/>
                <a:cs typeface="Heebo"/>
                <a:sym typeface="Heebo"/>
              </a:rPr>
              <a:t> for interactive analytics and reporting dashboards</a:t>
            </a:r>
          </a:p>
        </p:txBody>
      </p:sp>
      <p:grpSp>
        <p:nvGrpSpPr>
          <p:cNvPr id="58" name="Group 58"/>
          <p:cNvGrpSpPr/>
          <p:nvPr/>
        </p:nvGrpSpPr>
        <p:grpSpPr>
          <a:xfrm>
            <a:off x="12797730" y="7304634"/>
            <a:ext cx="4517082" cy="1487240"/>
            <a:chOff x="0" y="0"/>
            <a:chExt cx="6022777" cy="1982987"/>
          </a:xfrm>
        </p:grpSpPr>
        <p:sp>
          <p:nvSpPr>
            <p:cNvPr id="59" name="Freeform 59"/>
            <p:cNvSpPr/>
            <p:nvPr/>
          </p:nvSpPr>
          <p:spPr>
            <a:xfrm>
              <a:off x="12700" y="12700"/>
              <a:ext cx="5997321" cy="1957578"/>
            </a:xfrm>
            <a:custGeom>
              <a:avLst/>
              <a:gdLst/>
              <a:ahLst/>
              <a:cxnLst/>
              <a:rect l="l" t="t" r="r" b="b"/>
              <a:pathLst>
                <a:path w="5997321" h="1957578">
                  <a:moveTo>
                    <a:pt x="0" y="121920"/>
                  </a:moveTo>
                  <a:cubicBezTo>
                    <a:pt x="0" y="54610"/>
                    <a:pt x="55118" y="0"/>
                    <a:pt x="122936" y="0"/>
                  </a:cubicBezTo>
                  <a:lnTo>
                    <a:pt x="5874385" y="0"/>
                  </a:lnTo>
                  <a:cubicBezTo>
                    <a:pt x="5942330" y="0"/>
                    <a:pt x="5997321" y="54610"/>
                    <a:pt x="5997321" y="121920"/>
                  </a:cubicBezTo>
                  <a:lnTo>
                    <a:pt x="5997321" y="1835658"/>
                  </a:lnTo>
                  <a:cubicBezTo>
                    <a:pt x="5997321" y="1902968"/>
                    <a:pt x="5942203" y="1957578"/>
                    <a:pt x="5874385" y="1957578"/>
                  </a:cubicBezTo>
                  <a:lnTo>
                    <a:pt x="122936" y="1957578"/>
                  </a:lnTo>
                  <a:cubicBezTo>
                    <a:pt x="54991" y="1957578"/>
                    <a:pt x="0" y="1902968"/>
                    <a:pt x="0" y="1835658"/>
                  </a:cubicBezTo>
                  <a:close/>
                </a:path>
              </a:pathLst>
            </a:custGeom>
            <a:solidFill>
              <a:srgbClr val="FFFFFF"/>
            </a:solidFill>
            <a:ln w="12700">
              <a:solidFill>
                <a:srgbClr val="000000"/>
              </a:solidFill>
            </a:ln>
          </p:spPr>
        </p:sp>
        <p:sp>
          <p:nvSpPr>
            <p:cNvPr id="60" name="Freeform 60"/>
            <p:cNvSpPr/>
            <p:nvPr/>
          </p:nvSpPr>
          <p:spPr>
            <a:xfrm>
              <a:off x="0" y="0"/>
              <a:ext cx="6022721" cy="1982978"/>
            </a:xfrm>
            <a:custGeom>
              <a:avLst/>
              <a:gdLst/>
              <a:ahLst/>
              <a:cxnLst/>
              <a:rect l="l" t="t" r="r" b="b"/>
              <a:pathLst>
                <a:path w="6022721" h="1982978">
                  <a:moveTo>
                    <a:pt x="0" y="134620"/>
                  </a:moveTo>
                  <a:cubicBezTo>
                    <a:pt x="0" y="60198"/>
                    <a:pt x="60833" y="0"/>
                    <a:pt x="135636" y="0"/>
                  </a:cubicBezTo>
                  <a:lnTo>
                    <a:pt x="5887085" y="0"/>
                  </a:lnTo>
                  <a:lnTo>
                    <a:pt x="5887085" y="12700"/>
                  </a:lnTo>
                  <a:lnTo>
                    <a:pt x="5887085" y="0"/>
                  </a:lnTo>
                  <a:cubicBezTo>
                    <a:pt x="5961888" y="0"/>
                    <a:pt x="6022721" y="60198"/>
                    <a:pt x="6022721" y="134620"/>
                  </a:cubicBezTo>
                  <a:lnTo>
                    <a:pt x="6010021" y="134620"/>
                  </a:lnTo>
                  <a:lnTo>
                    <a:pt x="6022721" y="134620"/>
                  </a:lnTo>
                  <a:lnTo>
                    <a:pt x="6022721" y="1848358"/>
                  </a:lnTo>
                  <a:lnTo>
                    <a:pt x="6010021" y="1848358"/>
                  </a:lnTo>
                  <a:lnTo>
                    <a:pt x="6022721" y="1848358"/>
                  </a:lnTo>
                  <a:cubicBezTo>
                    <a:pt x="6022721" y="1922780"/>
                    <a:pt x="5961888" y="1982978"/>
                    <a:pt x="5887085" y="1982978"/>
                  </a:cubicBezTo>
                  <a:lnTo>
                    <a:pt x="5887085" y="1970278"/>
                  </a:lnTo>
                  <a:lnTo>
                    <a:pt x="5887085" y="1982978"/>
                  </a:lnTo>
                  <a:lnTo>
                    <a:pt x="135636" y="1982978"/>
                  </a:lnTo>
                  <a:lnTo>
                    <a:pt x="135636" y="1970278"/>
                  </a:lnTo>
                  <a:lnTo>
                    <a:pt x="135636" y="1982978"/>
                  </a:lnTo>
                  <a:cubicBezTo>
                    <a:pt x="60833" y="1982978"/>
                    <a:pt x="0" y="1922780"/>
                    <a:pt x="0" y="1848358"/>
                  </a:cubicBezTo>
                  <a:lnTo>
                    <a:pt x="0" y="134620"/>
                  </a:lnTo>
                  <a:lnTo>
                    <a:pt x="12700" y="134620"/>
                  </a:lnTo>
                  <a:lnTo>
                    <a:pt x="0" y="134620"/>
                  </a:lnTo>
                  <a:moveTo>
                    <a:pt x="25400" y="134620"/>
                  </a:moveTo>
                  <a:lnTo>
                    <a:pt x="25400" y="1848358"/>
                  </a:lnTo>
                  <a:lnTo>
                    <a:pt x="12700" y="1848358"/>
                  </a:lnTo>
                  <a:lnTo>
                    <a:pt x="25400" y="1848358"/>
                  </a:lnTo>
                  <a:cubicBezTo>
                    <a:pt x="25400" y="1908556"/>
                    <a:pt x="74676" y="1957578"/>
                    <a:pt x="135636" y="1957578"/>
                  </a:cubicBezTo>
                  <a:lnTo>
                    <a:pt x="5887085" y="1957578"/>
                  </a:lnTo>
                  <a:cubicBezTo>
                    <a:pt x="5948045" y="1957578"/>
                    <a:pt x="5997321" y="1908556"/>
                    <a:pt x="5997321" y="1848358"/>
                  </a:cubicBezTo>
                  <a:lnTo>
                    <a:pt x="5997321" y="134620"/>
                  </a:lnTo>
                  <a:cubicBezTo>
                    <a:pt x="5997321" y="74422"/>
                    <a:pt x="5948045" y="25400"/>
                    <a:pt x="5887085" y="25400"/>
                  </a:cubicBezTo>
                  <a:lnTo>
                    <a:pt x="135636" y="25400"/>
                  </a:lnTo>
                  <a:lnTo>
                    <a:pt x="135636" y="12700"/>
                  </a:lnTo>
                  <a:lnTo>
                    <a:pt x="135636" y="25400"/>
                  </a:lnTo>
                  <a:cubicBezTo>
                    <a:pt x="74676" y="25400"/>
                    <a:pt x="25400" y="74422"/>
                    <a:pt x="25400" y="134620"/>
                  </a:cubicBezTo>
                  <a:close/>
                </a:path>
              </a:pathLst>
            </a:custGeom>
            <a:solidFill>
              <a:srgbClr val="CDDAFA"/>
            </a:solidFill>
            <a:ln w="12700">
              <a:solidFill>
                <a:srgbClr val="000000"/>
              </a:solidFill>
            </a:ln>
          </p:spPr>
        </p:sp>
      </p:grpSp>
      <p:grpSp>
        <p:nvGrpSpPr>
          <p:cNvPr id="61" name="Group 61"/>
          <p:cNvGrpSpPr/>
          <p:nvPr/>
        </p:nvGrpSpPr>
        <p:grpSpPr>
          <a:xfrm>
            <a:off x="12788205" y="7314159"/>
            <a:ext cx="76200" cy="1468190"/>
            <a:chOff x="0" y="0"/>
            <a:chExt cx="101600" cy="1957587"/>
          </a:xfrm>
        </p:grpSpPr>
        <p:sp>
          <p:nvSpPr>
            <p:cNvPr id="62" name="Freeform 62"/>
            <p:cNvSpPr/>
            <p:nvPr/>
          </p:nvSpPr>
          <p:spPr>
            <a:xfrm>
              <a:off x="0" y="0"/>
              <a:ext cx="101600" cy="1957578"/>
            </a:xfrm>
            <a:custGeom>
              <a:avLst/>
              <a:gdLst/>
              <a:ahLst/>
              <a:cxnLst/>
              <a:rect l="l" t="t" r="r" b="b"/>
              <a:pathLst>
                <a:path w="101600" h="1957578">
                  <a:moveTo>
                    <a:pt x="0" y="36830"/>
                  </a:moveTo>
                  <a:cubicBezTo>
                    <a:pt x="0" y="16510"/>
                    <a:pt x="16510" y="0"/>
                    <a:pt x="36830" y="0"/>
                  </a:cubicBezTo>
                  <a:lnTo>
                    <a:pt x="64770" y="0"/>
                  </a:lnTo>
                  <a:cubicBezTo>
                    <a:pt x="85090" y="0"/>
                    <a:pt x="101600" y="16510"/>
                    <a:pt x="101600" y="36830"/>
                  </a:cubicBezTo>
                  <a:lnTo>
                    <a:pt x="101600" y="1920748"/>
                  </a:lnTo>
                  <a:cubicBezTo>
                    <a:pt x="101600" y="1941068"/>
                    <a:pt x="85090" y="1957578"/>
                    <a:pt x="64770" y="1957578"/>
                  </a:cubicBezTo>
                  <a:lnTo>
                    <a:pt x="36830" y="1957578"/>
                  </a:lnTo>
                  <a:cubicBezTo>
                    <a:pt x="16510" y="1957578"/>
                    <a:pt x="0" y="1941068"/>
                    <a:pt x="0" y="1920748"/>
                  </a:cubicBezTo>
                  <a:close/>
                </a:path>
              </a:pathLst>
            </a:custGeom>
            <a:solidFill>
              <a:srgbClr val="CDDAFA"/>
            </a:solidFill>
            <a:ln w="12700">
              <a:solidFill>
                <a:srgbClr val="000000"/>
              </a:solidFill>
            </a:ln>
          </p:spPr>
        </p:sp>
      </p:grpSp>
      <p:sp>
        <p:nvSpPr>
          <p:cNvPr id="63" name="TextBox 63"/>
          <p:cNvSpPr txBox="1"/>
          <p:nvPr/>
        </p:nvSpPr>
        <p:spPr>
          <a:xfrm>
            <a:off x="13067705" y="7498408"/>
            <a:ext cx="2303710" cy="307032"/>
          </a:xfrm>
          <a:prstGeom prst="rect">
            <a:avLst/>
          </a:prstGeom>
        </p:spPr>
        <p:txBody>
          <a:bodyPr lIns="0" tIns="0" rIns="0" bIns="0" rtlCol="0" anchor="t">
            <a:spAutoFit/>
          </a:bodyPr>
          <a:lstStyle/>
          <a:p>
            <a:pPr algn="l">
              <a:lnSpc>
                <a:spcPts val="2249"/>
              </a:lnSpc>
            </a:pPr>
            <a:r>
              <a:rPr lang="en-US" sz="1812" b="1">
                <a:solidFill>
                  <a:srgbClr val="4C4C4D"/>
                </a:solidFill>
                <a:latin typeface="Crimson Pro Bold"/>
                <a:ea typeface="Crimson Pro Bold"/>
                <a:cs typeface="Crimson Pro Bold"/>
                <a:sym typeface="Crimson Pro Bold"/>
              </a:rPr>
              <a:t>Additional APIs</a:t>
            </a:r>
          </a:p>
        </p:txBody>
      </p:sp>
      <p:sp>
        <p:nvSpPr>
          <p:cNvPr id="64" name="TextBox 64"/>
          <p:cNvSpPr txBox="1"/>
          <p:nvPr/>
        </p:nvSpPr>
        <p:spPr>
          <a:xfrm>
            <a:off x="13067705" y="7942064"/>
            <a:ext cx="4034284" cy="636985"/>
          </a:xfrm>
          <a:prstGeom prst="rect">
            <a:avLst/>
          </a:prstGeom>
        </p:spPr>
        <p:txBody>
          <a:bodyPr lIns="0" tIns="0" rIns="0" bIns="0" rtlCol="0" anchor="t">
            <a:spAutoFit/>
          </a:bodyPr>
          <a:lstStyle/>
          <a:p>
            <a:pPr algn="l">
              <a:lnSpc>
                <a:spcPts val="2312"/>
              </a:lnSpc>
            </a:pPr>
            <a:r>
              <a:rPr lang="en-US" sz="1437" b="1">
                <a:solidFill>
                  <a:srgbClr val="4C4C4D"/>
                </a:solidFill>
                <a:latin typeface="Heebo Bold"/>
                <a:ea typeface="Heebo Bold"/>
                <a:cs typeface="Heebo Bold"/>
                <a:sym typeface="Heebo Bold"/>
              </a:rPr>
              <a:t>SMTP</a:t>
            </a:r>
            <a:r>
              <a:rPr lang="en-US" sz="1437">
                <a:solidFill>
                  <a:srgbClr val="4C4C4D"/>
                </a:solidFill>
                <a:latin typeface="Heebo"/>
                <a:ea typeface="Heebo"/>
                <a:cs typeface="Heebo"/>
                <a:sym typeface="Heebo"/>
              </a:rPr>
              <a:t> for email notifications and </a:t>
            </a:r>
            <a:r>
              <a:rPr lang="en-US" sz="1437" b="1">
                <a:solidFill>
                  <a:srgbClr val="4C4C4D"/>
                </a:solidFill>
                <a:latin typeface="Heebo Bold"/>
                <a:ea typeface="Heebo Bold"/>
                <a:cs typeface="Heebo Bold"/>
                <a:sym typeface="Heebo Bold"/>
              </a:rPr>
              <a:t>WebSocket</a:t>
            </a:r>
            <a:r>
              <a:rPr lang="en-US" sz="1437">
                <a:solidFill>
                  <a:srgbClr val="4C4C4D"/>
                </a:solidFill>
                <a:latin typeface="Heebo"/>
                <a:ea typeface="Heebo"/>
                <a:cs typeface="Heebo"/>
                <a:sym typeface="Heebo"/>
              </a:rPr>
              <a:t> for real-time live updates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0F0F1"/>
            </a:solidFill>
            <a:ln w="12700">
              <a:solidFill>
                <a:srgbClr val="000000"/>
              </a:solidFill>
            </a:ln>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a:ln w="12700">
              <a:solidFill>
                <a:srgbClr val="000000"/>
              </a:solidFill>
            </a:ln>
          </p:spPr>
        </p:sp>
      </p:grpSp>
      <p:grpSp>
        <p:nvGrpSpPr>
          <p:cNvPr id="6" name="Group 6"/>
          <p:cNvGrpSpPr>
            <a:grpSpLocks noChangeAspect="1"/>
          </p:cNvGrpSpPr>
          <p:nvPr/>
        </p:nvGrpSpPr>
        <p:grpSpPr>
          <a:xfrm>
            <a:off x="16049019" y="9686925"/>
            <a:ext cx="2153256" cy="514350"/>
            <a:chOff x="0" y="0"/>
            <a:chExt cx="2871008" cy="685800"/>
          </a:xfrm>
        </p:grpSpPr>
        <p:sp>
          <p:nvSpPr>
            <p:cNvPr id="7" name="Freeform 7" descr="preencoded.png">
              <a:hlinkClick r:id="rId3" tooltip="https://gamma.app/?utm_source=made-with-gamma"/>
            </p:cNvPr>
            <p:cNvSpPr/>
            <p:nvPr/>
          </p:nvSpPr>
          <p:spPr>
            <a:xfrm>
              <a:off x="0" y="0"/>
              <a:ext cx="2870962" cy="685800"/>
            </a:xfrm>
            <a:custGeom>
              <a:avLst/>
              <a:gdLst/>
              <a:ahLst/>
              <a:cxnLst/>
              <a:rect l="l" t="t" r="r" b="b"/>
              <a:pathLst>
                <a:path w="2870962" h="685800">
                  <a:moveTo>
                    <a:pt x="0" y="0"/>
                  </a:moveTo>
                  <a:lnTo>
                    <a:pt x="2870962" y="0"/>
                  </a:lnTo>
                  <a:lnTo>
                    <a:pt x="2870962" y="685800"/>
                  </a:lnTo>
                  <a:lnTo>
                    <a:pt x="0" y="685800"/>
                  </a:lnTo>
                  <a:lnTo>
                    <a:pt x="0" y="0"/>
                  </a:lnTo>
                  <a:close/>
                </a:path>
              </a:pathLst>
            </a:custGeom>
            <a:blipFill>
              <a:blip r:embed="rId4"/>
              <a:stretch>
                <a:fillRect r="-1"/>
              </a:stretch>
            </a:blipFill>
          </p:spPr>
        </p:sp>
      </p:grpSp>
      <p:grpSp>
        <p:nvGrpSpPr>
          <p:cNvPr id="8" name="Group 8"/>
          <p:cNvGrpSpPr>
            <a:grpSpLocks noChangeAspect="1"/>
          </p:cNvGrpSpPr>
          <p:nvPr/>
        </p:nvGrpSpPr>
        <p:grpSpPr>
          <a:xfrm>
            <a:off x="0" y="0"/>
            <a:ext cx="18288000" cy="10287000"/>
            <a:chOff x="0" y="0"/>
            <a:chExt cx="24384000" cy="13716000"/>
          </a:xfrm>
        </p:grpSpPr>
        <p:sp>
          <p:nvSpPr>
            <p:cNvPr id="9" name="Freeform 9"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5"/>
              <a:stretch>
                <a:fillRect/>
              </a:stretch>
            </a:blipFill>
          </p:spPr>
        </p:sp>
      </p:grpSp>
      <p:grpSp>
        <p:nvGrpSpPr>
          <p:cNvPr id="10" name="Group 10"/>
          <p:cNvGrpSpPr/>
          <p:nvPr/>
        </p:nvGrpSpPr>
        <p:grpSpPr>
          <a:xfrm>
            <a:off x="0" y="0"/>
            <a:ext cx="18288000" cy="10287000"/>
            <a:chOff x="0" y="0"/>
            <a:chExt cx="24384000" cy="13716000"/>
          </a:xfrm>
        </p:grpSpPr>
        <p:sp>
          <p:nvSpPr>
            <p:cNvPr id="11" name="Freeform 11"/>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72157"/>
              </a:srgbClr>
            </a:solidFill>
            <a:ln w="12700">
              <a:solidFill>
                <a:srgbClr val="000000"/>
              </a:solidFill>
            </a:ln>
          </p:spPr>
        </p:sp>
      </p:grpSp>
      <p:sp>
        <p:nvSpPr>
          <p:cNvPr id="12" name="TextBox 12"/>
          <p:cNvSpPr txBox="1"/>
          <p:nvPr/>
        </p:nvSpPr>
        <p:spPr>
          <a:xfrm>
            <a:off x="5599808" y="4652814"/>
            <a:ext cx="7088237" cy="933599"/>
          </a:xfrm>
          <a:prstGeom prst="rect">
            <a:avLst/>
          </a:prstGeom>
        </p:spPr>
        <p:txBody>
          <a:bodyPr lIns="0" tIns="0" rIns="0" bIns="0" rtlCol="0" anchor="t">
            <a:spAutoFit/>
          </a:bodyPr>
          <a:lstStyle/>
          <a:p>
            <a:pPr algn="ctr">
              <a:lnSpc>
                <a:spcPts val="6937"/>
              </a:lnSpc>
            </a:pPr>
            <a:r>
              <a:rPr lang="en-US" sz="5562" b="1">
                <a:solidFill>
                  <a:srgbClr val="152D47"/>
                </a:solidFill>
                <a:latin typeface="Crimson Pro Bold"/>
                <a:ea typeface="Crimson Pro Bold"/>
                <a:cs typeface="Crimson Pro Bold"/>
                <a:sym typeface="Crimson Pro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875</Words>
  <Application>Microsoft Office PowerPoint</Application>
  <PresentationFormat>Custom</PresentationFormat>
  <Paragraphs>150</Paragraphs>
  <Slides>11</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Heebo Bold</vt:lpstr>
      <vt:lpstr>Crimson Pro</vt:lpstr>
      <vt:lpstr>Calibri</vt:lpstr>
      <vt:lpstr>Crimson Pro Bold</vt:lpstr>
      <vt:lpstr>Arial</vt:lpstr>
      <vt:lpstr>Heebo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NeuroFleetX.pptx</dc:title>
  <dc:creator>Devireddy Hepsiba</dc:creator>
  <cp:lastModifiedBy>inban kavidasan</cp:lastModifiedBy>
  <cp:revision>2</cp:revision>
  <dcterms:created xsi:type="dcterms:W3CDTF">2006-08-16T00:00:00Z</dcterms:created>
  <dcterms:modified xsi:type="dcterms:W3CDTF">2025-11-25T13:44:55Z</dcterms:modified>
  <dc:identifier>DAG5fFGhF-0</dc:identifier>
</cp:coreProperties>
</file>